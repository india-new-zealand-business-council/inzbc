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66ce78eae724862" /><Relationship Type="http://schemas.openxmlformats.org/officeDocument/2006/relationships/extended-properties" Target="/docProps/app.xml" Id="R0264bdb4e06648ea" /><Relationship Type="http://schemas.openxmlformats.org/officeDocument/2006/relationships/officeDocument" Target="/ppt/presentation.xml" Id="R167ce353db0b4eba" /></Relationships>
</file>

<file path=ppt/presentation.xml><?xml version="1.0" encoding="utf-8"?>
<p:presentation xmlns:p="http://schemas.openxmlformats.org/presentationml/2006/main">
  <p:sldMasterIdLst>
    <p:sldMasterId xmlns:r="http://schemas.openxmlformats.org/officeDocument/2006/relationships" id="2147483648" r:id="R09c4cc11d1674a69"/>
  </p:sldMasterIdLst>
  <p:notesMasterIdLst>
    <p:notesMasterId xmlns:r="http://schemas.openxmlformats.org/officeDocument/2006/relationships" r:id="Rd88ac8840c3f4025"/>
  </p:notesMasterIdLst>
  <p:sldIdLst>
    <p:sldId xmlns:r="http://schemas.openxmlformats.org/officeDocument/2006/relationships" id="256" r:id="R18b621a2ad63408f"/>
    <p:sldId xmlns:r="http://schemas.openxmlformats.org/officeDocument/2006/relationships" id="257" r:id="R9ff1b716ef1c4053"/>
    <p:sldId xmlns:r="http://schemas.openxmlformats.org/officeDocument/2006/relationships" id="258" r:id="R8d934678c5614f76"/>
    <p:sldId xmlns:r="http://schemas.openxmlformats.org/officeDocument/2006/relationships" id="259" r:id="R995523eaaa544323"/>
    <p:sldId xmlns:r="http://schemas.openxmlformats.org/officeDocument/2006/relationships" id="260" r:id="R2b4d7505a0d94bfc"/>
    <p:sldId xmlns:r="http://schemas.openxmlformats.org/officeDocument/2006/relationships" id="261" r:id="R2b03eb8b7c6c4174"/>
    <p:sldId xmlns:r="http://schemas.openxmlformats.org/officeDocument/2006/relationships" id="262" r:id="R3a7817fce0614b7f"/>
    <p:sldId xmlns:r="http://schemas.openxmlformats.org/officeDocument/2006/relationships" id="263" r:id="R4932cf9e785f4538"/>
    <p:sldId xmlns:r="http://schemas.openxmlformats.org/officeDocument/2006/relationships" id="264" r:id="R7a6cfbd453d04ac2"/>
    <p:sldId xmlns:r="http://schemas.openxmlformats.org/officeDocument/2006/relationships" id="265" r:id="R1dee5e765e3b499b"/>
    <p:sldId xmlns:r="http://schemas.openxmlformats.org/officeDocument/2006/relationships" id="266" r:id="R97ea813c01bd49b0"/>
    <p:sldId xmlns:r="http://schemas.openxmlformats.org/officeDocument/2006/relationships" id="267" r:id="Rb9c0e8182b854766"/>
    <p:sldId xmlns:r="http://schemas.openxmlformats.org/officeDocument/2006/relationships" id="268" r:id="Ra5eb3937f3be4c7f"/>
    <p:sldId xmlns:r="http://schemas.openxmlformats.org/officeDocument/2006/relationships" id="269" r:id="R2ac64c4f6bff41fb"/>
    <p:sldId xmlns:r="http://schemas.openxmlformats.org/officeDocument/2006/relationships" id="270" r:id="R32f1cc46506a4fa4"/>
    <p:sldId xmlns:r="http://schemas.openxmlformats.org/officeDocument/2006/relationships" id="271" r:id="R090c9346cf1d4cdd"/>
    <p:sldId xmlns:r="http://schemas.openxmlformats.org/officeDocument/2006/relationships" id="272" r:id="R0357c7275d424482"/>
    <p:sldId xmlns:r="http://schemas.openxmlformats.org/officeDocument/2006/relationships" id="273" r:id="Rdab9162de79d462f"/>
    <p:sldId xmlns:r="http://schemas.openxmlformats.org/officeDocument/2006/relationships" id="274" r:id="Ra0688b5067984c13"/>
    <p:sldId xmlns:r="http://schemas.openxmlformats.org/officeDocument/2006/relationships" id="275" r:id="R78f15ddca4f3416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0292ef5c6b54a4a" /><Relationship Type="http://schemas.openxmlformats.org/officeDocument/2006/relationships/slideMaster" Target="/ppt/slideMasters/slideMaster1.xml" Id="R09c4cc11d1674a69" /><Relationship Type="http://schemas.openxmlformats.org/officeDocument/2006/relationships/notesMaster" Target="/ppt/notesMasters/notesMaster1.xml" Id="Rd88ac8840c3f4025" /><Relationship Type="http://schemas.openxmlformats.org/officeDocument/2006/relationships/presProps" Target="/ppt/presProps.xml" Id="Rbf285378c10949c8" /><Relationship Type="http://schemas.openxmlformats.org/officeDocument/2006/relationships/viewProps" Target="/ppt/viewProps.xml" Id="R47bf90e71f7248d2" /><Relationship Type="http://schemas.openxmlformats.org/officeDocument/2006/relationships/tableStyles" Target="/ppt/tableStyles.xml" Id="Rc85b662772e042b2" /><Relationship Type="http://schemas.openxmlformats.org/officeDocument/2006/relationships/slide" Target="/ppt/slides/slide1.xml" Id="R18b621a2ad63408f" /><Relationship Type="http://schemas.openxmlformats.org/officeDocument/2006/relationships/slide" Target="/ppt/slides/slide2.xml" Id="R9ff1b716ef1c4053" /><Relationship Type="http://schemas.openxmlformats.org/officeDocument/2006/relationships/slide" Target="/ppt/slides/slide3.xml" Id="R8d934678c5614f76" /><Relationship Type="http://schemas.openxmlformats.org/officeDocument/2006/relationships/slide" Target="/ppt/slides/slide4.xml" Id="R995523eaaa544323" /><Relationship Type="http://schemas.openxmlformats.org/officeDocument/2006/relationships/slide" Target="/ppt/slides/slide5.xml" Id="R2b4d7505a0d94bfc" /><Relationship Type="http://schemas.openxmlformats.org/officeDocument/2006/relationships/slide" Target="/ppt/slides/slide6.xml" Id="R2b03eb8b7c6c4174" /><Relationship Type="http://schemas.openxmlformats.org/officeDocument/2006/relationships/slide" Target="/ppt/slides/slide7.xml" Id="R3a7817fce0614b7f" /><Relationship Type="http://schemas.openxmlformats.org/officeDocument/2006/relationships/slide" Target="/ppt/slides/slide8.xml" Id="R4932cf9e785f4538" /><Relationship Type="http://schemas.openxmlformats.org/officeDocument/2006/relationships/slide" Target="/ppt/slides/slide9.xml" Id="R7a6cfbd453d04ac2" /><Relationship Type="http://schemas.openxmlformats.org/officeDocument/2006/relationships/slide" Target="/ppt/slides/slide10.xml" Id="R1dee5e765e3b499b" /><Relationship Type="http://schemas.openxmlformats.org/officeDocument/2006/relationships/slide" Target="/ppt/slides/slide11.xml" Id="R97ea813c01bd49b0" /><Relationship Type="http://schemas.openxmlformats.org/officeDocument/2006/relationships/slide" Target="/ppt/slides/slide12.xml" Id="Rb9c0e8182b854766" /><Relationship Type="http://schemas.openxmlformats.org/officeDocument/2006/relationships/slide" Target="/ppt/slides/slide13.xml" Id="Ra5eb3937f3be4c7f" /><Relationship Type="http://schemas.openxmlformats.org/officeDocument/2006/relationships/slide" Target="/ppt/slides/slide14.xml" Id="R2ac64c4f6bff41fb" /><Relationship Type="http://schemas.openxmlformats.org/officeDocument/2006/relationships/slide" Target="/ppt/slides/slide15.xml" Id="R32f1cc46506a4fa4" /><Relationship Type="http://schemas.openxmlformats.org/officeDocument/2006/relationships/slide" Target="/ppt/slides/slide16.xml" Id="R090c9346cf1d4cdd" /><Relationship Type="http://schemas.openxmlformats.org/officeDocument/2006/relationships/slide" Target="/ppt/slides/slide17.xml" Id="R0357c7275d424482" /><Relationship Type="http://schemas.openxmlformats.org/officeDocument/2006/relationships/slide" Target="/ppt/slides/slide18.xml" Id="Rdab9162de79d462f" /><Relationship Type="http://schemas.openxmlformats.org/officeDocument/2006/relationships/slide" Target="/ppt/slides/slide19.xml" Id="Ra0688b5067984c13" /><Relationship Type="http://schemas.openxmlformats.org/officeDocument/2006/relationships/slide" Target="/ppt/slides/slide20.xml" Id="R78f15ddca4f3416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f3cb0819feb4bd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a7455f506e43b7" /><Relationship Type="http://schemas.openxmlformats.org/officeDocument/2006/relationships/notesMaster" Target="/ppt/notesMasters/notesMaster1.xml" Id="R07ae3ae7fe9247ff" /></Relationships>
</file>

<file path=ppt/notesSlides/_rels/notesSlide2.xml.rels>&#65279;<?xml version="1.0" encoding="utf-8"?><Relationships xmlns="http://schemas.openxmlformats.org/package/2006/relationships"><Relationship Type="http://schemas.openxmlformats.org/officeDocument/2006/relationships/slide" Target="/ppt/slides/slide2.xml" Id="Ra989cad09dc04e47" /><Relationship Type="http://schemas.openxmlformats.org/officeDocument/2006/relationships/notesMaster" Target="/ppt/notesMasters/notesMaster1.xml" Id="Ra6e0c95ec94d47f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9cc964e7834a06" /><Relationship Type="http://schemas.openxmlformats.org/officeDocument/2006/relationships/notesMaster" Target="/ppt/notesMasters/notesMaster1.xml" Id="R41877513e7794d4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fa660bcc29648be" /><Relationship Type="http://schemas.openxmlformats.org/officeDocument/2006/relationships/notesMaster" Target="/ppt/notesMasters/notesMaster1.xml" Id="R1e7e87917e36454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52eb823add4404d" /><Relationship Type="http://schemas.openxmlformats.org/officeDocument/2006/relationships/notesMaster" Target="/ppt/notesMasters/notesMaster1.xml" Id="Rf7e8971815024028" /></Relationships>
</file>

<file path=ppt/notesSlides/_rels/notesSlide6.xml.rels>&#65279;<?xml version="1.0" encoding="utf-8"?><Relationships xmlns="http://schemas.openxmlformats.org/package/2006/relationships"><Relationship Type="http://schemas.openxmlformats.org/officeDocument/2006/relationships/slide" Target="/ppt/slides/slide6.xml" Id="R1291730c062b489c" /><Relationship Type="http://schemas.openxmlformats.org/officeDocument/2006/relationships/notesMaster" Target="/ppt/notesMasters/notesMaster1.xml" Id="R0673a6fb896146d7" /></Relationships>
</file>

<file path=ppt/notesSlides/_rels/notesSlide7.xml.rels>&#65279;<?xml version="1.0" encoding="utf-8"?><Relationships xmlns="http://schemas.openxmlformats.org/package/2006/relationships"><Relationship Type="http://schemas.openxmlformats.org/officeDocument/2006/relationships/slide" Target="/ppt/slides/slide7.xml" Id="Rf1ab26b2999d4313" /><Relationship Type="http://schemas.openxmlformats.org/officeDocument/2006/relationships/notesMaster" Target="/ppt/notesMasters/notesMaster1.xml" Id="R028d131168b640d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d9d750c0aa14f4d" /><Relationship Type="http://schemas.openxmlformats.org/officeDocument/2006/relationships/notesMaster" Target="/ppt/notesMasters/notesMaster1.xml" Id="Rda9fd825d3fa473d" /></Relationships>
</file>

<file path=ppt/notesSlides/_rels/notesSlide9.xml.rels>&#65279;<?xml version="1.0" encoding="utf-8"?><Relationships xmlns="http://schemas.openxmlformats.org/package/2006/relationships"><Relationship Type="http://schemas.openxmlformats.org/officeDocument/2006/relationships/slide" Target="/ppt/slides/slide9.xml" Id="Rc940199ee5da4b7f" /><Relationship Type="http://schemas.openxmlformats.org/officeDocument/2006/relationships/notesMaster" Target="/ppt/notesMasters/notesMaster1.xml" Id="R6b141fc6977b4b5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aa99f98112e409a" /><Relationship Type="http://schemas.openxmlformats.org/officeDocument/2006/relationships/notesMaster" Target="/ppt/notesMasters/notesMaster1.xml" Id="R61c9180b115f492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ed7417d097c4396" /><Relationship Type="http://schemas.openxmlformats.org/officeDocument/2006/relationships/notesMaster" Target="/ppt/notesMasters/notesMaster1.xml" Id="Rd30ae44259cf4e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629d72466244366" /><Relationship Type="http://schemas.openxmlformats.org/officeDocument/2006/relationships/notesMaster" Target="/ppt/notesMasters/notesMaster1.xml" Id="R69e40e0a4c0c454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4a2538e1030481a" /><Relationship Type="http://schemas.openxmlformats.org/officeDocument/2006/relationships/notesMaster" Target="/ppt/notesMasters/notesMaster1.xml" Id="R64d22879cb22498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c96b3fed67b46ca" /><Relationship Type="http://schemas.openxmlformats.org/officeDocument/2006/relationships/notesMaster" Target="/ppt/notesMasters/notesMaster1.xml" Id="R80fda9e63bcc492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0deba5e8bb714192" /><Relationship Type="http://schemas.openxmlformats.org/officeDocument/2006/relationships/notesMaster" Target="/ppt/notesMasters/notesMaster1.xml" Id="R7fc3d41d97834fc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4cef531b8d5425d" /><Relationship Type="http://schemas.openxmlformats.org/officeDocument/2006/relationships/notesMaster" Target="/ppt/notesMasters/notesMaster1.xml" Id="R6c4098a1b6ed411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13c70add200408a" /><Relationship Type="http://schemas.openxmlformats.org/officeDocument/2006/relationships/notesMaster" Target="/ppt/notesMasters/notesMaster1.xml" Id="R21c86cffe7804e12"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f9f500dac07d4224" /><Relationship Type="http://schemas.openxmlformats.org/officeDocument/2006/relationships/notesMaster" Target="/ppt/notesMasters/notesMaster1.xml" Id="R15f02649a6cc446b"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2b83441b9ee4ee8" /><Relationship Type="http://schemas.openxmlformats.org/officeDocument/2006/relationships/notesMaster" Target="/ppt/notesMasters/notesMaster1.xml" Id="R9a49f9046b7b4ba7"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3f1e90382ec64bae" /><Relationship Type="http://schemas.openxmlformats.org/officeDocument/2006/relationships/notesMaster" Target="/ppt/notesMasters/notesMaster1.xml" Id="R5dbfc42e89674f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with the final-team framing and make the phase explicit: strong implementation, continuing validation, no immediate handover claim.</a:t>
            </a:r>
            <a:endParaRPr/>
          </a:p>
          <a:p xmlns:a="http://schemas.openxmlformats.org/drawingml/2006/main">
            <a:r>
              <a:t>Set up the analytical frame the deck uses throughout: designed, built, tested and proven are four different states, and the repository is honest about which state each control is in.</a:t>
            </a:r>
            <a:endParaRPr/>
          </a:p>
          <a:p xmlns:a="http://schemas.openxmlformats.org/drawingml/2006/main">
            <a:r>
              <a:t>Every theory named in this deck is used as an explanation of evidence we can point at, not as decoration. If a claim has no artefact behind it, it is stated as a gap instead.</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State the thesis before the detail: the evidence supports a controlled validation phase, not a completed handover.</a:t>
            </a:r>
            <a:endParaRPr/>
          </a:p>
          <a:p xmlns:a="http://schemas.openxmlformats.org/drawingml/2006/main">
            <a:r>
              <a:t>Theory: Accelerate argues throughput and stability rise together when work moves in small batches through automated verification. The merge record is offered as evidence for that relationship, not as a productivity score.</a:t>
            </a:r>
            <a:endParaRPr/>
          </a:p>
          <a:p xmlns:a="http://schemas.openxmlformats.org/drawingml/2006/main">
            <a:r>
              <a:t>The counter-evidence is kept in view. The requirements traceability matrix maps requirement to issue to pull request to test, and it still shows gaps; the acceptance register still shows rows as Blocked rather than backfilled.</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Forsgren, N., Humble, J. and Kim, G. (2018), Accelerate: The Science of Lean Software and DevOps, IT Revolution Press, https://itrevolution.com/product/accelerate/.</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four parts as a narrative arc: theory explains the evidence, and readiness gates prevent an early handover claim.</a:t>
            </a:r>
            <a:endParaRPr/>
          </a:p>
          <a:p xmlns:a="http://schemas.openxmlformats.org/drawingml/2006/main">
            <a:r>
              <a:t>Two families of theory are in play. Organisational theory - Trist, Conway, Edmondson, Argyris - explains how the team produced the system. Engineering theory - Parnas, Saltzer and Schroeder, Clark and Wilson, Reason, Boehm - explains why the system refuses unsafe actions.</a:t>
            </a:r>
            <a:endParaRPr/>
          </a:p>
          <a:p xmlns:a="http://schemas.openxmlformats.org/drawingml/2006/main">
            <a:r>
              <a:t>The link between the two families is the argument of the whole deck: the controls in the code exist because of decisions the team made about authority, and neither half stands alone.</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Trist, E. L. and Bamforth, K. W. (1951), Some Social and Psychological Consequences of the Longwall Method of Coal-Getting, Human Relations 4(1), https://doi.org/10.1177/001872675100400101.</a:t>
            </a:r>
            <a:endParaRPr/>
          </a:p>
          <a:p xmlns:a="http://schemas.openxmlformats.org/drawingml/2006/main">
            <a:r>
              <a:t>- Conway, M. E. (1968), How Do Committees Invent?, Datamation 14(4), https://www.melconway.com/Home/pdf/committees.pdf.</a:t>
            </a:r>
            <a:endParaRPr/>
          </a:p>
          <a:p xmlns:a="http://schemas.openxmlformats.org/drawingml/2006/main">
            <a:r>
              <a:t>- Edmondson, A. (1999), Psychological Safety and Learning Behavior in Work Teams, Administrative Science Quarterly 44(2), https://doi.org/10.2307/2666999.</a:t>
            </a:r>
            <a:endParaRPr/>
          </a:p>
          <a:p xmlns:a="http://schemas.openxmlformats.org/drawingml/2006/main">
            <a:r>
              <a:t>- Beck, K. et al. (2001), Manifesto for Agile Software Development, https://agilemanifesto.org/.</a:t>
            </a:r>
            <a:endParaRPr/>
          </a:p>
          <a:p xmlns:a="http://schemas.openxmlformats.org/drawingml/2006/main">
            <a:r>
              <a:t>- Argyris, C. (1977), Double Loop Learning in Organizations, Harvard Business Review, https://hbr.org/1977/09/double-loop-learning-in-organizations.</a:t>
            </a:r>
            <a:endParaRPr/>
          </a:p>
          <a:p xmlns:a="http://schemas.openxmlformats.org/drawingml/2006/main">
            <a:r>
              <a:t>- Parnas, D. L. (1972), On the Criteria To Be Used in Decomposing Systems into Modules, Communications of the ACM 15(12), https://doi.org/10.1145/361598.361623.</a:t>
            </a:r>
            <a:endParaRPr/>
          </a:p>
          <a:p xmlns:a="http://schemas.openxmlformats.org/drawingml/2006/main">
            <a:r>
              <a:t>- Saltzer, J. H. and Schroeder, M. D. (1975), The Protection of Information in Computer Systems, Proceedings of the IEEE 63(9), https://doi.org/10.1109/PROC.1975.9939.</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Introduce the sociotechnical lens: the system includes people, authority, process and technology - not software alone.</a:t>
            </a:r>
            <a:endParaRPr/>
          </a:p>
          <a:p xmlns:a="http://schemas.openxmlformats.org/drawingml/2006/main">
            <a:r>
              <a:t>Trist and Bamforth's finding was that optimising the technical subsystem alone degraded the whole result. The design response here was to make human authority a first-class part of the machine rather than a step outside it.</a:t>
            </a:r>
            <a:endParaRPr/>
          </a:p>
          <a:p xmlns:a="http://schemas.openxmlformats.org/drawingml/2006/main">
            <a:r>
              <a:t>Evidence: three of the eleven run states are human gates, so the pipeline cannot complete without a person acting. The security design states the principle directly - GitHub authenticates, it never authorises - and authorisation is resolved from the platform's own role table.</a:t>
            </a:r>
            <a:endParaRPr/>
          </a:p>
          <a:p xmlns:a="http://schemas.openxmlformats.org/drawingml/2006/main">
            <a:r>
              <a:t>Clark and Wilson supply the security-theory counterpart: integrity is preserved by well-formed transactions plus separation of duty, which is exactly the analyst-reviewer split enforced in the schema.</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Trist, E. L. and Bamforth, K. W. (1951), Some Social and Psychological Consequences of the Longwall Method of Coal-Getting, Human Relations 4(1), https://doi.org/10.1177/001872675100400101.</a:t>
            </a:r>
            <a:endParaRPr/>
          </a:p>
          <a:p xmlns:a="http://schemas.openxmlformats.org/drawingml/2006/main">
            <a:r>
              <a:t>- Clark, D. D. and Wilson, D. R. (1987), A Comparison of Commercial and Military Computer Security Policies, IEEE Symposium on Security and Privacy, https://doi.org/10.1109/SP.1987.10001.</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the public-site concept as evidence of the design lane, not as a claim that every displayed fact is production-approved.</a:t>
            </a:r>
            <a:endParaRPr/>
          </a:p>
          <a:p xmlns:a="http://schemas.openxmlformats.org/drawingml/2006/main">
            <a:r>
              <a:t>Requirements method: the four outcomes were captured as MoSCoW-prioritised requirements with eight non-functional requirements attached, and the governing rule was that no requirement is invented to fill a gap. Where the client owed a fact, the document carries a placeholder rather than an estimate.</a:t>
            </a:r>
            <a:endParaRPr/>
          </a:p>
          <a:p xmlns:a="http://schemas.openxmlformats.org/drawingml/2006/main">
            <a:r>
              <a:t>The safeguards named here are non-functional requirements, not features: model calls stay server-side, controls fail closed, a named human reviews before publication, and distribution stays disabled by default.</a:t>
            </a:r>
            <a:endParaRPr/>
          </a:p>
          <a:p xmlns:a="http://schemas.openxmlformats.org/drawingml/2006/main">
            <a:r>
              <a:t>Worth stating plainly: the FTA Explainer makes no model call at all. It matches against a curated corpus and returns nothing when there is no match, so it is structurally incapable of inventing a trade fact.</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project mandate and safeguards.</a:t>
            </a:r>
            <a:endParaRPr/>
          </a:p>
          <a:p xmlns:a="http://schemas.openxmlformats.org/drawingml/2006/main">
            <a:r>
              <a:t>- C:\Users\brett\Downloads\Evidence_Portfolio_Paras.docx — public-site work and design evidence supplied by Paras.</a:t>
            </a:r>
            <a:endParaRPr/>
          </a:p>
          <a:p xmlns:a="http://schemas.openxmlformats.org/drawingml/2006/main">
            <a:r>
              <a:t>- C:\Users\brett\inzbc\team_report_work\bhanu-media\image5.png — INZBC public-site concept included in Bhanu's final evidence portfolio.</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Map the project evidence to sociotechnical joint optimisation: a failure in either the technical or human subsystem weakens the result.</a:t>
            </a:r>
            <a:endParaRPr/>
          </a:p>
          <a:p xmlns:a="http://schemas.openxmlformats.org/drawingml/2006/main">
            <a:r>
              <a:t>A chain is the right metaphor because the controls are ordered and each one can refuse. A request without a session stops at authentication; with a session but no role it stops at authorisation; with the right role but the wrong author it stops at separation of duties; and every accepted write commits its own audit record in the same transaction.</a:t>
            </a:r>
            <a:endParaRPr/>
          </a:p>
          <a:p xmlns:a="http://schemas.openxmlformats.org/drawingml/2006/main">
            <a:r>
              <a:t>Clark and Wilson call this the pairing of well-formed transactions with separation of duty. The database enforces the second half directly - a run's analyst may not be its reviewer - so the constraint survives even if the application layer is wrong.</a:t>
            </a:r>
            <a:endParaRPr/>
          </a:p>
          <a:p xmlns:a="http://schemas.openxmlformats.org/drawingml/2006/main">
            <a:r>
              <a:t>State the honest limit: one half of separation of duties is enforced today. Authorship is checked; the role-pair conflict table exists in the schema but is deliberately unseeded, and the contract says so rather than implying full coverage.</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Trist, E. L. and Bamforth, K. W. (1951), Some Social and Psychological Consequences of the Longwall Method of Coal-Getting, Human Relations 4(1), https://doi.org/10.1177/001872675100400101.</a:t>
            </a:r>
            <a:endParaRPr/>
          </a:p>
          <a:p xmlns:a="http://schemas.openxmlformats.org/drawingml/2006/main">
            <a:r>
              <a:t>- Clark, D. D. and Wilson, D. R. (1987), A Comparison of Commercial and Military Computer Security Policies, IEEE Symposium on Security and Privacy, https://doi.org/10.1109/SP.1987.10001.</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Conway's Law as an explanatory lens: explicit communication and ownership boundaries were mirrored in contracts and interfaces.</a:t>
            </a:r>
            <a:endParaRPr/>
          </a:p>
          <a:p xmlns:a="http://schemas.openxmlformats.org/drawingml/2006/main">
            <a:r>
              <a:t>Conway predicts the mirroring will happen whether or not it is intended, so the team chose the boundaries first and let the architecture follow. Three lanes, three owned surfaces, one shared contract between them.</a:t>
            </a:r>
            <a:endParaRPr/>
          </a:p>
          <a:p xmlns:a="http://schemas.openxmlformats.org/drawingml/2006/main">
            <a:r>
              <a:t>Parnas explains why that worked in practice. Modules are decomposed around information each hides behind a stable interface, so the lanes shared contracts rather than files. The API contract and the generated OpenAPI schema were the interface; the TypeScript client is generated from that schema and never hand-written.</a:t>
            </a:r>
            <a:endParaRPr/>
          </a:p>
          <a:p xmlns:a="http://schemas.openxmlformats.org/drawingml/2006/main">
            <a:r>
              <a:t>The mechanism that made it hold is a continuous-integration job that fails the build when the generated types drift from the schema. Without that check the shared contract degrades into a shared assumption.</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Conway, M. E. (1968), How Do Committees Invent?, Datamation 14(4), https://www.melconway.com/Home/pdf/committees.pdf.</a:t>
            </a:r>
            <a:endParaRPr/>
          </a:p>
          <a:p xmlns:a="http://schemas.openxmlformats.org/drawingml/2006/main">
            <a:r>
              <a:t>- Parnas, D. L. (1972), On the Criteria To Be Used in Decomposing Systems into Modules, Communications of the ACM 15(12), https://doi.org/10.1145/361598.361623.</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Calculation: 184 ÷ 192 = 95.8%. Individual rates are 134/135, 31/35 and 19/22.</a:t>
            </a:r>
            <a:endParaRPr/>
          </a:p>
          <a:p xmlns:a="http://schemas.openxmlformats.org/drawingml/2006/main">
            <a:r>
              <a:t>Read this as a batch-size result rather than an effort result. Accelerate's finding is that small, frequently integrated changes raise throughput and stability together, because each change is small enough to review properly and to revert cleanly.</a:t>
            </a:r>
            <a:endParaRPr/>
          </a:p>
          <a:p xmlns:a="http://schemas.openxmlformats.org/drawingml/2006/main">
            <a:r>
              <a:t>The mechanism behind the merge rate is that a pull request had to name the issue it delivered and pass the full check suite before a human reviewed it, so most rejections happened before review rather than after.</a:t>
            </a:r>
            <a:endParaRPr/>
          </a:p>
          <a:p xmlns:a="http://schemas.openxmlformats.org/drawingml/2006/main">
            <a:r>
              <a:t>Do not over-claim. A merge rate measures the review process, not the quality of the running system; the evidence for quality is on the integration and validation slides.</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Forsgren, N., Humble, J. and Kim, G. (2018), Accelerate: The Science of Lean Software and DevOps, IT Revolution Press, https://itrevolution.com/product/accelerate/.</a:t>
            </a:r>
            <a:endParaRPr/>
          </a:p>
          <a:p xmlns:a="http://schemas.openxmlformats.org/drawingml/2006/main">
            <a:r>
              <a:t>- Humble, J. and Farley, D. (2010), Continuous Delivery: Reliable Software Releases through Build, Test, and Deployment Automation, https://martinfowler.com/books/continuousDelivery.html.</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scopes separate: student-authored PRs, organisation repositories and private-board items are not summed together.</a:t>
            </a:r>
            <a:endParaRPr/>
          </a:p>
          <a:p xmlns:a="http://schemas.openxmlformats.org/drawingml/2006/main">
            <a:r>
              <a:t>Measurement discipline is itself the point. Three different populations are counted three different ways, and combining them would produce a larger number that means nothing.</a:t>
            </a:r>
            <a:endParaRPr/>
          </a:p>
          <a:p xmlns:a="http://schemas.openxmlformats.org/drawingml/2006/main">
            <a:r>
              <a:t>The same rule governs the repository's traceability matrix: each requirement is traced to a specific issue, pull request and test count, so a figure can be audited back to its source instead of being asserted.</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Forsgren, N., Humble, J. and Kim, G. (2018), Accelerate: The Science of Lean Software and DevOps, IT Revolution Press, https://itrevolution.com/product/accelerate/.</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Move from output volume to feedback theory: small changes, working software, review and automated gates shortened the learning cycle.</a:t>
            </a:r>
            <a:endParaRPr/>
          </a:p>
          <a:p xmlns:a="http://schemas.openxmlformats.org/drawingml/2006/main">
            <a:r>
              <a:t>Boehm and Basili's defect-reduction findings give the economic argument. The cost of correcting a defect rises sharply the later it is found, so the design goal is to move discovery as early as possible rather than to rely on a final inspection.</a:t>
            </a:r>
            <a:endParaRPr/>
          </a:p>
          <a:p xmlns:a="http://schemas.openxmlformats.org/drawingml/2006/main">
            <a:r>
              <a:t>Evidence: nine independent checks run on every pull request, including static analysis, a secret scan, a workflow linter and a link checker. The database schema is applied to a real Postgres instance on each run and the restore verifier is executed against that fresh schema, so a schema claim is tested rather than trusted.</a:t>
            </a:r>
            <a:endParaRPr/>
          </a:p>
          <a:p xmlns:a="http://schemas.openxmlformats.org/drawingml/2006/main">
            <a:r>
              <a:t>Continuous delivery is the enabling practice - the pipeline is the thing that makes early feedback automatic rather than dependent on somebody remembering.</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Beck, K. et al. (2001), Manifesto for Agile Software Development, https://agilemanifesto.org/.</a:t>
            </a:r>
            <a:endParaRPr/>
          </a:p>
          <a:p xmlns:a="http://schemas.openxmlformats.org/drawingml/2006/main">
            <a:r>
              <a:t>- Humble, J. and Farley, D. (2010), Continuous Delivery: Reliable Software Releases through Build, Test, and Deployment Automation, https://martinfowler.com/books/continuousDelivery.html.</a:t>
            </a:r>
            <a:endParaRPr/>
          </a:p>
          <a:p xmlns:a="http://schemas.openxmlformats.org/drawingml/2006/main">
            <a:r>
              <a:t>- Boehm, B. and Basili, V. R. (2001), Software Defect Reduction Top 10 List, IEEE Computer 34(1), https://doi.org/10.1109/2.962984.</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capability progression reflects iterative delivery. The current point is validation and readiness work; handover remains a later milestone.</a:t>
            </a:r>
            <a:endParaRPr/>
          </a:p>
          <a:p xmlns:a="http://schemas.openxmlformats.org/drawingml/2006/main">
            <a:r>
              <a:t>The ordering is not accidental. Contracts, schema and security came first because they are the decisions that are most expensive to reverse later; interfaces and content came after, because they are cheap to change once the contract is fixed.</a:t>
            </a:r>
            <a:endParaRPr/>
          </a:p>
          <a:p xmlns:a="http://schemas.openxmlformats.org/drawingml/2006/main">
            <a:r>
              <a:t>Architectural decisions were recorded as they were taken, with context, consequences and links between them. One decision record even pre-registered the conditions under which it should be superseded, and a later record fired on the first of those conditions - so the platform change was a decision rather than drift.</a:t>
            </a:r>
            <a:endParaRPr/>
          </a:p>
          <a:p xmlns:a="http://schemas.openxmlformats.org/drawingml/2006/main">
            <a:r>
              <a:t>The validation stage is a stage, not an afterthought. Its work is closing the evidence gaps that the earlier stages made visible.</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Beck, K. et al. (2001), Manifesto for Agile Software Development, https://agilemanifesto.org/.</a:t>
            </a:r>
            <a:endParaRPr/>
          </a:p>
          <a:p xmlns:a="http://schemas.openxmlformats.org/drawingml/2006/main">
            <a:r>
              <a:t>- Humble, J. and Farley, D. (2010), Continuous Delivery: Reliable Software Releases through Build, Test, and Deployment Automation, https://martinfowler.com/books/continuousDelivery.html.</a:t>
            </a:r>
            <a:endParaRPr/>
          </a:p>
          <a:p xmlns:a="http://schemas.openxmlformats.org/drawingml/2006/main">
            <a:r>
              <a:t>- Boehm, B. and Basili, V. R. (2001), Software Defect Reduction Top 10 List, IEEE Computer 34(1), https://doi.org/10.1109/2.962984.</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Describe this as a feedback loop rather than a claim of production release. Each iteration produces evidence for the next decision.</a:t>
            </a:r>
            <a:endParaRPr/>
          </a:p>
          <a:p xmlns:a="http://schemas.openxmlformats.org/drawingml/2006/main">
            <a:r>
              <a:t>Saltzer and Schroeder's fail-safe defaults principle is the design rule for the last step: the default must be denial, and access is granted only by explicit positive action. A missing configuration must read as a refusal, never as permission.</a:t>
            </a:r>
            <a:endParaRPr/>
          </a:p>
          <a:p xmlns:a="http://schemas.openxmlformats.org/drawingml/2006/main">
            <a:r>
              <a:t>Evidence, four times over: distribution is disabled by default and the flag is server-only, so a client cannot request its own release. A missing redaction policy path refuses the model call. An unset cross-origin setting allows no origins rather than all. An unconfigured model gateway raises rather than proceeding.</a:t>
            </a:r>
            <a:endParaRPr/>
          </a:p>
          <a:p xmlns:a="http://schemas.openxmlformats.org/drawingml/2006/main">
            <a:r>
              <a:t>Their least-privilege principle appears in the audit trail too - the application's database login may insert and select on the audit log and nothing else, so the append-only property is a permission boundary, not a convention.</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Beck, K. et al. (2001), Manifesto for Agile Software Development, https://agilemanifesto.org/.</a:t>
            </a:r>
            <a:endParaRPr/>
          </a:p>
          <a:p xmlns:a="http://schemas.openxmlformats.org/drawingml/2006/main">
            <a:r>
              <a:t>- Humble, J. and Farley, D. (2010), Continuous Delivery: Reliable Software Releases through Build, Test, and Deployment Automation, https://martinfowler.com/books/continuousDelivery.html.</a:t>
            </a:r>
            <a:endParaRPr/>
          </a:p>
          <a:p xmlns:a="http://schemas.openxmlformats.org/drawingml/2006/main">
            <a:r>
              <a:t>- Saltzer, J. H. and Schroeder, M. D. (1975), The Protection of Information in Computer Systems, Proceedings of the IEEE 63(9), https://doi.org/10.1109/PROC.1975.9939.</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Apply Argyris's double-loop learning: the team changed governing assumptions and controls, not only isolated defects. The board gap remains visible rather than being cosmetically rewritten.</a:t>
            </a:r>
            <a:endParaRPr/>
          </a:p>
          <a:p xmlns:a="http://schemas.openxmlformats.org/drawingml/2006/main">
            <a:r>
              <a:t>Single-loop learning corrects the error. Double-loop learning corrects the rule that allowed the error. The clearest example in this project: a role-checking function was written, tested and merged, but wired to no route at all - so the platform authenticated users without ever authorising them.</a:t>
            </a:r>
            <a:endParaRPr/>
          </a:p>
          <a:p xmlns:a="http://schemas.openxmlformats.org/drawingml/2006/main">
            <a:r>
              <a:t>The single-loop fix would have been to wire that one route. The double-loop fix was a conformance test that fails whenever any route carries no role requirement, which converts a class of defect into a build failure.</a:t>
            </a:r>
            <a:endParaRPr/>
          </a:p>
          <a:p xmlns:a="http://schemas.openxmlformats.org/drawingml/2006/main">
            <a:r>
              <a:t>The method finding is worth quoting from the security review itself: reading the diff found almost nothing, running the attack found everything. Eighteen defects were found that way, each in code that had already been reviewed and merged.</a:t>
            </a:r>
            <a:endParaRPr/>
          </a:p>
          <a:p xmlns:a="http://schemas.openxmlformats.org/drawingml/2006/main">
            <a:r>
              <a:t>Boehm's cost curve is why that timing matters: all eighteen were corrected before any production run existed, which is the cheapest point on the curve.</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Argyris, C. (1977), Double Loop Learning in Organizations, Harvard Business Review, https://hbr.org/1977/09/double-loop-learning-in-organizations.</a:t>
            </a:r>
            <a:endParaRPr/>
          </a:p>
          <a:p xmlns:a="http://schemas.openxmlformats.org/drawingml/2006/main">
            <a:r>
              <a:t>- Boehm, B. and Basili, V. R. (2001), Software Defect Reduction Top 10 List, IEEE Computer 34(1), https://doi.org/10.1109/2.962984.</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to connect quantitative activity to the controlled merge process.</a:t>
            </a:r>
            <a:endParaRPr/>
          </a:p>
          <a:p xmlns:a="http://schemas.openxmlformats.org/drawingml/2006/main">
            <a:r>
              <a:t>Reason's model of defence in depth is the right frame for this pipeline. No single barrier is assumed to be sound; each has holes, and safety comes from the holes not lining up. Automated checks miss intent, human review misses detail, and the contract check misses logic - so all three run.</a:t>
            </a:r>
            <a:endParaRPr/>
          </a:p>
          <a:p xmlns:a="http://schemas.openxmlformats.org/drawingml/2006/main">
            <a:r>
              <a:t>The same layering protects the data boundary to the external model. Source refusal at the gateway, then field-level minimisation, then policy-driven redaction, then operator procedure. Each layer is documented with what it cannot do, which is what makes it a layer rather than a guarantee.</a:t>
            </a:r>
            <a:endParaRPr/>
          </a:p>
          <a:p xmlns:a="http://schemas.openxmlformats.org/drawingml/2006/main">
            <a:r>
              <a:t>The redaction policy document is explicit that rule-based redaction cannot reliably catch names, titles and employers written in prose, and cites the published recall limits of the reference implementation. That is why the control moved to refusing the source rather than trying to clean it.</a:t>
            </a:r>
            <a:endParaRPr/>
          </a:p>
          <a:p xmlns:a="http://schemas.openxmlformats.org/drawingml/2006/main">
            <a:r>
              <a:t>Continuous delivery supplies the last piece: the barriers are worthless unless they run on every change, automatically, with no option to wave one through.</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Bhanu metrics, PDR assessment and integration findings.</a:t>
            </a:r>
            <a:endParaRPr/>
          </a:p>
          <a:p xmlns:a="http://schemas.openxmlformats.org/drawingml/2006/main">
            <a:r>
              <a:t>- C:\Users\brett\inzbc\team_report_work\bhanu-media\image3.png — evidence graphic generated from refreshed GitHub review and merge records.</a:t>
            </a:r>
            <a:endParaRPr/>
          </a:p>
          <a:p xmlns:a="http://schemas.openxmlformats.org/drawingml/2006/main">
            <a:r>
              <a:t>- https://github.com/India-New-Zealand-Business-Council — organisation history.</a:t>
            </a:r>
            <a:endParaRPr/>
          </a:p>
          <a:p xmlns:a="http://schemas.openxmlformats.org/drawingml/2006/main">
            <a:r>
              <a:t>- Humble, J. and Farley, D. (2010), Continuous Delivery: Reliable Software Releases through Build, Test, and Deployment Automation, https://martinfowler.com/books/continuousDelivery.html.</a:t>
            </a:r>
            <a:endParaRPr/>
          </a:p>
          <a:p xmlns:a="http://schemas.openxmlformats.org/drawingml/2006/main">
            <a:r>
              <a:t>- Reason, J. (2000), Human Error: Models and Management, BMJ 320(7237), https://doi.org/10.1136/bmj.320.7237.768.</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psychological safety as the lens for change requests, mutation testing, honest gap reporting and client escalation - not as a claim that the team never disagreed.</a:t>
            </a:r>
            <a:endParaRPr/>
          </a:p>
          <a:p xmlns:a="http://schemas.openxmlformats.org/drawingml/2006/main">
            <a:r>
              <a:t>Edmondson's construct is the shared belief that the team is safe for interpersonal risk-taking, and her measurable consequence is that people report errors instead of concealing them. The observable proxy in this project is documentary: nearly every controlled document carries a section on what has not been proven.</a:t>
            </a:r>
            <a:endParaRPr/>
          </a:p>
          <a:p xmlns:a="http://schemas.openxmlformats.org/drawingml/2006/main">
            <a:r>
              <a:t>Concrete instances: the security design ends with a list of known gaps, the restore procedure separates what has actually been proven from what has not, the acceptance register carries a rule against backfilling a result from assumption, and the contract states which half of separation of duties is not yet enforced.</a:t>
            </a:r>
            <a:endParaRPr/>
          </a:p>
          <a:p xmlns:a="http://schemas.openxmlformats.org/drawingml/2006/main">
            <a:r>
              <a:t>Reporting a gap is the behaviour the theory predicts. A team without safety produces documents that describe only what works, which the security design calls a marketing document rather than a design document.</a:t>
            </a:r>
            <a:endParaRPr/>
          </a:p>
          <a:p xmlns:a="http://schemas.openxmlformats.org/drawingml/2006/main">
            <a:r>
              <a:t>Peer review was adversarial by design and change requests were normal, including requests raised against merged work. That is the same behaviour seen from the other direction.</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Edmondson, A. (1999), Psychological Safety and Learning Behavior in Work Teams, Administrative Science Quarterly 44(2), https://doi.org/10.2307/2666999.</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Connect the theory to the evidence: fail-closed controls, mutation testing and decision records altered the governing system rather than merely patching symptoms.</a:t>
            </a:r>
            <a:endParaRPr/>
          </a:p>
          <a:p xmlns:a="http://schemas.openxmlformats.org/drawingml/2006/main">
            <a:r>
              <a:t>Three governing rules changed during the project. First, a control is not considered present until an attack against it fails, which is why the security review ran the attacks instead of reading the diff. Second, an append-only guarantee belongs in the database and its permissions, not in application discipline. Third, a decision is not made until it is recorded with its consequences.</a:t>
            </a:r>
            <a:endParaRPr/>
          </a:p>
          <a:p xmlns:a="http://schemas.openxmlformats.org/drawingml/2006/main">
            <a:r>
              <a:t>Each of those changed how later work was done, which is the test that distinguishes double-loop from single-loop learning.</a:t>
            </a:r>
            <a:endParaRPr/>
          </a:p>
          <a:p xmlns:a="http://schemas.openxmlformats.org/drawingml/2006/main">
            <a:r>
              <a:t>The honest reading is that most of this was learned by being wrong first. The eighteen findings, the audit-log permission grant and the decision-record practice all followed a defect rather than preceding it.</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Argyris, C. (1977), Double Loop Learning in Organizations, Harvard Business Review, https://hbr.org/1977/09/double-loop-learning-in-organizations.</a:t>
            </a:r>
            <a:endParaRPr/>
          </a:p>
          <a:p xmlns:a="http://schemas.openxmlformats.org/drawingml/2006/main">
            <a:r>
              <a:t>- Boehm, B. and Basili, V. R. (2001), Software Defect Reduction Top 10 List, IEEE Computer 34(1), https://doi.org/10.1109/2.962984.</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Bhanu's communication evidence remains particularly strong: 141 authored issues, 60 review events, client-decision framing and broad readiness documentation.</a:t>
            </a:r>
            <a:endParaRPr/>
          </a:p>
          <a:p xmlns:a="http://schemas.openxmlformats.org/drawingml/2006/main">
            <a:r>
              <a:t>Conway explains the boundaries and Parnas explains why they held: the lanes met at a generated contract, so coordination cost stayed low without anyone needing to know the inside of another lane's code.</a:t>
            </a:r>
            <a:endParaRPr/>
          </a:p>
          <a:p xmlns:a="http://schemas.openxmlformats.org/drawingml/2006/main">
            <a:r>
              <a:t>Edmondson explains the other half. Safe challenge is listed here as a practice, and the evidence for it is that reviews rejected merged work and that documents record their own gaps.</a:t>
            </a:r>
            <a:endParaRPr/>
          </a:p>
          <a:p xmlns:a="http://schemas.openxmlformats.org/drawingml/2006/main">
            <a:r>
              <a:t>Client escalation belongs on this slide for the same reason. Where a fact was owed by the client, the repository rule was to record a placeholder rather than an estimate, so an unknown stayed visible instead of quietly becoming an assumption.</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Conway, M. E. (1968), How Do Committees Invent?, Datamation 14(4), https://www.melconway.com/Home/pdf/committees.pdf.</a:t>
            </a:r>
            <a:endParaRPr/>
          </a:p>
          <a:p xmlns:a="http://schemas.openxmlformats.org/drawingml/2006/main">
            <a:r>
              <a:t>- Edmondson, A. (1999), Psychological Safety and Learning Behavior in Work Teams, Administrative Science Quarterly 44(2), https://doi.org/10.2307/2666999.</a:t>
            </a:r>
            <a:endParaRPr/>
          </a:p>
          <a:p xmlns:a="http://schemas.openxmlformats.org/drawingml/2006/main">
            <a:r>
              <a:t>- Parnas, D. L. (1972), On the Criteria To Be Used in Decomposing Systems into Modules, Communications of the ACM 15(12), https://doi.org/10.1145/361598.361623.</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Correct the phase explicitly: these dependencies must be resolved and validated before production readiness or any later handover is claimed.</a:t>
            </a:r>
            <a:endParaRPr/>
          </a:p>
          <a:p xmlns:a="http://schemas.openxmlformats.org/drawingml/2006/main">
            <a:r>
              <a:t>Use the four-state framing: designed, built, tested, proven. These three dependencies are the boundary between tested and proven, and none of them can be closed by writing more code.</a:t>
            </a:r>
            <a:endParaRPr/>
          </a:p>
          <a:p xmlns:a="http://schemas.openxmlformats.org/drawingml/2006/main">
            <a:r>
              <a:t>Two of the three need a decision from the client rather than work from the team - who owns the identity boundary, and who is named as reviewer. Separation of duties is unenforceable until a second named person exists, so this is a control dependency, not an administrative one.</a:t>
            </a:r>
            <a:endParaRPr/>
          </a:p>
          <a:p xmlns:a="http://schemas.openxmlformats.org/drawingml/2006/main">
            <a:r>
              <a:t>The continuity controls are in the same state. The restore procedure is written and verified against the schema on every build, but no production database has ever been restored, so recovery time is unknown and is recorded as unknown.</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Clark, D. D. and Wilson, D. R. (1987), A Comparison of Commercial and Military Computer Security Policies, IEEE Symposium on Security and Privacy, https://doi.org/10.1109/SP.1987.10001.</a:t>
            </a:r>
            <a:endParaRPr/>
          </a:p>
          <a:p xmlns:a="http://schemas.openxmlformats.org/drawingml/2006/main">
            <a:r>
              <a:t>- Saltzer, J. H. and Schroeder, M. D. (1975), The Protection of Information in Computer Systems, Proceedings of the IEEE 63(9), https://doi.org/10.1109/PROC.1975.9939.</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evidence-based phase statement: strong implementation, continued validation, future handover only after readiness gates close.</a:t>
            </a:r>
            <a:endParaRPr/>
          </a:p>
          <a:p xmlns:a="http://schemas.openxmlformats.org/drawingml/2006/main">
            <a:r>
              <a:t>The theoretical claim of the whole deck in one sentence: a governed system is the joint optimisation of technical controls and human authority, and this project can show the artefacts for both halves.</a:t>
            </a:r>
            <a:endParaRPr/>
          </a:p>
          <a:p xmlns:a="http://schemas.openxmlformats.org/drawingml/2006/main">
            <a:r>
              <a:t>The evidential claim is narrower and should be said in the same breath. What is proven is what has been executed - the checks, the schema guards, the refusals. What is designed but not proven is listed rather than implied.</a:t>
            </a:r>
            <a:endParaRPr/>
          </a:p>
          <a:p xmlns:a="http://schemas.openxmlformats.org/drawingml/2006/main">
            <a:r>
              <a:t>Argyris is the right note to end on: the lasting output is not the code, it is the changed rules about what counts as done.</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consolidated team report and evidence refreshed 20 August 2026.</a:t>
            </a:r>
            <a:endParaRPr/>
          </a:p>
          <a:p xmlns:a="http://schemas.openxmlformats.org/drawingml/2006/main">
            <a:r>
              <a:t>- https://github.com/India-New-Zealand-Business-Council - organisation repository history.</a:t>
            </a:r>
            <a:endParaRPr/>
          </a:p>
          <a:p xmlns:a="http://schemas.openxmlformats.org/drawingml/2006/main">
            <a:r>
              <a:t>- Trist, E. L. and Bamforth, K. W. (1951), Some Social and Psychological Consequences of the Longwall Method of Coal-Getting, Human Relations 4(1), https://doi.org/10.1177/001872675100400101.</a:t>
            </a:r>
            <a:endParaRPr/>
          </a:p>
          <a:p xmlns:a="http://schemas.openxmlformats.org/drawingml/2006/main">
            <a:r>
              <a:t>- Argyris, C. (1977), Double Loop Learning in Organizations, Harvard Business Review, https://hbr.org/1977/09/double-loop-learning-in-organizations.</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on the validation work required before any future handover and leave the audience with the evidence locations.</a:t>
            </a:r>
            <a:endParaRPr/>
          </a:p>
          <a:p xmlns:a="http://schemas.openxmlformats.org/drawingml/2006/main">
            <a:r>
              <a:t>Point the audience at where each theoretical claim can be checked. Architecture and contracts sit in the schemas directory; decision records in the decisions directory; the security design and the eighteen-finding review under security; governance, privacy, incident response and restore procedures in the docs root.</a:t>
            </a:r>
            <a:endParaRPr/>
          </a:p>
          <a:p xmlns:a="http://schemas.openxmlformats.org/drawingml/2006/main">
            <a:r>
              <a:t>The security, privacy and continuity register is the single best place to start, because it lists fifteen required controls with an owner and an honest status against each - including the ones marked not done.</a:t>
            </a:r>
            <a:endParaRPr/>
          </a:p>
          <a:p xmlns:a="http://schemas.openxmlformats.org/drawingml/2006/main">
            <a:r>
              <a:t>Invite verification rather than trust. Every figure in this deck traces to the organisation's own repository history and to the consolidated team report.</a:t>
            </a:r>
            <a:endParaRPr/>
          </a:p>
          <a:p xmlns:a="http://schemas.openxmlformats.org/drawingml/2006/main">
            <a:r>
              <a:t/>
            </a:r>
            <a:endParaRPr/>
          </a:p>
          <a:p xmlns:a="http://schemas.openxmlformats.org/drawingml/2006/main">
            <a:r>
              <a:t>[Sources]</a:t>
            </a:r>
            <a:endParaRPr/>
          </a:p>
          <a:p xmlns:a="http://schemas.openxmlformats.org/drawingml/2006/main">
            <a:r>
              <a:t>- C:\Users\brett\Downloads\INZBC_Team_Final_Report.docx — final report and evidence index.</a:t>
            </a:r>
            <a:endParaRPr/>
          </a:p>
          <a:p xmlns:a="http://schemas.openxmlformats.org/drawingml/2006/main">
            <a:r>
              <a:t>- https://github.com/India-New-Zealand-Business-Council</a:t>
            </a:r>
            <a:endParaRPr/>
          </a:p>
          <a:p xmlns:a="http://schemas.openxmlformats.org/drawingml/2006/main">
            <a:r>
              <a:t>- https://github.com/India-New-Zealand-Business-Council/inzbc</a:t>
            </a:r>
            <a:endParaRPr/>
          </a:p>
          <a:p xmlns:a="http://schemas.openxmlformats.org/drawingml/2006/main">
            <a:r>
              <a:t>- https://github.com/India-New-Zealand-Business-Council/inzview</a:t>
            </a:r>
            <a:endParaRPr/>
          </a:p>
          <a:p xmlns:a="http://schemas.openxmlformats.org/drawingml/2006/main">
            <a:r>
              <a:t>- https://github.com/India-New-Zealand-Business-Council/daily-india-nz-news-agent</a:t>
            </a:r>
            <a:endParaRPr/>
          </a:p>
          <a:p xmlns:a="http://schemas.openxmlformats.org/drawingml/2006/main">
            <a:r>
              <a:t>[/Sources]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c72306989544db3"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8f58215407c445a" /><Relationship Type="http://schemas.openxmlformats.org/officeDocument/2006/relationships/slideLayout" Target="/ppt/slideLayouts/slideLayout1.xml" Id="R8894e612b2574258"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894e612b2574258"/>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bf4adb090694c77" /><Relationship Type="http://schemas.openxmlformats.org/officeDocument/2006/relationships/image" Target="/ppt/media/image.jpeg" Id="Re062f4c09d424551" /><Relationship Type="http://schemas.openxmlformats.org/officeDocument/2006/relationships/image" Target="/ppt/media/image.png" Id="Raedcec1c71484d5b" /><Relationship Type="http://schemas.openxmlformats.org/officeDocument/2006/relationships/image" Target="/ppt/media/image2.png" Id="R5cd76fc0612b4c3f" /><Relationship Type="http://schemas.openxmlformats.org/officeDocument/2006/relationships/notesSlide" Target="/ppt/notesSlides/notesSlide1.xml" Id="R7c55f2544d8545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e8281e3ae6d4871" /><Relationship Type="http://schemas.openxmlformats.org/officeDocument/2006/relationships/image" Target="/ppt/media/image.jpeg" Id="R30463d1b17604d2e" /><Relationship Type="http://schemas.openxmlformats.org/officeDocument/2006/relationships/image" Target="/ppt/media/image.png" Id="R5eedd6b2af0741ce" /><Relationship Type="http://schemas.openxmlformats.org/officeDocument/2006/relationships/image" Target="/ppt/media/image2.png" Id="Rdae8de66db0942ff" /><Relationship Type="http://schemas.openxmlformats.org/officeDocument/2006/relationships/notesSlide" Target="/ppt/notesSlides/notesSlide2.xml" Id="R76e7b711c7e947c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e9b803494f24575" /><Relationship Type="http://schemas.openxmlformats.org/officeDocument/2006/relationships/image" Target="/ppt/media/image.jpeg" Id="Rfce79bde9bbf47c0" /><Relationship Type="http://schemas.openxmlformats.org/officeDocument/2006/relationships/image" Target="/ppt/media/image2.png" Id="R424e11abf3204c3a" /><Relationship Type="http://schemas.openxmlformats.org/officeDocument/2006/relationships/notesSlide" Target="/ppt/notesSlides/notesSlide3.xml" Id="Rf8bb4216bbb443b8"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26b69e6572447a9" /><Relationship Type="http://schemas.openxmlformats.org/officeDocument/2006/relationships/image" Target="/ppt/media/image.jpeg" Id="R812b9084964a40c4" /><Relationship Type="http://schemas.openxmlformats.org/officeDocument/2006/relationships/image" Target="/ppt/media/image.png" Id="Rbb63b7a256d14910" /><Relationship Type="http://schemas.openxmlformats.org/officeDocument/2006/relationships/notesSlide" Target="/ppt/notesSlides/notesSlide4.xml" Id="R27e6a6dccf30409e"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cff6faee52f4c08" /><Relationship Type="http://schemas.openxmlformats.org/officeDocument/2006/relationships/image" Target="/ppt/media/image.jpeg" Id="R91234dd21968460e" /><Relationship Type="http://schemas.openxmlformats.org/officeDocument/2006/relationships/image" Target="/ppt/media/image.png" Id="Rc206d25ea53d4140" /><Relationship Type="http://schemas.openxmlformats.org/officeDocument/2006/relationships/image" Target="/ppt/media/image3.png" Id="R33a40a43d75d4155" /><Relationship Type="http://schemas.openxmlformats.org/officeDocument/2006/relationships/notesSlide" Target="/ppt/notesSlides/notesSlide5.xml" Id="R2b4e4b225af34c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0080d5242724ab3" /><Relationship Type="http://schemas.openxmlformats.org/officeDocument/2006/relationships/image" Target="/ppt/media/image.jpeg" Id="Rc1e4a5c63050454d" /><Relationship Type="http://schemas.openxmlformats.org/officeDocument/2006/relationships/image" Target="/ppt/media/image.png" Id="R117d0a5fce554e83" /><Relationship Type="http://schemas.openxmlformats.org/officeDocument/2006/relationships/image" Target="/ppt/media/image4.png" Id="Rc7fbbf537ebc45e9" /><Relationship Type="http://schemas.openxmlformats.org/officeDocument/2006/relationships/notesSlide" Target="/ppt/notesSlides/notesSlide6.xml" Id="Rf84c4ad5e3764882"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5a2f2c94a34425a" /><Relationship Type="http://schemas.openxmlformats.org/officeDocument/2006/relationships/image" Target="/ppt/media/image.jpeg" Id="R9284322254f44a76" /><Relationship Type="http://schemas.openxmlformats.org/officeDocument/2006/relationships/image" Target="/ppt/media/image2.png" Id="Re572edf7688d4d49" /><Relationship Type="http://schemas.openxmlformats.org/officeDocument/2006/relationships/notesSlide" Target="/ppt/notesSlides/notesSlide7.xml" Id="R56bb6fd2e4e94e6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e85299bde594378" /><Relationship Type="http://schemas.openxmlformats.org/officeDocument/2006/relationships/image" Target="/ppt/media/image.jpeg" Id="R9ee32c0dd5a94efa" /><Relationship Type="http://schemas.openxmlformats.org/officeDocument/2006/relationships/image" Target="/ppt/media/image.png" Id="Rd7c8aa92304643dd" /><Relationship Type="http://schemas.openxmlformats.org/officeDocument/2006/relationships/notesSlide" Target="/ppt/notesSlides/notesSlide8.xml" Id="Rbb8b8d9c281c4b3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338f3ba22fb746e0" /><Relationship Type="http://schemas.openxmlformats.org/officeDocument/2006/relationships/image" Target="/ppt/media/image.jpeg" Id="R1b7b0cfd066441e7" /><Relationship Type="http://schemas.openxmlformats.org/officeDocument/2006/relationships/image" Target="/ppt/media/image4.png" Id="Rf06f90c13dd448ef" /><Relationship Type="http://schemas.openxmlformats.org/officeDocument/2006/relationships/notesSlide" Target="/ppt/notesSlides/notesSlide9.xml" Id="Reb2cb1ee362a46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5024a0a63a4d08" /><Relationship Type="http://schemas.openxmlformats.org/officeDocument/2006/relationships/image" Target="/ppt/media/image.jpeg" Id="R68fa3990c239462f" /><Relationship Type="http://schemas.openxmlformats.org/officeDocument/2006/relationships/image" Target="/ppt/media/image4.png" Id="R5de664e813314b46" /><Relationship Type="http://schemas.openxmlformats.org/officeDocument/2006/relationships/notesSlide" Target="/ppt/notesSlides/notesSlide10.xml" Id="Rb56660e81aa9457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3b38af77af1459b" /><Relationship Type="http://schemas.openxmlformats.org/officeDocument/2006/relationships/image" Target="/ppt/media/image.jpeg" Id="R919f9a531c014e32" /><Relationship Type="http://schemas.openxmlformats.org/officeDocument/2006/relationships/image" Target="/ppt/media/image2.png" Id="R799297b4908b4482" /><Relationship Type="http://schemas.openxmlformats.org/officeDocument/2006/relationships/notesSlide" Target="/ppt/notesSlides/notesSlide11.xml" Id="R59a1e846d76a450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065029e147846f7" /><Relationship Type="http://schemas.openxmlformats.org/officeDocument/2006/relationships/image" Target="/ppt/media/image.jpeg" Id="Rbba0d1dde3ad4e98" /><Relationship Type="http://schemas.openxmlformats.org/officeDocument/2006/relationships/image" Target="/ppt/media/image.png" Id="R7de24e964b304d3e" /><Relationship Type="http://schemas.openxmlformats.org/officeDocument/2006/relationships/notesSlide" Target="/ppt/notesSlides/notesSlide12.xml" Id="Re080b619449e4e6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72d1c86213eb4294" /><Relationship Type="http://schemas.openxmlformats.org/officeDocument/2006/relationships/image" Target="/ppt/media/image.jpeg" Id="Rb6fa37172d394c0d" /><Relationship Type="http://schemas.openxmlformats.org/officeDocument/2006/relationships/image" Target="/ppt/media/image4.png" Id="Rc0d31956d7624842" /><Relationship Type="http://schemas.openxmlformats.org/officeDocument/2006/relationships/notesSlide" Target="/ppt/notesSlides/notesSlide13.xml" Id="R4e90cff4bc964d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b085ec82d1482e" /><Relationship Type="http://schemas.openxmlformats.org/officeDocument/2006/relationships/image" Target="/ppt/media/image.jpeg" Id="Rf8651a62fb124edb" /><Relationship Type="http://schemas.openxmlformats.org/officeDocument/2006/relationships/image" Target="/ppt/media/image2.png" Id="R8761356c8b4f4ab1" /><Relationship Type="http://schemas.openxmlformats.org/officeDocument/2006/relationships/image" Target="/ppt/media/image5.png" Id="R3fa2d1cd9b934c58" /><Relationship Type="http://schemas.openxmlformats.org/officeDocument/2006/relationships/notesSlide" Target="/ppt/notesSlides/notesSlide14.xml" Id="Rf8f1b9e1bf3d4c0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504a0800643444bb" /><Relationship Type="http://schemas.openxmlformats.org/officeDocument/2006/relationships/image" Target="/ppt/media/image.jpeg" Id="R67d29a6b656a439b" /><Relationship Type="http://schemas.openxmlformats.org/officeDocument/2006/relationships/image" Target="/ppt/media/image4.png" Id="R9dd45c86ac0c4dc0" /><Relationship Type="http://schemas.openxmlformats.org/officeDocument/2006/relationships/notesSlide" Target="/ppt/notesSlides/notesSlide15.xml" Id="R5c94b4b2d77a459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a215c0d6d2594c2f" /><Relationship Type="http://schemas.openxmlformats.org/officeDocument/2006/relationships/image" Target="/ppt/media/image.jpeg" Id="Ra5ef3295746c4c08" /><Relationship Type="http://schemas.openxmlformats.org/officeDocument/2006/relationships/image" Target="/ppt/media/image.png" Id="Rd77d7021159949ce" /><Relationship Type="http://schemas.openxmlformats.org/officeDocument/2006/relationships/image" Target="/ppt/media/image2.jpeg" Id="Rb15c2ea52efa4655" /><Relationship Type="http://schemas.openxmlformats.org/officeDocument/2006/relationships/notesSlide" Target="/ppt/notesSlides/notesSlide16.xml" Id="R296399b6745f44c9"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442cceab36374d80" /><Relationship Type="http://schemas.openxmlformats.org/officeDocument/2006/relationships/image" Target="/ppt/media/image.jpeg" Id="R848c32bb68154bd1" /><Relationship Type="http://schemas.openxmlformats.org/officeDocument/2006/relationships/image" Target="/ppt/media/image2.png" Id="R4499870dc43842c7" /><Relationship Type="http://schemas.openxmlformats.org/officeDocument/2006/relationships/image" Target="/ppt/media/image2.jpeg" Id="R494d326495964e9c" /><Relationship Type="http://schemas.openxmlformats.org/officeDocument/2006/relationships/notesSlide" Target="/ppt/notesSlides/notesSlide17.xml" Id="R83894ed8394d4fb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782c6f75fa6d4d5a" /><Relationship Type="http://schemas.openxmlformats.org/officeDocument/2006/relationships/image" Target="/ppt/media/image.jpeg" Id="R564dea5b99b94d62" /><Relationship Type="http://schemas.openxmlformats.org/officeDocument/2006/relationships/image" Target="/ppt/media/image.png" Id="R5e2109b9a04e445f" /><Relationship Type="http://schemas.openxmlformats.org/officeDocument/2006/relationships/notesSlide" Target="/ppt/notesSlides/notesSlide18.xml" Id="Rd269c9772f0d499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6182a7cd9cb4991" /><Relationship Type="http://schemas.openxmlformats.org/officeDocument/2006/relationships/image" Target="/ppt/media/image.jpeg" Id="R7adb65adf1e542df" /><Relationship Type="http://schemas.openxmlformats.org/officeDocument/2006/relationships/image" Target="/ppt/media/image.png" Id="Ra7d00d18d0c84e09" /><Relationship Type="http://schemas.openxmlformats.org/officeDocument/2006/relationships/image" Target="/ppt/media/image4.png" Id="Rc02893ff0ce14d7f" /><Relationship Type="http://schemas.openxmlformats.org/officeDocument/2006/relationships/notesSlide" Target="/ppt/notesSlides/notesSlide19.xml" Id="Rb4663a9b92914dec"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a525dabf934871" /><Relationship Type="http://schemas.openxmlformats.org/officeDocument/2006/relationships/image" Target="/ppt/media/image.jpeg" Id="Raf43b02132494cbf" /><Relationship Type="http://schemas.openxmlformats.org/officeDocument/2006/relationships/image" Target="/ppt/media/image2.png" Id="R687d155bb06242d3" /><Relationship Type="http://schemas.openxmlformats.org/officeDocument/2006/relationships/image" Target="/ppt/media/image.png" Id="Rf0eb191823a34f57" /><Relationship Type="http://schemas.openxmlformats.org/officeDocument/2006/relationships/notesSlide" Target="/ppt/notesSlides/notesSlide20.xml" Id="R09b1ab6d8bc54398" /></Relationships>
</file>

<file path=ppt/slides/slide1.xml><?xml version="1.0" encoding="utf-8"?>
<p:sld xmlns:p="http://schemas.openxmlformats.org/presentationml/2006/main">
  <p:cSld>
    <p:bg>
      <p:bgPr>
        <a:blipFill xmlns:a="http://schemas.openxmlformats.org/drawingml/2006/main" rotWithShape="1">
          <a:blip xmlns:r="http://schemas.openxmlformats.org/officeDocument/2006/relationships" r:embed="Re062f4c09d424551">
            <a:lum/>
          </a:blip>
          <a:srcRect l="0" t="0" r="0" b="0"/>
          <a:stretch>
            <a:fillRect l="0" t="0" r="0" b="0"/>
          </a:stretch>
        </a:blipFill>
      </p:bgPr>
    </p:bg>
    <p:spTree>
      <p:nvGrpSpPr>
        <p:cNvPr id="1" name=""/>
        <p:cNvGrpSpPr/>
        <p:nvPr/>
      </p:nvGrpSpPr>
      <p:grpSpPr>
        <a:xfrm xmlns:a="http://schemas.openxmlformats.org/drawingml/2006/main"/>
      </p:grpSpPr>
      <p:pic>
        <p:nvPicPr>
          <p:cNvPr id="14" name="!!orb"/>
          <p:cNvPicPr>
            <a:picLocks xmlns:a="http://schemas.openxmlformats.org/drawingml/2006/main" noChangeAspect="1"/>
          </p:cNvPicPr>
          <p:nvPr/>
        </p:nvPicPr>
        <p:blipFill>
          <a:blip xmlns:r="http://schemas.openxmlformats.org/officeDocument/2006/relationships" xmlns:a="http://schemas.openxmlformats.org/drawingml/2006/main" r:embed="Raedcec1c71484d5b"/>
          <a:stretch xmlns:a="http://schemas.openxmlformats.org/drawingml/2006/main">
            <a:fillRect l="0" t="0" r="0" b="0"/>
          </a:stretch>
        </p:blipFill>
        <p:spPr>
          <a:xfrm xmlns:a="http://schemas.openxmlformats.org/drawingml/2006/main">
            <a:off x="3108960" y="-182880"/>
            <a:ext cx="6766560" cy="6766560"/>
          </a:xfrm>
          <a:prstGeom xmlns:a="http://schemas.openxmlformats.org/drawingml/2006/main" prst="rect">
            <a:avLst/>
          </a:prstGeom>
        </p:spPr>
      </p:pic>
      <p:pic>
        <p:nvPicPr>
          <p:cNvPr id="15" name="!!orb2"/>
          <p:cNvPicPr>
            <a:picLocks xmlns:a="http://schemas.openxmlformats.org/drawingml/2006/main" noChangeAspect="1"/>
          </p:cNvPicPr>
          <p:nvPr/>
        </p:nvPicPr>
        <p:blipFill>
          <a:blip xmlns:r="http://schemas.openxmlformats.org/officeDocument/2006/relationships" xmlns:a="http://schemas.openxmlformats.org/drawingml/2006/main" r:embed="R5cd76fc0612b4c3f"/>
          <a:stretch xmlns:a="http://schemas.openxmlformats.org/drawingml/2006/main">
            <a:fillRect l="0" t="0" r="0" b="0"/>
          </a:stretch>
        </p:blipFill>
        <p:spPr>
          <a:xfrm xmlns:a="http://schemas.openxmlformats.org/drawingml/2006/main">
            <a:off x="-1463040" y="3566160"/>
            <a:ext cx="4572000" cy="457200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4054DA17-A0AA-496A-B33C-DC680E12EDFD}"/>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1C5F5AA8-517B-428B-A4BE-E183A89558DC}"/>
              </a:ext>
            </a:extLst>
          </p:cNvPr>
          <p:cNvSpPr>
            <a:spLocks xmlns:a="http://schemas.openxmlformats.org/drawingml/2006/main" noGrp="1"/>
          </p:cNvSpPr>
          <p:nvPr/>
        </p:nvSpPr>
        <p:spPr>
          <a:xfrm xmlns:a="http://schemas.openxmlformats.org/drawingml/2006/main">
            <a:off x="822960" y="6446520"/>
            <a:ext cx="384048"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pageno">
            <a:extLst xmlns:a="http://schemas.openxmlformats.org/drawingml/2006/main">
              <a:ext uri="{FF2B5EF4-FFF2-40B4-BE49-F238E27FC236}">
                <a16:creationId xmlns:a16="http://schemas.microsoft.com/office/drawing/2014/main" id="{400F55EF-BD42-40B4-8DB4-238EDCD6E3C8}"/>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01 / 20</a:t>
            </a:r>
            <a:endParaRPr sz="900"/>
          </a:p>
        </p:txBody>
      </p:sp>
      <p:sp>
        <p:nvSpPr>
          <p:cNvPr id="7" name="!!mark">
            <a:extLst xmlns:a="http://schemas.openxmlformats.org/drawingml/2006/main">
              <a:ext uri="{FF2B5EF4-FFF2-40B4-BE49-F238E27FC236}">
                <a16:creationId xmlns:a16="http://schemas.microsoft.com/office/drawing/2014/main" id="{BCA24242-4C5B-42BA-90A0-905255115BF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8" name="anim_eyebrow">
            <a:extLst xmlns:a="http://schemas.openxmlformats.org/drawingml/2006/main">
              <a:ext uri="{FF2B5EF4-FFF2-40B4-BE49-F238E27FC236}">
                <a16:creationId xmlns:a16="http://schemas.microsoft.com/office/drawing/2014/main" id="{8E110C3D-04FE-4347-916C-67B4DA84BA7E}"/>
              </a:ext>
            </a:extLst>
          </p:cNvPr>
          <p:cNvSpPr>
            <a:spLocks xmlns:a="http://schemas.openxmlformats.org/drawingml/2006/main" noGrp="1"/>
          </p:cNvSpPr>
          <p:nvPr/>
        </p:nvSpPr>
        <p:spPr>
          <a:xfrm xmlns:a="http://schemas.openxmlformats.org/drawingml/2006/main">
            <a:off x="822960" y="1847088"/>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600">
                <a:solidFill>
                  <a:srgbClr val="FF6B35"/>
                </a:solidFill>
                <a:latin typeface="Arial"/>
                <a:ea typeface="Arial"/>
                <a:cs typeface="Arial"/>
              </a:rPr>
              <a:t>INDIA NEW ZEALAND BUSINESS COUNCIL</a:t>
            </a:r>
            <a:endParaRPr sz="1000"/>
          </a:p>
        </p:txBody>
      </p:sp>
      <p:sp>
        <p:nvSpPr>
          <p:cNvPr id="9" name="!!kicker">
            <a:extLst xmlns:a="http://schemas.openxmlformats.org/drawingml/2006/main">
              <a:ext uri="{FF2B5EF4-FFF2-40B4-BE49-F238E27FC236}">
                <a16:creationId xmlns:a16="http://schemas.microsoft.com/office/drawing/2014/main" id="{D051B296-368A-49A4-B524-29D43D19BC2F}"/>
              </a:ext>
            </a:extLst>
          </p:cNvPr>
          <p:cNvSpPr>
            <a:spLocks xmlns:a="http://schemas.openxmlformats.org/drawingml/2006/main" noGrp="1"/>
          </p:cNvSpPr>
          <p:nvPr/>
        </p:nvSpPr>
        <p:spPr>
          <a:xfrm xmlns:a="http://schemas.openxmlformats.org/drawingml/2006/main">
            <a:off x="822960" y="2212848"/>
            <a:ext cx="9875520" cy="233172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5800"/>
              </a:lnSpc>
              <a:buNone/>
            </a:pPr>
            <a:r>
              <a:rPr sz="5400" b="1" spc="-50">
                <a:solidFill>
                  <a:srgbClr val="EEF2F8"/>
                </a:solidFill>
                <a:latin typeface="Arial"/>
                <a:ea typeface="Arial"/>
                <a:cs typeface="Arial"/>
              </a:rPr>
              <a:t>INZBC TEAM</a:t>
            </a:r>
            <a:endParaRPr sz="5400"/>
          </a:p>
          <a:p xmlns:a="http://schemas.openxmlformats.org/drawingml/2006/main">
            <a:pPr marL="0" indent="0">
              <a:lnSpc>
                <a:spcPts val="5800"/>
              </a:lnSpc>
              <a:buNone/>
            </a:pPr>
            <a:r>
              <a:rPr sz="5400" b="1" spc="-50">
                <a:solidFill>
                  <a:srgbClr val="EEF2F8"/>
                </a:solidFill>
                <a:latin typeface="Arial"/>
                <a:ea typeface="Arial"/>
                <a:cs typeface="Arial"/>
              </a:rPr>
              <a:t>FINAL REPORT</a:t>
            </a:r>
            <a:endParaRPr sz="5400"/>
          </a:p>
        </p:txBody>
      </p:sp>
      <p:sp>
        <p:nvSpPr>
          <p:cNvPr id="10" name="anim_sub">
            <a:extLst xmlns:a="http://schemas.openxmlformats.org/drawingml/2006/main">
              <a:ext uri="{FF2B5EF4-FFF2-40B4-BE49-F238E27FC236}">
                <a16:creationId xmlns:a16="http://schemas.microsoft.com/office/drawing/2014/main" id="{5127AFD6-D053-49DD-B2BE-6DF5EB6648DB}"/>
              </a:ext>
            </a:extLst>
          </p:cNvPr>
          <p:cNvSpPr>
            <a:spLocks xmlns:a="http://schemas.openxmlformats.org/drawingml/2006/main" noGrp="1"/>
          </p:cNvSpPr>
          <p:nvPr/>
        </p:nvSpPr>
        <p:spPr>
          <a:xfrm xmlns:a="http://schemas.openxmlformats.org/drawingml/2006/main">
            <a:off x="822960" y="4681728"/>
            <a:ext cx="694944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2300"/>
              </a:lnSpc>
              <a:buNone/>
            </a:pPr>
            <a:r>
              <a:rPr sz="1500">
                <a:solidFill>
                  <a:srgbClr val="8A94A8"/>
                </a:solidFill>
                <a:latin typeface="Arial"/>
                <a:ea typeface="Arial"/>
                <a:cs typeface="Arial"/>
              </a:rPr>
              <a:t>Three specialist lanes. One governed delivery. Validation continues.</a:t>
            </a:r>
            <a:endParaRPr sz="1500"/>
          </a:p>
        </p:txBody>
      </p:sp>
      <p:sp>
        <p:nvSpPr>
          <p:cNvPr id="11" name="Text 7">
            <a:extLst xmlns:a="http://schemas.openxmlformats.org/drawingml/2006/main">
              <a:ext uri="{FF2B5EF4-FFF2-40B4-BE49-F238E27FC236}">
                <a16:creationId xmlns:a16="http://schemas.microsoft.com/office/drawing/2014/main" id="{EECE9F2C-1951-46CF-8298-40FE539780B0}"/>
              </a:ext>
            </a:extLst>
          </p:cNvPr>
          <p:cNvSpPr>
            <a:spLocks xmlns:a="http://schemas.openxmlformats.org/drawingml/2006/main" noGrp="1"/>
          </p:cNvSpPr>
          <p:nvPr/>
        </p:nvSpPr>
        <p:spPr>
          <a:xfrm xmlns:a="http://schemas.openxmlformats.org/drawingml/2006/main">
            <a:off x="822960" y="5833872"/>
            <a:ext cx="82296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300">
                <a:solidFill>
                  <a:srgbClr val="6E7788"/>
                </a:solidFill>
                <a:latin typeface="Arial"/>
                <a:ea typeface="Arial"/>
                <a:cs typeface="Arial"/>
              </a:rPr>
              <a:t>BHANU GUPTA   ·   ROSHAN ARYAL   ·   PARAS   ·   20 AUGUST 2026</a:t>
            </a:r>
            <a:endParaRPr sz="1000"/>
          </a:p>
        </p:txBody>
      </p:sp>
    </p:spTree>
    <p:extLst>
      <p:ext uri="{BB962C8B-B14F-4D97-AF65-F5344CB8AC3E}">
        <p14:creationId xmlns:p14="http://schemas.microsoft.com/office/powerpoint/2010/main" val="1902115772"/>
      </p:ext>
    </p:extLst>
  </p:cSld>
  <mc:AlternateContent xmlns:mc="http://schemas.openxmlformats.org/markup-compatibility/2006">
    <mc:Choice xmlns:p14="http://schemas.microsoft.com/office/powerpoint/2010/main" Requires="p14">
      <p:transition spd="slow" advClick="1" advTm="4000" p14:dur="1200">
        <p:fade/>
      </p:transition>
    </mc:Choice>
    <mc:Fallback>
      <p:transition spd="slow" advClick="1" advTm="4000">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20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anim calcmode="lin" valueType="num">
                                      <p:cBhvr additive="base">
                                        <p:cTn id="8" dur="700" fill="hold"/>
                                        <p:tgtEl>
                                          <p:spTgt spid="8"/>
                                        </p:tgtEl>
                                        <p:attrNameLst>
                                          <p:attrName>ppt_y</p:attrName>
                                        </p:attrNameLst>
                                      </p:cBhvr>
                                      <p:tavLst>
                                        <p:tav tm="0">
                                          <p:val>
                                            <p:strVal val="#ppt_y+0.045"/>
                                          </p:val>
                                        </p:tav>
                                        <p:tav tm="100000">
                                          <p:val>
                                            <p:strVal val="#ppt_y"/>
                                          </p:val>
                                        </p:tav>
                                      </p:tavLst>
                                    </p:anim>
                                  </p:childTnLst>
                                </p:cTn>
                              </p:par>
                              <p:par>
                                <p:cTn id="9" presetID="10" presetClass="entr" presetSubtype="0" fill="hold" grpId="0" nodeType="withEffect">
                                  <p:stCondLst>
                                    <p:cond delay="50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additive="base">
                                        <p:cTn id="12" dur="1000" fill="hold"/>
                                        <p:tgtEl>
                                          <p:spTgt spid="9"/>
                                        </p:tgtEl>
                                        <p:attrNameLst>
                                          <p:attrName>ppt_y</p:attrName>
                                        </p:attrNameLst>
                                      </p:cBhvr>
                                      <p:tavLst>
                                        <p:tav tm="0">
                                          <p:val>
                                            <p:strVal val="#ppt_y+0.045"/>
                                          </p:val>
                                        </p:tav>
                                        <p:tav tm="100000">
                                          <p:val>
                                            <p:strVal val="#ppt_y"/>
                                          </p:val>
                                        </p:tav>
                                      </p:tavLst>
                                    </p:anim>
                                  </p:childTnLst>
                                </p:cTn>
                              </p:par>
                              <p:par>
                                <p:cTn id="13" presetID="10" presetClass="entr" presetSubtype="0" fill="hold" grpId="0" nodeType="withEffect">
                                  <p:stCondLst>
                                    <p:cond delay="1100"/>
                                  </p:stCondLst>
                                  <p:childTnLst>
                                    <p:set>
                                      <p:cBhvr>
                                        <p:cTn id="14" dur="1" fill="hold">
                                          <p:stCondLst>
                                            <p:cond delay="0"/>
                                          </p:stCondLst>
                                        </p:cTn>
                                        <p:tgtEl>
                                          <p:spTgt spid="10"/>
                                        </p:tgtEl>
                                        <p:attrNameLst>
                                          <p:attrName>style.visibility</p:attrName>
                                        </p:attrNameLst>
                                      </p:cBhvr>
                                      <p:to>
                                        <p:strVal val="visible"/>
                                      </p:to>
                                    </p:set>
                                    <p:animEffect transition="in" filter="fade">
                                      <p:cBhvr>
                                        <p:cTn id="15" dur="900"/>
                                        <p:tgtEl>
                                          <p:spTgt spid="10"/>
                                        </p:tgtEl>
                                      </p:cBhvr>
                                    </p:animEffect>
                                    <p:anim calcmode="lin" valueType="num">
                                      <p:cBhvr additive="base">
                                        <p:cTn id="16" dur="900" fill="hold"/>
                                        <p:tgtEl>
                                          <p:spTgt spid="10"/>
                                        </p:tgtEl>
                                        <p:attrNameLst>
                                          <p:attrName>ppt_y</p:attrName>
                                        </p:attrNameLst>
                                      </p:cBhvr>
                                      <p:tavLst>
                                        <p:tav tm="0">
                                          <p:val>
                                            <p:strVal val="#ppt_y+0.04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p="http://schemas.openxmlformats.org/presentationml/2006/main">
  <p:cSld>
    <p:bg>
      <p:bgPr>
        <a:blipFill xmlns:a="http://schemas.openxmlformats.org/drawingml/2006/main" rotWithShape="1">
          <a:blip xmlns:r="http://schemas.openxmlformats.org/officeDocument/2006/relationships" r:embed="R30463d1b17604d2e">
            <a:lum/>
          </a:blip>
          <a:srcRect l="0" t="0" r="0" b="0"/>
          <a:stretch>
            <a:fillRect l="0" t="0" r="0" b="0"/>
          </a:stretch>
        </a:blipFill>
      </p:bgPr>
    </p:bg>
    <p:spTree>
      <p:nvGrpSpPr>
        <p:cNvPr id="1" name=""/>
        <p:cNvGrpSpPr/>
        <p:nvPr/>
      </p:nvGrpSpPr>
      <p:grpSpPr>
        <a:xfrm xmlns:a="http://schemas.openxmlformats.org/drawingml/2006/main"/>
      </p:grpSpPr>
      <p:pic>
        <p:nvPicPr>
          <p:cNvPr id="13" name="!!orb"/>
          <p:cNvPicPr>
            <a:picLocks xmlns:a="http://schemas.openxmlformats.org/drawingml/2006/main" noChangeAspect="1"/>
          </p:cNvPicPr>
          <p:nvPr/>
        </p:nvPicPr>
        <p:blipFill>
          <a:blip xmlns:r="http://schemas.openxmlformats.org/officeDocument/2006/relationships" xmlns:a="http://schemas.openxmlformats.org/drawingml/2006/main" r:embed="R5eedd6b2af0741ce"/>
          <a:stretch xmlns:a="http://schemas.openxmlformats.org/drawingml/2006/main">
            <a:fillRect l="0" t="0" r="0" b="0"/>
          </a:stretch>
        </p:blipFill>
        <p:spPr>
          <a:xfrm xmlns:a="http://schemas.openxmlformats.org/drawingml/2006/main">
            <a:off x="-1645920" y="1280160"/>
            <a:ext cx="6035040" cy="6035040"/>
          </a:xfrm>
          <a:prstGeom xmlns:a="http://schemas.openxmlformats.org/drawingml/2006/main" prst="rect">
            <a:avLst/>
          </a:prstGeom>
        </p:spPr>
      </p:pic>
      <p:pic>
        <p:nvPicPr>
          <p:cNvPr id="14" name="!!orb2"/>
          <p:cNvPicPr>
            <a:picLocks xmlns:a="http://schemas.openxmlformats.org/drawingml/2006/main" noChangeAspect="1"/>
          </p:cNvPicPr>
          <p:nvPr/>
        </p:nvPicPr>
        <p:blipFill>
          <a:blip xmlns:r="http://schemas.openxmlformats.org/officeDocument/2006/relationships" xmlns:a="http://schemas.openxmlformats.org/drawingml/2006/main" r:embed="Rdae8de66db0942ff"/>
          <a:stretch xmlns:a="http://schemas.openxmlformats.org/drawingml/2006/main">
            <a:fillRect l="0" t="0" r="0" b="0"/>
          </a:stretch>
        </p:blipFill>
        <p:spPr>
          <a:xfrm xmlns:a="http://schemas.openxmlformats.org/drawingml/2006/main">
            <a:off x="8412480" y="3840480"/>
            <a:ext cx="4937760" cy="493776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52D937E0-BB6F-4F62-B1B0-E7F2C6B3E4DB}"/>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3FCC8C91-78D5-4C93-A48F-DD9B4BD4098A}"/>
              </a:ext>
            </a:extLst>
          </p:cNvPr>
          <p:cNvSpPr>
            <a:spLocks xmlns:a="http://schemas.openxmlformats.org/drawingml/2006/main" noGrp="1"/>
          </p:cNvSpPr>
          <p:nvPr/>
        </p:nvSpPr>
        <p:spPr>
          <a:xfrm xmlns:a="http://schemas.openxmlformats.org/drawingml/2006/main">
            <a:off x="822960" y="6446520"/>
            <a:ext cx="918876"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D06D4451-7230-48AA-9F2A-2D1077DEC4B8}"/>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9D2F9F9A-DA79-4223-8AE2-49DA84EA5121}"/>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THE TEAM RESULT</a:t>
            </a:r>
            <a:endParaRPr sz="900"/>
          </a:p>
        </p:txBody>
      </p:sp>
      <p:sp>
        <p:nvSpPr>
          <p:cNvPr id="8" name="pageno">
            <a:extLst xmlns:a="http://schemas.openxmlformats.org/drawingml/2006/main">
              <a:ext uri="{FF2B5EF4-FFF2-40B4-BE49-F238E27FC236}">
                <a16:creationId xmlns:a16="http://schemas.microsoft.com/office/drawing/2014/main" id="{F561F95D-66EA-4CFC-9D38-E59FB6F779B7}"/>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02 / 20</a:t>
            </a:r>
            <a:endParaRPr sz="900"/>
          </a:p>
        </p:txBody>
      </p:sp>
      <p:sp>
        <p:nvSpPr>
          <p:cNvPr id="9" name="Text 5">
            <a:extLst xmlns:a="http://schemas.openxmlformats.org/drawingml/2006/main">
              <a:ext uri="{FF2B5EF4-FFF2-40B4-BE49-F238E27FC236}">
                <a16:creationId xmlns:a16="http://schemas.microsoft.com/office/drawing/2014/main" id="{F773E81E-6002-442F-96F4-DE21AB0C97AC}"/>
              </a:ext>
            </a:extLst>
          </p:cNvPr>
          <p:cNvSpPr>
            <a:spLocks xmlns:a="http://schemas.openxmlformats.org/drawingml/2006/main" noGrp="1"/>
          </p:cNvSpPr>
          <p:nvPr/>
        </p:nvSpPr>
        <p:spPr>
          <a:xfrm xmlns:a="http://schemas.openxmlformats.org/drawingml/2006/main">
            <a:off x="822960" y="2057400"/>
            <a:ext cx="9509760" cy="24688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4600"/>
              </a:lnSpc>
              <a:buNone/>
            </a:pPr>
            <a:r>
              <a:rPr sz="3800" b="1">
                <a:solidFill>
                  <a:srgbClr val="EEF2F8"/>
                </a:solidFill>
                <a:latin typeface="Arial"/>
                <a:ea typeface="Arial"/>
                <a:cs typeface="Arial"/>
              </a:rPr>
              <a:t>Three workstreams became one governed platform—now entering validation.</a:t>
            </a:r>
            <a:endParaRPr sz="3800"/>
          </a:p>
        </p:txBody>
      </p:sp>
      <p:sp>
        <p:nvSpPr>
          <p:cNvPr id="10" name="Text 6">
            <a:extLst xmlns:a="http://schemas.openxmlformats.org/drawingml/2006/main">
              <a:ext uri="{FF2B5EF4-FFF2-40B4-BE49-F238E27FC236}">
                <a16:creationId xmlns:a16="http://schemas.microsoft.com/office/drawing/2014/main" id="{C77632EA-7CC3-4A21-88EF-395A88A7F0A8}"/>
              </a:ext>
            </a:extLst>
          </p:cNvPr>
          <p:cNvSpPr>
            <a:spLocks xmlns:a="http://schemas.openxmlformats.org/drawingml/2006/main" noGrp="1"/>
          </p:cNvSpPr>
          <p:nvPr/>
        </p:nvSpPr>
        <p:spPr>
          <a:xfrm xmlns:a="http://schemas.openxmlformats.org/drawingml/2006/main">
            <a:off x="822960" y="5074920"/>
            <a:ext cx="768096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8A94A8"/>
                </a:solidFill>
                <a:latin typeface="Arial"/>
                <a:ea typeface="Arial"/>
                <a:cs typeface="Arial"/>
              </a:rPr>
              <a:t>192 student-authored PRs  ·  184 merged  ·  138 board items</a:t>
            </a:r>
            <a:endParaRPr sz="1300"/>
          </a:p>
        </p:txBody>
      </p:sp>
    </p:spTree>
    <p:extLst>
      <p:ext uri="{BB962C8B-B14F-4D97-AF65-F5344CB8AC3E}">
        <p14:creationId xmlns:p14="http://schemas.microsoft.com/office/powerpoint/2010/main" val="1734133315"/>
      </p:ext>
    </p:extLst>
  </p:cSld>
  <mc:AlternateContent xmlns:mc="http://schemas.openxmlformats.org/markup-compatibility/2006">
    <mc:Choice xmlns:p159="http://schemas.microsoft.com/office/powerpoint/2015/09/main" Requires="p159">
      <p:transition xmlns:p14="http://schemas.microsoft.com/office/powerpoint/2010/main" spd="slow" advClick="1" advTm="4500" p14:dur="1600">
        <p159:morph option="byWord"/>
      </p:transition>
    </mc:Choice>
    <mc:Fallback>
      <p:transition spd="slow" advClick="1" advTm="4500">
        <p:fade/>
      </p:transition>
    </mc:Fallback>
  </mc:AlternateContent>
</p:sld>
</file>

<file path=ppt/slides/slide3.xml><?xml version="1.0" encoding="utf-8"?>
<p:sld xmlns:p="http://schemas.openxmlformats.org/presentationml/2006/main">
  <p:cSld>
    <p:bg>
      <p:bgPr>
        <a:blipFill xmlns:a="http://schemas.openxmlformats.org/drawingml/2006/main" rotWithShape="1">
          <a:blip xmlns:r="http://schemas.openxmlformats.org/officeDocument/2006/relationships" r:embed="Rfce79bde9bbf47c0">
            <a:lum/>
          </a:blip>
          <a:srcRect l="0" t="0" r="0" b="0"/>
          <a:stretch>
            <a:fillRect l="0" t="0" r="0" b="0"/>
          </a:stretch>
        </a:blipFill>
      </p:bgPr>
    </p:bg>
    <p:spTree>
      <p:nvGrpSpPr>
        <p:cNvPr id="1" name=""/>
        <p:cNvGrpSpPr/>
        <p:nvPr/>
      </p:nvGrpSpPr>
      <p:grpSpPr>
        <a:xfrm xmlns:a="http://schemas.openxmlformats.org/drawingml/2006/main"/>
      </p:grpSpPr>
      <p:pic>
        <p:nvPicPr>
          <p:cNvPr id="25" name="!!orb"/>
          <p:cNvPicPr>
            <a:picLocks xmlns:a="http://schemas.openxmlformats.org/drawingml/2006/main" noChangeAspect="1"/>
          </p:cNvPicPr>
          <p:nvPr/>
        </p:nvPicPr>
        <p:blipFill>
          <a:blip xmlns:r="http://schemas.openxmlformats.org/officeDocument/2006/relationships" xmlns:a="http://schemas.openxmlformats.org/drawingml/2006/main" r:embed="R424e11abf3204c3a"/>
          <a:stretch xmlns:a="http://schemas.openxmlformats.org/drawingml/2006/main">
            <a:fillRect l="0" t="0" r="0" b="0"/>
          </a:stretch>
        </p:blipFill>
        <p:spPr>
          <a:xfrm xmlns:a="http://schemas.openxmlformats.org/drawingml/2006/main">
            <a:off x="7863840" y="-1097280"/>
            <a:ext cx="5852160" cy="58521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86F08BCF-762D-44D8-8034-EEBA5B1B0586}"/>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07E58EE1-4C1C-47CB-AFBD-77B32F98E519}"/>
              </a:ext>
            </a:extLst>
          </p:cNvPr>
          <p:cNvSpPr>
            <a:spLocks xmlns:a="http://schemas.openxmlformats.org/drawingml/2006/main" noGrp="1"/>
          </p:cNvSpPr>
          <p:nvPr/>
        </p:nvSpPr>
        <p:spPr>
          <a:xfrm xmlns:a="http://schemas.openxmlformats.org/drawingml/2006/main">
            <a:off x="822960" y="6446520"/>
            <a:ext cx="1453703"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CB551E79-D5C7-46C3-8F9B-F37CD9708443}"/>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46D407E4-C306-40E8-A600-6C558CC8765B}"/>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CONTENTS</a:t>
            </a:r>
            <a:endParaRPr sz="900"/>
          </a:p>
        </p:txBody>
      </p:sp>
      <p:sp>
        <p:nvSpPr>
          <p:cNvPr id="7" name="pageno">
            <a:extLst xmlns:a="http://schemas.openxmlformats.org/drawingml/2006/main">
              <a:ext uri="{FF2B5EF4-FFF2-40B4-BE49-F238E27FC236}">
                <a16:creationId xmlns:a16="http://schemas.microsoft.com/office/drawing/2014/main" id="{740F52C4-D58F-4419-8194-05F0C12A5917}"/>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03 / 20</a:t>
            </a:r>
            <a:endParaRPr sz="900"/>
          </a:p>
        </p:txBody>
      </p:sp>
      <p:sp>
        <p:nvSpPr>
          <p:cNvPr id="8" name="Text 5">
            <a:extLst xmlns:a="http://schemas.openxmlformats.org/drawingml/2006/main">
              <a:ext uri="{FF2B5EF4-FFF2-40B4-BE49-F238E27FC236}">
                <a16:creationId xmlns:a16="http://schemas.microsoft.com/office/drawing/2014/main" id="{261E2D26-D62E-426A-B376-D502BCB433FA}"/>
              </a:ext>
            </a:extLst>
          </p:cNvPr>
          <p:cNvSpPr>
            <a:spLocks xmlns:a="http://schemas.openxmlformats.org/drawingml/2006/main" noGrp="1"/>
          </p:cNvSpPr>
          <p:nvPr/>
        </p:nvSpPr>
        <p:spPr>
          <a:xfrm xmlns:a="http://schemas.openxmlformats.org/drawingml/2006/main">
            <a:off x="822960" y="1170432"/>
            <a:ext cx="7315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420"/>
              </a:lnSpc>
              <a:buNone/>
            </a:pPr>
            <a:r>
              <a:rPr sz="3000" b="1">
                <a:solidFill>
                  <a:srgbClr val="EEF2F8"/>
                </a:solidFill>
                <a:latin typeface="Arial"/>
                <a:ea typeface="Arial"/>
                <a:cs typeface="Arial"/>
              </a:rPr>
              <a:t>What the evidence proves</a:t>
            </a:r>
            <a:endParaRPr sz="3000"/>
          </a:p>
        </p:txBody>
      </p:sp>
      <p:sp>
        <p:nvSpPr>
          <p:cNvPr id="9" name="!!num">
            <a:extLst xmlns:a="http://schemas.openxmlformats.org/drawingml/2006/main">
              <a:ext uri="{FF2B5EF4-FFF2-40B4-BE49-F238E27FC236}">
                <a16:creationId xmlns:a16="http://schemas.microsoft.com/office/drawing/2014/main" id="{EC94E38E-0DF8-4950-B496-EA1B0138E2CC}"/>
              </a:ext>
            </a:extLst>
          </p:cNvPr>
          <p:cNvSpPr>
            <a:spLocks xmlns:a="http://schemas.openxmlformats.org/drawingml/2006/main" noGrp="1"/>
          </p:cNvSpPr>
          <p:nvPr/>
        </p:nvSpPr>
        <p:spPr>
          <a:xfrm xmlns:a="http://schemas.openxmlformats.org/drawingml/2006/main">
            <a:off x="822960" y="2395728"/>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FF6B35"/>
                </a:solidFill>
                <a:latin typeface="Arial"/>
                <a:ea typeface="Arial"/>
                <a:cs typeface="Arial"/>
              </a:rPr>
              <a:t>01</a:t>
            </a:r>
            <a:endParaRPr sz="2200"/>
          </a:p>
        </p:txBody>
      </p:sp>
      <p:sp>
        <p:nvSpPr>
          <p:cNvPr id="10" name="Text 7">
            <a:extLst xmlns:a="http://schemas.openxmlformats.org/drawingml/2006/main">
              <a:ext uri="{FF2B5EF4-FFF2-40B4-BE49-F238E27FC236}">
                <a16:creationId xmlns:a16="http://schemas.microsoft.com/office/drawing/2014/main" id="{A0E3C42A-8E6E-41EA-8071-AFA4785DD42B}"/>
              </a:ext>
            </a:extLst>
          </p:cNvPr>
          <p:cNvSpPr>
            <a:spLocks xmlns:a="http://schemas.openxmlformats.org/drawingml/2006/main" noGrp="1"/>
          </p:cNvSpPr>
          <p:nvPr/>
        </p:nvSpPr>
        <p:spPr>
          <a:xfrm xmlns:a="http://schemas.openxmlformats.org/drawingml/2006/main">
            <a:off x="1783080" y="2395728"/>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Mandate + theory</a:t>
            </a:r>
            <a:endParaRPr sz="1800"/>
          </a:p>
        </p:txBody>
      </p:sp>
      <p:sp>
        <p:nvSpPr>
          <p:cNvPr id="11" name="Text 8">
            <a:extLst xmlns:a="http://schemas.openxmlformats.org/drawingml/2006/main">
              <a:ext uri="{FF2B5EF4-FFF2-40B4-BE49-F238E27FC236}">
                <a16:creationId xmlns:a16="http://schemas.microsoft.com/office/drawing/2014/main" id="{17BFF004-2147-40BC-8457-DD8B60CD0955}"/>
              </a:ext>
            </a:extLst>
          </p:cNvPr>
          <p:cNvSpPr>
            <a:spLocks xmlns:a="http://schemas.openxmlformats.org/drawingml/2006/main" noGrp="1"/>
          </p:cNvSpPr>
          <p:nvPr/>
        </p:nvSpPr>
        <p:spPr>
          <a:xfrm xmlns:a="http://schemas.openxmlformats.org/drawingml/2006/main">
            <a:off x="6355080" y="2395728"/>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Sociotechnical trust and human authority.</a:t>
            </a:r>
            <a:endParaRPr sz="1250"/>
          </a:p>
        </p:txBody>
      </p:sp>
      <p:sp>
        <p:nvSpPr>
          <p:cNvPr id="12" name="Shape 9">
            <a:extLst xmlns:a="http://schemas.openxmlformats.org/drawingml/2006/main">
              <a:ext uri="{FF2B5EF4-FFF2-40B4-BE49-F238E27FC236}">
                <a16:creationId xmlns:a16="http://schemas.microsoft.com/office/drawing/2014/main" id="{63EB0745-FAC8-48FA-BB7E-97031CE7B344}"/>
              </a:ext>
            </a:extLst>
          </p:cNvPr>
          <p:cNvSpPr>
            <a:spLocks xmlns:a="http://schemas.openxmlformats.org/drawingml/2006/main" noGrp="1"/>
          </p:cNvSpPr>
          <p:nvPr/>
        </p:nvSpPr>
        <p:spPr>
          <a:xfrm xmlns:a="http://schemas.openxmlformats.org/drawingml/2006/main">
            <a:off x="822960" y="3108960"/>
            <a:ext cx="10545775" cy="7315"/>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13" name="num1">
            <a:extLst xmlns:a="http://schemas.openxmlformats.org/drawingml/2006/main">
              <a:ext uri="{FF2B5EF4-FFF2-40B4-BE49-F238E27FC236}">
                <a16:creationId xmlns:a16="http://schemas.microsoft.com/office/drawing/2014/main" id="{29D5E596-309C-45E6-A72F-031F2B8922F4}"/>
              </a:ext>
            </a:extLst>
          </p:cNvPr>
          <p:cNvSpPr>
            <a:spLocks xmlns:a="http://schemas.openxmlformats.org/drawingml/2006/main" noGrp="1"/>
          </p:cNvSpPr>
          <p:nvPr/>
        </p:nvSpPr>
        <p:spPr>
          <a:xfrm xmlns:a="http://schemas.openxmlformats.org/drawingml/2006/main">
            <a:off x="822960" y="3328416"/>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4A5468"/>
                </a:solidFill>
                <a:latin typeface="Arial"/>
                <a:ea typeface="Arial"/>
                <a:cs typeface="Arial"/>
              </a:rPr>
              <a:t>02</a:t>
            </a:r>
            <a:endParaRPr sz="2200"/>
          </a:p>
        </p:txBody>
      </p:sp>
      <p:sp>
        <p:nvSpPr>
          <p:cNvPr id="14" name="Text 11">
            <a:extLst xmlns:a="http://schemas.openxmlformats.org/drawingml/2006/main">
              <a:ext uri="{FF2B5EF4-FFF2-40B4-BE49-F238E27FC236}">
                <a16:creationId xmlns:a16="http://schemas.microsoft.com/office/drawing/2014/main" id="{B712C8B8-3436-4A92-92D2-2925C222B2BA}"/>
              </a:ext>
            </a:extLst>
          </p:cNvPr>
          <p:cNvSpPr>
            <a:spLocks xmlns:a="http://schemas.openxmlformats.org/drawingml/2006/main" noGrp="1"/>
          </p:cNvSpPr>
          <p:nvPr/>
        </p:nvSpPr>
        <p:spPr>
          <a:xfrm xmlns:a="http://schemas.openxmlformats.org/drawingml/2006/main">
            <a:off x="1783080" y="3328416"/>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Delivery + evidence</a:t>
            </a:r>
            <a:endParaRPr sz="1800"/>
          </a:p>
        </p:txBody>
      </p:sp>
      <p:sp>
        <p:nvSpPr>
          <p:cNvPr id="15" name="Text 12">
            <a:extLst xmlns:a="http://schemas.openxmlformats.org/drawingml/2006/main">
              <a:ext uri="{FF2B5EF4-FFF2-40B4-BE49-F238E27FC236}">
                <a16:creationId xmlns:a16="http://schemas.microsoft.com/office/drawing/2014/main" id="{CE6C9C4F-1962-469C-9953-6F4885DD5115}"/>
              </a:ext>
            </a:extLst>
          </p:cNvPr>
          <p:cNvSpPr>
            <a:spLocks xmlns:a="http://schemas.openxmlformats.org/drawingml/2006/main" noGrp="1"/>
          </p:cNvSpPr>
          <p:nvPr/>
        </p:nvSpPr>
        <p:spPr>
          <a:xfrm xmlns:a="http://schemas.openxmlformats.org/drawingml/2006/main">
            <a:off x="6355080" y="3328416"/>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Agile feedback, quality gates and the live record.</a:t>
            </a:r>
            <a:endParaRPr sz="1250"/>
          </a:p>
        </p:txBody>
      </p:sp>
      <p:sp>
        <p:nvSpPr>
          <p:cNvPr id="16" name="Shape 13">
            <a:extLst xmlns:a="http://schemas.openxmlformats.org/drawingml/2006/main">
              <a:ext uri="{FF2B5EF4-FFF2-40B4-BE49-F238E27FC236}">
                <a16:creationId xmlns:a16="http://schemas.microsoft.com/office/drawing/2014/main" id="{019D34C7-6400-4EAA-BF67-64DA83D63F86}"/>
              </a:ext>
            </a:extLst>
          </p:cNvPr>
          <p:cNvSpPr>
            <a:spLocks xmlns:a="http://schemas.openxmlformats.org/drawingml/2006/main" noGrp="1"/>
          </p:cNvSpPr>
          <p:nvPr/>
        </p:nvSpPr>
        <p:spPr>
          <a:xfrm xmlns:a="http://schemas.openxmlformats.org/drawingml/2006/main">
            <a:off x="822960" y="4041648"/>
            <a:ext cx="10545775" cy="7315"/>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17" name="num2">
            <a:extLst xmlns:a="http://schemas.openxmlformats.org/drawingml/2006/main">
              <a:ext uri="{FF2B5EF4-FFF2-40B4-BE49-F238E27FC236}">
                <a16:creationId xmlns:a16="http://schemas.microsoft.com/office/drawing/2014/main" id="{81847394-849D-4AEF-84E7-FF2520FF3AA0}"/>
              </a:ext>
            </a:extLst>
          </p:cNvPr>
          <p:cNvSpPr>
            <a:spLocks xmlns:a="http://schemas.openxmlformats.org/drawingml/2006/main" noGrp="1"/>
          </p:cNvSpPr>
          <p:nvPr/>
        </p:nvSpPr>
        <p:spPr>
          <a:xfrm xmlns:a="http://schemas.openxmlformats.org/drawingml/2006/main">
            <a:off x="822960" y="4261104"/>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4A5468"/>
                </a:solidFill>
                <a:latin typeface="Arial"/>
                <a:ea typeface="Arial"/>
                <a:cs typeface="Arial"/>
              </a:rPr>
              <a:t>03</a:t>
            </a:r>
            <a:endParaRPr sz="2200"/>
          </a:p>
        </p:txBody>
      </p:sp>
      <p:sp>
        <p:nvSpPr>
          <p:cNvPr id="18" name="Text 15">
            <a:extLst xmlns:a="http://schemas.openxmlformats.org/drawingml/2006/main">
              <a:ext uri="{FF2B5EF4-FFF2-40B4-BE49-F238E27FC236}">
                <a16:creationId xmlns:a16="http://schemas.microsoft.com/office/drawing/2014/main" id="{4C140562-7438-47E1-943C-BD73884F90D3}"/>
              </a:ext>
            </a:extLst>
          </p:cNvPr>
          <p:cNvSpPr>
            <a:spLocks xmlns:a="http://schemas.openxmlformats.org/drawingml/2006/main" noGrp="1"/>
          </p:cNvSpPr>
          <p:nvPr/>
        </p:nvSpPr>
        <p:spPr>
          <a:xfrm xmlns:a="http://schemas.openxmlformats.org/drawingml/2006/main">
            <a:off x="1783080" y="4261104"/>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Team + learning</a:t>
            </a:r>
            <a:endParaRPr sz="1800"/>
          </a:p>
        </p:txBody>
      </p:sp>
      <p:sp>
        <p:nvSpPr>
          <p:cNvPr id="19" name="Text 16">
            <a:extLst xmlns:a="http://schemas.openxmlformats.org/drawingml/2006/main">
              <a:ext uri="{FF2B5EF4-FFF2-40B4-BE49-F238E27FC236}">
                <a16:creationId xmlns:a16="http://schemas.microsoft.com/office/drawing/2014/main" id="{11A8F287-B698-4F0B-B928-D617F849BC19}"/>
              </a:ext>
            </a:extLst>
          </p:cNvPr>
          <p:cNvSpPr>
            <a:spLocks xmlns:a="http://schemas.openxmlformats.org/drawingml/2006/main" noGrp="1"/>
          </p:cNvSpPr>
          <p:nvPr/>
        </p:nvSpPr>
        <p:spPr>
          <a:xfrm xmlns:a="http://schemas.openxmlformats.org/drawingml/2006/main">
            <a:off x="6355080" y="4261104"/>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Conway, psychological safety and reflection.</a:t>
            </a:r>
            <a:endParaRPr sz="1250"/>
          </a:p>
        </p:txBody>
      </p:sp>
      <p:sp>
        <p:nvSpPr>
          <p:cNvPr id="20" name="Shape 17">
            <a:extLst xmlns:a="http://schemas.openxmlformats.org/drawingml/2006/main">
              <a:ext uri="{FF2B5EF4-FFF2-40B4-BE49-F238E27FC236}">
                <a16:creationId xmlns:a16="http://schemas.microsoft.com/office/drawing/2014/main" id="{D548E81C-361C-4285-B3F5-0962D289B05B}"/>
              </a:ext>
            </a:extLst>
          </p:cNvPr>
          <p:cNvSpPr>
            <a:spLocks xmlns:a="http://schemas.openxmlformats.org/drawingml/2006/main" noGrp="1"/>
          </p:cNvSpPr>
          <p:nvPr/>
        </p:nvSpPr>
        <p:spPr>
          <a:xfrm xmlns:a="http://schemas.openxmlformats.org/drawingml/2006/main">
            <a:off x="822960" y="4974336"/>
            <a:ext cx="10545775" cy="7315"/>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21" name="num3">
            <a:extLst xmlns:a="http://schemas.openxmlformats.org/drawingml/2006/main">
              <a:ext uri="{FF2B5EF4-FFF2-40B4-BE49-F238E27FC236}">
                <a16:creationId xmlns:a16="http://schemas.microsoft.com/office/drawing/2014/main" id="{DD8E4EF0-491C-4A3E-BAD7-5B14853B3192}"/>
              </a:ext>
            </a:extLst>
          </p:cNvPr>
          <p:cNvSpPr>
            <a:spLocks xmlns:a="http://schemas.openxmlformats.org/drawingml/2006/main" noGrp="1"/>
          </p:cNvSpPr>
          <p:nvPr/>
        </p:nvSpPr>
        <p:spPr>
          <a:xfrm xmlns:a="http://schemas.openxmlformats.org/drawingml/2006/main">
            <a:off x="822960" y="5193792"/>
            <a:ext cx="868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4A5468"/>
                </a:solidFill>
                <a:latin typeface="Arial"/>
                <a:ea typeface="Arial"/>
                <a:cs typeface="Arial"/>
              </a:rPr>
              <a:t>04</a:t>
            </a:r>
            <a:endParaRPr sz="2200"/>
          </a:p>
        </p:txBody>
      </p:sp>
      <p:sp>
        <p:nvSpPr>
          <p:cNvPr id="22" name="Text 19">
            <a:extLst xmlns:a="http://schemas.openxmlformats.org/drawingml/2006/main">
              <a:ext uri="{FF2B5EF4-FFF2-40B4-BE49-F238E27FC236}">
                <a16:creationId xmlns:a16="http://schemas.microsoft.com/office/drawing/2014/main" id="{294B6B1D-7049-4D46-8DE4-CB0480829857}"/>
              </a:ext>
            </a:extLst>
          </p:cNvPr>
          <p:cNvSpPr>
            <a:spLocks xmlns:a="http://schemas.openxmlformats.org/drawingml/2006/main" noGrp="1"/>
          </p:cNvSpPr>
          <p:nvPr/>
        </p:nvSpPr>
        <p:spPr>
          <a:xfrm xmlns:a="http://schemas.openxmlformats.org/drawingml/2006/main">
            <a:off x="1783080" y="5193792"/>
            <a:ext cx="4297680"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b="1">
                <a:solidFill>
                  <a:srgbClr val="EEF2F8"/>
                </a:solidFill>
                <a:latin typeface="Arial"/>
                <a:ea typeface="Arial"/>
                <a:cs typeface="Arial"/>
              </a:rPr>
              <a:t>Next phase + readiness</a:t>
            </a:r>
            <a:endParaRPr sz="1800"/>
          </a:p>
        </p:txBody>
      </p:sp>
      <p:sp>
        <p:nvSpPr>
          <p:cNvPr id="23" name="Text 20">
            <a:extLst xmlns:a="http://schemas.openxmlformats.org/drawingml/2006/main">
              <a:ext uri="{FF2B5EF4-FFF2-40B4-BE49-F238E27FC236}">
                <a16:creationId xmlns:a16="http://schemas.microsoft.com/office/drawing/2014/main" id="{66EE4174-F816-40DE-A934-90ABB86BD287}"/>
              </a:ext>
            </a:extLst>
          </p:cNvPr>
          <p:cNvSpPr>
            <a:spLocks xmlns:a="http://schemas.openxmlformats.org/drawingml/2006/main" noGrp="1"/>
          </p:cNvSpPr>
          <p:nvPr/>
        </p:nvSpPr>
        <p:spPr>
          <a:xfrm xmlns:a="http://schemas.openxmlformats.org/drawingml/2006/main">
            <a:off x="6355080" y="5193792"/>
            <a:ext cx="5010912" cy="5029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8A94A8"/>
                </a:solidFill>
                <a:latin typeface="Arial"/>
                <a:ea typeface="Arial"/>
                <a:cs typeface="Arial"/>
              </a:rPr>
              <a:t>What must close before any future handover.</a:t>
            </a:r>
            <a:endParaRPr sz="1250"/>
          </a:p>
        </p:txBody>
      </p:sp>
    </p:spTree>
    <p:extLst>
      <p:ext uri="{BB962C8B-B14F-4D97-AF65-F5344CB8AC3E}">
        <p14:creationId xmlns:p14="http://schemas.microsoft.com/office/powerpoint/2010/main" val="1730298593"/>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400">
        <p159:morph option="byObject"/>
      </p:transition>
    </mc:Choice>
    <mc:Fallback>
      <p:transition spd="slow" advClick="1" advTm="5000">
        <p:fade/>
      </p:transition>
    </mc:Fallback>
  </mc:AlternateContent>
</p:sld>
</file>

<file path=ppt/slides/slide4.xml><?xml version="1.0" encoding="utf-8"?>
<p:sld xmlns:p="http://schemas.openxmlformats.org/presentationml/2006/main">
  <p:cSld>
    <p:bg>
      <p:bgPr>
        <a:blipFill xmlns:a="http://schemas.openxmlformats.org/drawingml/2006/main" rotWithShape="1">
          <a:blip xmlns:r="http://schemas.openxmlformats.org/officeDocument/2006/relationships" r:embed="R812b9084964a40c4">
            <a:lum/>
          </a:blip>
          <a:srcRect l="0" t="0" r="0" b="0"/>
          <a:stretch>
            <a:fillRect l="0" t="0" r="0" b="0"/>
          </a:stretch>
        </a:blipFill>
      </p:bgPr>
    </p:bg>
    <p:spTree>
      <p:nvGrpSpPr>
        <p:cNvPr id="1" name=""/>
        <p:cNvGrpSpPr/>
        <p:nvPr/>
      </p:nvGrpSpPr>
      <p:grpSpPr>
        <a:xfrm xmlns:a="http://schemas.openxmlformats.org/drawingml/2006/main"/>
      </p:grpSpPr>
      <p:pic>
        <p:nvPicPr>
          <p:cNvPr id="12" name="!!orb"/>
          <p:cNvPicPr>
            <a:picLocks xmlns:a="http://schemas.openxmlformats.org/drawingml/2006/main" noChangeAspect="1"/>
          </p:cNvPicPr>
          <p:nvPr/>
        </p:nvPicPr>
        <p:blipFill>
          <a:blip xmlns:r="http://schemas.openxmlformats.org/officeDocument/2006/relationships" xmlns:a="http://schemas.openxmlformats.org/drawingml/2006/main" r:embed="Rbb63b7a256d14910"/>
          <a:stretch xmlns:a="http://schemas.openxmlformats.org/drawingml/2006/main">
            <a:fillRect l="0" t="0" r="0" b="0"/>
          </a:stretch>
        </p:blipFill>
        <p:spPr>
          <a:xfrm xmlns:a="http://schemas.openxmlformats.org/drawingml/2006/main">
            <a:off x="-2011680" y="2011680"/>
            <a:ext cx="6949440" cy="69494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CC01762F-6EB3-4982-8749-E641C27966EF}"/>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C3D6D90D-DF66-4BA2-80E2-4EE0BA97C5C4}"/>
              </a:ext>
            </a:extLst>
          </p:cNvPr>
          <p:cNvSpPr>
            <a:spLocks xmlns:a="http://schemas.openxmlformats.org/drawingml/2006/main" noGrp="1"/>
          </p:cNvSpPr>
          <p:nvPr/>
        </p:nvSpPr>
        <p:spPr>
          <a:xfrm xmlns:a="http://schemas.openxmlformats.org/drawingml/2006/main">
            <a:off x="822960" y="6446520"/>
            <a:ext cx="1988531"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E4E3C475-8510-4E17-BE69-64A67B85E5D3}"/>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BB2E7E6E-7D98-4770-9C1A-342020D74D0D}"/>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01</a:t>
            </a:r>
            <a:endParaRPr sz="900"/>
          </a:p>
        </p:txBody>
      </p:sp>
      <p:sp>
        <p:nvSpPr>
          <p:cNvPr id="7" name="pageno">
            <a:extLst xmlns:a="http://schemas.openxmlformats.org/drawingml/2006/main">
              <a:ext uri="{FF2B5EF4-FFF2-40B4-BE49-F238E27FC236}">
                <a16:creationId xmlns:a16="http://schemas.microsoft.com/office/drawing/2014/main" id="{37D10A50-5A3E-4601-B967-A5065EC6A083}"/>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04 / 20</a:t>
            </a:r>
            <a:endParaRPr sz="900"/>
          </a:p>
        </p:txBody>
      </p:sp>
      <p:sp>
        <p:nvSpPr>
          <p:cNvPr id="8" name="!!num">
            <a:extLst xmlns:a="http://schemas.openxmlformats.org/drawingml/2006/main">
              <a:ext uri="{FF2B5EF4-FFF2-40B4-BE49-F238E27FC236}">
                <a16:creationId xmlns:a16="http://schemas.microsoft.com/office/drawing/2014/main" id="{3A76D1D9-7EBF-4434-832A-596B45885986}"/>
              </a:ext>
            </a:extLst>
          </p:cNvPr>
          <p:cNvSpPr>
            <a:spLocks xmlns:a="http://schemas.openxmlformats.org/drawingml/2006/main" noGrp="1"/>
          </p:cNvSpPr>
          <p:nvPr/>
        </p:nvSpPr>
        <p:spPr>
          <a:xfrm xmlns:a="http://schemas.openxmlformats.org/drawingml/2006/main">
            <a:off x="5394960" y="685800"/>
            <a:ext cx="5971032" cy="5120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1000" b="1" spc="-800">
                <a:solidFill>
                  <a:srgbClr val="1F2735"/>
                </a:solidFill>
                <a:latin typeface="Arial"/>
                <a:ea typeface="Arial"/>
                <a:cs typeface="Arial"/>
              </a:rPr>
              <a:t>01</a:t>
            </a:r>
            <a:endParaRPr sz="21000"/>
          </a:p>
        </p:txBody>
      </p:sp>
      <p:sp>
        <p:nvSpPr>
          <p:cNvPr id="9" name="Text 6">
            <a:extLst xmlns:a="http://schemas.openxmlformats.org/drawingml/2006/main">
              <a:ext uri="{FF2B5EF4-FFF2-40B4-BE49-F238E27FC236}">
                <a16:creationId xmlns:a16="http://schemas.microsoft.com/office/drawing/2014/main" id="{4CA51771-5BFE-4150-995C-A7758BAB4417}"/>
              </a:ext>
            </a:extLst>
          </p:cNvPr>
          <p:cNvSpPr>
            <a:spLocks xmlns:a="http://schemas.openxmlformats.org/drawingml/2006/main" noGrp="1"/>
          </p:cNvSpPr>
          <p:nvPr/>
        </p:nvSpPr>
        <p:spPr>
          <a:xfrm xmlns:a="http://schemas.openxmlformats.org/drawingml/2006/main">
            <a:off x="822960" y="2514600"/>
            <a:ext cx="60350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nSpc>
                <a:spcPts val="5000"/>
              </a:lnSpc>
              <a:buNone/>
            </a:pPr>
            <a:r>
              <a:rPr sz="4400" b="1">
                <a:solidFill>
                  <a:srgbClr val="EEF2F8"/>
                </a:solidFill>
                <a:latin typeface="Arial"/>
                <a:ea typeface="Arial"/>
                <a:cs typeface="Arial"/>
              </a:rPr>
              <a:t>Built for trust,</a:t>
            </a:r>
            <a:endParaRPr sz="4400"/>
          </a:p>
          <a:p xmlns:a="http://schemas.openxmlformats.org/drawingml/2006/main">
            <a:pPr marL="0" indent="0">
              <a:lnSpc>
                <a:spcPts val="5000"/>
              </a:lnSpc>
              <a:buNone/>
            </a:pPr>
            <a:r>
              <a:rPr sz="4400" b="1">
                <a:solidFill>
                  <a:srgbClr val="EEF2F8"/>
                </a:solidFill>
                <a:latin typeface="Arial"/>
                <a:ea typeface="Arial"/>
                <a:cs typeface="Arial"/>
              </a:rPr>
              <a:t>not just demos</a:t>
            </a:r>
            <a:endParaRPr sz="4400"/>
          </a:p>
        </p:txBody>
      </p:sp>
      <p:sp>
        <p:nvSpPr>
          <p:cNvPr id="10" name="Text 7">
            <a:extLst xmlns:a="http://schemas.openxmlformats.org/drawingml/2006/main">
              <a:ext uri="{FF2B5EF4-FFF2-40B4-BE49-F238E27FC236}">
                <a16:creationId xmlns:a16="http://schemas.microsoft.com/office/drawing/2014/main" id="{84F6AF19-28D6-4DA9-80A3-C3E807ED7841}"/>
              </a:ext>
            </a:extLst>
          </p:cNvPr>
          <p:cNvSpPr>
            <a:spLocks xmlns:a="http://schemas.openxmlformats.org/drawingml/2006/main" noGrp="1"/>
          </p:cNvSpPr>
          <p:nvPr/>
        </p:nvSpPr>
        <p:spPr>
          <a:xfrm xmlns:a="http://schemas.openxmlformats.org/drawingml/2006/main">
            <a:off x="822960" y="4572000"/>
            <a:ext cx="53949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25"/>
              </a:lnSpc>
              <a:buNone/>
            </a:pPr>
            <a:r>
              <a:rPr sz="1350">
                <a:solidFill>
                  <a:srgbClr val="8A94A8"/>
                </a:solidFill>
                <a:latin typeface="Arial"/>
                <a:ea typeface="Arial"/>
                <a:cs typeface="Arial"/>
              </a:rPr>
              <a:t>Sociotechnical systems theory: dependable outcomes require technical controls and accountable human roles to work together.</a:t>
            </a:r>
            <a:endParaRPr sz="1350"/>
          </a:p>
        </p:txBody>
      </p:sp>
    </p:spTree>
    <p:extLst>
      <p:ext uri="{BB962C8B-B14F-4D97-AF65-F5344CB8AC3E}">
        <p14:creationId xmlns:p14="http://schemas.microsoft.com/office/powerpoint/2010/main" val="1087804544"/>
      </p:ext>
    </p:extLst>
  </p:cSld>
  <mc:AlternateContent xmlns:mc="http://schemas.openxmlformats.org/markup-compatibility/2006">
    <mc:Choice xmlns:p159="http://schemas.microsoft.com/office/powerpoint/2015/09/main" Requires="p159">
      <p:transition xmlns:p14="http://schemas.microsoft.com/office/powerpoint/2010/main" spd="slow" advClick="1" advTm="3500" p14:dur="1800">
        <p159:morph option="byObject"/>
      </p:transition>
    </mc:Choice>
    <mc:Fallback>
      <p:transition spd="slow" advClick="1" advTm="3500">
        <p:fade/>
      </p:transition>
    </mc:Fallback>
  </mc:AlternateContent>
</p:sld>
</file>

<file path=ppt/slides/slide5.xml><?xml version="1.0" encoding="utf-8"?>
<p:sld xmlns:p="http://schemas.openxmlformats.org/presentationml/2006/main">
  <p:cSld>
    <p:bg>
      <p:bgPr>
        <a:blipFill xmlns:a="http://schemas.openxmlformats.org/drawingml/2006/main" rotWithShape="1">
          <a:blip xmlns:r="http://schemas.openxmlformats.org/officeDocument/2006/relationships" r:embed="R91234dd21968460e">
            <a:lum/>
          </a:blip>
          <a:srcRect l="0" t="0" r="0" b="0"/>
          <a:stretch>
            <a:fillRect l="0" t="0" r="0" b="0"/>
          </a:stretch>
        </a:blipFill>
      </p:bgPr>
    </p:bg>
    <p:spTree>
      <p:nvGrpSpPr>
        <p:cNvPr id="1" name=""/>
        <p:cNvGrpSpPr/>
        <p:nvPr/>
      </p:nvGrpSpPr>
      <p:grpSpPr>
        <a:xfrm xmlns:a="http://schemas.openxmlformats.org/drawingml/2006/main"/>
      </p:grpSpPr>
      <p:pic>
        <p:nvPicPr>
          <p:cNvPr id="20" name="!!orb"/>
          <p:cNvPicPr>
            <a:picLocks xmlns:a="http://schemas.openxmlformats.org/drawingml/2006/main" noChangeAspect="1"/>
          </p:cNvPicPr>
          <p:nvPr/>
        </p:nvPicPr>
        <p:blipFill>
          <a:blip xmlns:r="http://schemas.openxmlformats.org/officeDocument/2006/relationships" xmlns:a="http://schemas.openxmlformats.org/drawingml/2006/main" r:embed="Rc206d25ea53d4140"/>
          <a:stretch xmlns:a="http://schemas.openxmlformats.org/drawingml/2006/main">
            <a:fillRect l="0" t="0" r="0" b="0"/>
          </a:stretch>
        </p:blipFill>
        <p:spPr>
          <a:xfrm xmlns:a="http://schemas.openxmlformats.org/drawingml/2006/main">
            <a:off x="-2377440" y="4023360"/>
            <a:ext cx="4754880" cy="4754880"/>
          </a:xfrm>
          <a:prstGeom xmlns:a="http://schemas.openxmlformats.org/drawingml/2006/main" prst="rect">
            <a:avLst/>
          </a:prstGeom>
        </p:spPr>
      </p:pic>
      <p:pic>
        <p:nvPicPr>
          <p:cNvPr id="21" name="!!art"/>
          <p:cNvPicPr>
            <a:picLocks xmlns:a="http://schemas.openxmlformats.org/drawingml/2006/main" noChangeAspect="1"/>
          </p:cNvPicPr>
          <p:nvPr/>
        </p:nvPicPr>
        <p:blipFill>
          <a:blip xmlns:r="http://schemas.openxmlformats.org/officeDocument/2006/relationships" xmlns:a="http://schemas.openxmlformats.org/drawingml/2006/main" r:embed="R33a40a43d75d4155"/>
          <a:srcRect xmlns:a="http://schemas.openxmlformats.org/drawingml/2006/main" l="0" t="0" r="0" b="0"/>
          <a:stretch xmlns:a="http://schemas.openxmlformats.org/drawingml/2006/main"/>
        </p:blipFill>
        <p:spPr>
          <a:xfrm xmlns:a="http://schemas.openxmlformats.org/drawingml/2006/main">
            <a:off x="6400800" y="0"/>
            <a:ext cx="5790895" cy="685800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85A8109B-346B-4EE2-9C2A-BDEED8702E2A}"/>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48812BA8-1584-4D66-94E7-11708A2E585E}"/>
              </a:ext>
            </a:extLst>
          </p:cNvPr>
          <p:cNvSpPr>
            <a:spLocks xmlns:a="http://schemas.openxmlformats.org/drawingml/2006/main" noGrp="1"/>
          </p:cNvSpPr>
          <p:nvPr/>
        </p:nvSpPr>
        <p:spPr>
          <a:xfrm xmlns:a="http://schemas.openxmlformats.org/drawingml/2006/main">
            <a:off x="822960" y="6446520"/>
            <a:ext cx="2523359"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89C2F34D-A09F-4469-8E5D-59C302AB110F}"/>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65BD4875-2DE0-4C8A-B55B-72F6964169A3}"/>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01</a:t>
            </a:r>
            <a:endParaRPr sz="900"/>
          </a:p>
        </p:txBody>
      </p:sp>
      <p:sp>
        <p:nvSpPr>
          <p:cNvPr id="8" name="pageno">
            <a:extLst xmlns:a="http://schemas.openxmlformats.org/drawingml/2006/main">
              <a:ext uri="{FF2B5EF4-FFF2-40B4-BE49-F238E27FC236}">
                <a16:creationId xmlns:a16="http://schemas.microsoft.com/office/drawing/2014/main" id="{6103AA99-4D49-41B6-8AD2-C44B691AD5BA}"/>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05 / 20</a:t>
            </a:r>
            <a:endParaRPr sz="900"/>
          </a:p>
        </p:txBody>
      </p:sp>
      <p:sp>
        <p:nvSpPr>
          <p:cNvPr id="9" name="!!num">
            <a:extLst xmlns:a="http://schemas.openxmlformats.org/drawingml/2006/main">
              <a:ext uri="{FF2B5EF4-FFF2-40B4-BE49-F238E27FC236}">
                <a16:creationId xmlns:a16="http://schemas.microsoft.com/office/drawing/2014/main" id="{91EF6F1E-D24E-42AD-9FC4-0F23F1E4A7F7}"/>
              </a:ext>
            </a:extLst>
          </p:cNvPr>
          <p:cNvSpPr>
            <a:spLocks xmlns:a="http://schemas.openxmlformats.org/drawingml/2006/main" noGrp="1"/>
          </p:cNvSpPr>
          <p:nvPr/>
        </p:nvSpPr>
        <p:spPr>
          <a:xfrm xmlns:a="http://schemas.openxmlformats.org/drawingml/2006/main">
            <a:off x="822960" y="1115568"/>
            <a:ext cx="914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6B35"/>
                </a:solidFill>
                <a:latin typeface="Arial"/>
                <a:ea typeface="Arial"/>
                <a:cs typeface="Arial"/>
              </a:rPr>
              <a:t>01</a:t>
            </a:r>
            <a:endParaRPr sz="2000"/>
          </a:p>
        </p:txBody>
      </p:sp>
      <p:sp>
        <p:nvSpPr>
          <p:cNvPr id="10" name="Text 6">
            <a:extLst xmlns:a="http://schemas.openxmlformats.org/drawingml/2006/main">
              <a:ext uri="{FF2B5EF4-FFF2-40B4-BE49-F238E27FC236}">
                <a16:creationId xmlns:a16="http://schemas.microsoft.com/office/drawing/2014/main" id="{95133381-D636-406B-AFF2-9D1CF921C783}"/>
              </a:ext>
            </a:extLst>
          </p:cNvPr>
          <p:cNvSpPr>
            <a:spLocks xmlns:a="http://schemas.openxmlformats.org/drawingml/2006/main" noGrp="1"/>
          </p:cNvSpPr>
          <p:nvPr/>
        </p:nvSpPr>
        <p:spPr>
          <a:xfrm xmlns:a="http://schemas.openxmlformats.org/drawingml/2006/main">
            <a:off x="822960" y="1719072"/>
            <a:ext cx="5029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306"/>
              </a:lnSpc>
              <a:buNone/>
            </a:pPr>
            <a:r>
              <a:rPr sz="2900" b="1">
                <a:solidFill>
                  <a:srgbClr val="EEF2F8"/>
                </a:solidFill>
                <a:latin typeface="Arial"/>
                <a:ea typeface="Arial"/>
                <a:cs typeface="Arial"/>
              </a:rPr>
              <a:t>Four connected outcomes,</a:t>
            </a:r>
            <a:endParaRPr sz="2900"/>
          </a:p>
          <a:p xmlns:a="http://schemas.openxmlformats.org/drawingml/2006/main">
            <a:pPr marL="0" indent="0">
              <a:lnSpc>
                <a:spcPts val="3306"/>
              </a:lnSpc>
              <a:buNone/>
            </a:pPr>
            <a:r>
              <a:rPr sz="2900" b="1">
                <a:solidFill>
                  <a:srgbClr val="EEF2F8"/>
                </a:solidFill>
                <a:latin typeface="Arial"/>
                <a:ea typeface="Arial"/>
                <a:cs typeface="Arial"/>
              </a:rPr>
              <a:t>one operating standard</a:t>
            </a:r>
            <a:endParaRPr sz="2900"/>
          </a:p>
        </p:txBody>
      </p:sp>
      <p:sp>
        <p:nvSpPr>
          <p:cNvPr id="11" name="Text 7">
            <a:extLst xmlns:a="http://schemas.openxmlformats.org/drawingml/2006/main">
              <a:ext uri="{FF2B5EF4-FFF2-40B4-BE49-F238E27FC236}">
                <a16:creationId xmlns:a16="http://schemas.microsoft.com/office/drawing/2014/main" id="{89AA9AAE-C58A-459B-BF43-1FC67765FCD1}"/>
              </a:ext>
            </a:extLst>
          </p:cNvPr>
          <p:cNvSpPr>
            <a:spLocks xmlns:a="http://schemas.openxmlformats.org/drawingml/2006/main" noGrp="1"/>
          </p:cNvSpPr>
          <p:nvPr/>
        </p:nvSpPr>
        <p:spPr>
          <a:xfrm xmlns:a="http://schemas.openxmlformats.org/drawingml/2006/main">
            <a:off x="822960" y="3127248"/>
            <a:ext cx="4937760" cy="15544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25"/>
              </a:lnSpc>
              <a:buNone/>
            </a:pPr>
            <a:r>
              <a:rPr sz="1350">
                <a:solidFill>
                  <a:srgbClr val="8A94A8"/>
                </a:solidFill>
                <a:latin typeface="Arial"/>
                <a:ea typeface="Arial"/>
                <a:cs typeface="Arial"/>
              </a:rPr>
              <a:t>INZBC asked for a SIP review workflow, FTA intelligence, a Communications Assistant and a refreshed public website. Every outcome had to preserve evidence, privacy and human authority.</a:t>
            </a:r>
            <a:endParaRPr sz="1350"/>
          </a:p>
        </p:txBody>
      </p:sp>
      <p:sp>
        <p:nvSpPr>
          <p:cNvPr id="12" name="Shape 8">
            <a:extLst xmlns:a="http://schemas.openxmlformats.org/drawingml/2006/main">
              <a:ext uri="{FF2B5EF4-FFF2-40B4-BE49-F238E27FC236}">
                <a16:creationId xmlns:a16="http://schemas.microsoft.com/office/drawing/2014/main" id="{6028AE3E-B823-4B7F-BDB5-36365B54FE51}"/>
              </a:ext>
            </a:extLst>
          </p:cNvPr>
          <p:cNvSpPr>
            <a:spLocks xmlns:a="http://schemas.openxmlformats.org/drawingml/2006/main" noGrp="1"/>
          </p:cNvSpPr>
          <p:nvPr/>
        </p:nvSpPr>
        <p:spPr>
          <a:xfrm xmlns:a="http://schemas.openxmlformats.org/drawingml/2006/main" rot="2700000">
            <a:off x="822960" y="4809744"/>
            <a:ext cx="82296" cy="822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3" name="Text 9">
            <a:extLst xmlns:a="http://schemas.openxmlformats.org/drawingml/2006/main">
              <a:ext uri="{FF2B5EF4-FFF2-40B4-BE49-F238E27FC236}">
                <a16:creationId xmlns:a16="http://schemas.microsoft.com/office/drawing/2014/main" id="{27FEDB74-CD82-4018-BAF0-91D3B628AE8B}"/>
              </a:ext>
            </a:extLst>
          </p:cNvPr>
          <p:cNvSpPr>
            <a:spLocks xmlns:a="http://schemas.openxmlformats.org/drawingml/2006/main" noGrp="1"/>
          </p:cNvSpPr>
          <p:nvPr/>
        </p:nvSpPr>
        <p:spPr>
          <a:xfrm xmlns:a="http://schemas.openxmlformats.org/drawingml/2006/main">
            <a:off x="1133856" y="4709160"/>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EEF2F8"/>
                </a:solidFill>
                <a:latin typeface="Arial"/>
                <a:ea typeface="Arial"/>
                <a:cs typeface="Arial"/>
              </a:rPr>
              <a:t>Trade Intelligence / SIP review</a:t>
            </a:r>
            <a:endParaRPr sz="1250"/>
          </a:p>
        </p:txBody>
      </p:sp>
      <p:sp>
        <p:nvSpPr>
          <p:cNvPr id="14" name="Shape 10">
            <a:extLst xmlns:a="http://schemas.openxmlformats.org/drawingml/2006/main">
              <a:ext uri="{FF2B5EF4-FFF2-40B4-BE49-F238E27FC236}">
                <a16:creationId xmlns:a16="http://schemas.microsoft.com/office/drawing/2014/main" id="{53905B6B-8500-49F5-9AEE-ACBD85BDD7DB}"/>
              </a:ext>
            </a:extLst>
          </p:cNvPr>
          <p:cNvSpPr>
            <a:spLocks xmlns:a="http://schemas.openxmlformats.org/drawingml/2006/main" noGrp="1"/>
          </p:cNvSpPr>
          <p:nvPr/>
        </p:nvSpPr>
        <p:spPr>
          <a:xfrm xmlns:a="http://schemas.openxmlformats.org/drawingml/2006/main" rot="2700000">
            <a:off x="822960" y="5230368"/>
            <a:ext cx="82296" cy="822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5" name="Text 11">
            <a:extLst xmlns:a="http://schemas.openxmlformats.org/drawingml/2006/main">
              <a:ext uri="{FF2B5EF4-FFF2-40B4-BE49-F238E27FC236}">
                <a16:creationId xmlns:a16="http://schemas.microsoft.com/office/drawing/2014/main" id="{89553068-D764-496D-AB86-8DA8496D4C9D}"/>
              </a:ext>
            </a:extLst>
          </p:cNvPr>
          <p:cNvSpPr>
            <a:spLocks xmlns:a="http://schemas.openxmlformats.org/drawingml/2006/main" noGrp="1"/>
          </p:cNvSpPr>
          <p:nvPr/>
        </p:nvSpPr>
        <p:spPr>
          <a:xfrm xmlns:a="http://schemas.openxmlformats.org/drawingml/2006/main">
            <a:off x="1133856" y="5129784"/>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EEF2F8"/>
                </a:solidFill>
                <a:latin typeface="Arial"/>
                <a:ea typeface="Arial"/>
                <a:cs typeface="Arial"/>
              </a:rPr>
              <a:t>FTA + communications services</a:t>
            </a:r>
            <a:endParaRPr sz="1250"/>
          </a:p>
        </p:txBody>
      </p:sp>
      <p:sp>
        <p:nvSpPr>
          <p:cNvPr id="16" name="Shape 12">
            <a:extLst xmlns:a="http://schemas.openxmlformats.org/drawingml/2006/main">
              <a:ext uri="{FF2B5EF4-FFF2-40B4-BE49-F238E27FC236}">
                <a16:creationId xmlns:a16="http://schemas.microsoft.com/office/drawing/2014/main" id="{C396844A-23BD-430A-B579-752F674CE027}"/>
              </a:ext>
            </a:extLst>
          </p:cNvPr>
          <p:cNvSpPr>
            <a:spLocks xmlns:a="http://schemas.openxmlformats.org/drawingml/2006/main" noGrp="1"/>
          </p:cNvSpPr>
          <p:nvPr/>
        </p:nvSpPr>
        <p:spPr>
          <a:xfrm xmlns:a="http://schemas.openxmlformats.org/drawingml/2006/main" rot="2700000">
            <a:off x="822960" y="5650992"/>
            <a:ext cx="82296" cy="822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7" name="Text 13">
            <a:extLst xmlns:a="http://schemas.openxmlformats.org/drawingml/2006/main">
              <a:ext uri="{FF2B5EF4-FFF2-40B4-BE49-F238E27FC236}">
                <a16:creationId xmlns:a16="http://schemas.microsoft.com/office/drawing/2014/main" id="{FF06A71C-A99E-4F64-8BA4-DA05FC69C0AC}"/>
              </a:ext>
            </a:extLst>
          </p:cNvPr>
          <p:cNvSpPr>
            <a:spLocks xmlns:a="http://schemas.openxmlformats.org/drawingml/2006/main" noGrp="1"/>
          </p:cNvSpPr>
          <p:nvPr/>
        </p:nvSpPr>
        <p:spPr>
          <a:xfrm xmlns:a="http://schemas.openxmlformats.org/drawingml/2006/main">
            <a:off x="1133856" y="5550408"/>
            <a:ext cx="45720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50">
                <a:solidFill>
                  <a:srgbClr val="EEF2F8"/>
                </a:solidFill>
                <a:latin typeface="Arial"/>
                <a:ea typeface="Arial"/>
                <a:cs typeface="Arial"/>
              </a:rPr>
              <a:t>Public website + member surfaces</a:t>
            </a:r>
            <a:endParaRPr sz="1250"/>
          </a:p>
        </p:txBody>
      </p:sp>
    </p:spTree>
    <p:extLst>
      <p:ext uri="{BB962C8B-B14F-4D97-AF65-F5344CB8AC3E}">
        <p14:creationId xmlns:p14="http://schemas.microsoft.com/office/powerpoint/2010/main" val="38768971"/>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400">
        <p159:morph option="byObject"/>
      </p:transition>
    </mc:Choice>
    <mc:Fallback>
      <p:transition spd="slow" advClick="1" advTm="5000">
        <p:fade/>
      </p:transition>
    </mc:Fallback>
  </mc:AlternateContent>
</p:sld>
</file>

<file path=ppt/slides/slide6.xml><?xml version="1.0" encoding="utf-8"?>
<p:sld xmlns:p="http://schemas.openxmlformats.org/presentationml/2006/main">
  <p:cSld>
    <p:bg>
      <p:bgPr>
        <a:blipFill xmlns:a="http://schemas.openxmlformats.org/drawingml/2006/main" rotWithShape="1">
          <a:blip xmlns:r="http://schemas.openxmlformats.org/officeDocument/2006/relationships" r:embed="Rc1e4a5c63050454d">
            <a:lum/>
          </a:blip>
          <a:srcRect l="0" t="0" r="0" b="0"/>
          <a:stretch>
            <a:fillRect l="0" t="0" r="0" b="0"/>
          </a:stretch>
        </a:blipFill>
      </p:bgPr>
    </p:bg>
    <p:spTree>
      <p:nvGrpSpPr>
        <p:cNvPr id="1" name=""/>
        <p:cNvGrpSpPr/>
        <p:nvPr/>
      </p:nvGrpSpPr>
      <p:grpSpPr>
        <a:xfrm xmlns:a="http://schemas.openxmlformats.org/drawingml/2006/main"/>
      </p:grpSpPr>
      <p:pic>
        <p:nvPicPr>
          <p:cNvPr id="13" name="!!orb"/>
          <p:cNvPicPr>
            <a:picLocks xmlns:a="http://schemas.openxmlformats.org/drawingml/2006/main" noChangeAspect="1"/>
          </p:cNvPicPr>
          <p:nvPr/>
        </p:nvPicPr>
        <p:blipFill>
          <a:blip xmlns:r="http://schemas.openxmlformats.org/officeDocument/2006/relationships" xmlns:a="http://schemas.openxmlformats.org/drawingml/2006/main" r:embed="R117d0a5fce554e83"/>
          <a:stretch xmlns:a="http://schemas.openxmlformats.org/drawingml/2006/main">
            <a:fillRect l="0" t="0" r="0" b="0"/>
          </a:stretch>
        </p:blipFill>
        <p:spPr>
          <a:xfrm xmlns:a="http://schemas.openxmlformats.org/drawingml/2006/main">
            <a:off x="2651760" y="457200"/>
            <a:ext cx="7315200" cy="7315200"/>
          </a:xfrm>
          <a:prstGeom xmlns:a="http://schemas.openxmlformats.org/drawingml/2006/main" prst="rect">
            <a:avLst/>
          </a:prstGeom>
        </p:spPr>
      </p:pic>
      <p:pic>
        <p:nvPicPr>
          <p:cNvPr id="14" name="!!orb2"/>
          <p:cNvPicPr>
            <a:picLocks xmlns:a="http://schemas.openxmlformats.org/drawingml/2006/main" noChangeAspect="1"/>
          </p:cNvPicPr>
          <p:nvPr/>
        </p:nvPicPr>
        <p:blipFill>
          <a:blip xmlns:r="http://schemas.openxmlformats.org/officeDocument/2006/relationships" xmlns:a="http://schemas.openxmlformats.org/drawingml/2006/main" r:embed="Rc7fbbf537ebc45e9"/>
          <a:stretch xmlns:a="http://schemas.openxmlformats.org/drawingml/2006/main">
            <a:fillRect l="0" t="0" r="0" b="0"/>
          </a:stretch>
        </p:blipFill>
        <p:spPr>
          <a:xfrm xmlns:a="http://schemas.openxmlformats.org/drawingml/2006/main">
            <a:off x="-1828800" y="4206240"/>
            <a:ext cx="4572000" cy="457200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2C0161BA-1439-44CF-A810-51A0F02808C8}"/>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95824EB9-3B3C-4F70-A93F-ABE7B67F00E1}"/>
              </a:ext>
            </a:extLst>
          </p:cNvPr>
          <p:cNvSpPr>
            <a:spLocks xmlns:a="http://schemas.openxmlformats.org/drawingml/2006/main" noGrp="1"/>
          </p:cNvSpPr>
          <p:nvPr/>
        </p:nvSpPr>
        <p:spPr>
          <a:xfrm xmlns:a="http://schemas.openxmlformats.org/drawingml/2006/main">
            <a:off x="822960" y="6446520"/>
            <a:ext cx="3058187"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C0A3502A-55D3-4426-8421-6088EA18B1A1}"/>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86AA9FAB-C781-4DE5-B83C-4FFA2CDEDFF0}"/>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THE THESIS</a:t>
            </a:r>
            <a:endParaRPr sz="900"/>
          </a:p>
        </p:txBody>
      </p:sp>
      <p:sp>
        <p:nvSpPr>
          <p:cNvPr id="8" name="pageno">
            <a:extLst xmlns:a="http://schemas.openxmlformats.org/drawingml/2006/main">
              <a:ext uri="{FF2B5EF4-FFF2-40B4-BE49-F238E27FC236}">
                <a16:creationId xmlns:a16="http://schemas.microsoft.com/office/drawing/2014/main" id="{3A15A3B0-BC39-43B1-B6D2-38304EE9A12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06 / 20</a:t>
            </a:r>
            <a:endParaRPr sz="900"/>
          </a:p>
        </p:txBody>
      </p:sp>
      <p:sp>
        <p:nvSpPr>
          <p:cNvPr id="9" name="Text 5">
            <a:extLst xmlns:a="http://schemas.openxmlformats.org/drawingml/2006/main">
              <a:ext uri="{FF2B5EF4-FFF2-40B4-BE49-F238E27FC236}">
                <a16:creationId xmlns:a16="http://schemas.microsoft.com/office/drawing/2014/main" id="{06D2B5C5-B519-4472-B983-AEBCA3559EA0}"/>
              </a:ext>
            </a:extLst>
          </p:cNvPr>
          <p:cNvSpPr>
            <a:spLocks xmlns:a="http://schemas.openxmlformats.org/drawingml/2006/main" noGrp="1"/>
          </p:cNvSpPr>
          <p:nvPr/>
        </p:nvSpPr>
        <p:spPr>
          <a:xfrm xmlns:a="http://schemas.openxmlformats.org/drawingml/2006/main">
            <a:off x="822960" y="2148840"/>
            <a:ext cx="10058400" cy="23774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l">
              <a:lnSpc>
                <a:spcPts val="5400"/>
              </a:lnSpc>
              <a:buNone/>
            </a:pPr>
            <a:r>
              <a:rPr sz="4600" b="1">
                <a:solidFill>
                  <a:srgbClr val="EEF2F8"/>
                </a:solidFill>
                <a:latin typeface="Arial"/>
                <a:ea typeface="Arial"/>
                <a:cs typeface="Arial"/>
              </a:rPr>
              <a:t>Trust is a chain
across every layer.</a:t>
            </a:r>
            <a:endParaRPr sz="4600"/>
          </a:p>
        </p:txBody>
      </p:sp>
      <p:sp>
        <p:nvSpPr>
          <p:cNvPr id="10" name="Text 6">
            <a:extLst xmlns:a="http://schemas.openxmlformats.org/drawingml/2006/main">
              <a:ext uri="{FF2B5EF4-FFF2-40B4-BE49-F238E27FC236}">
                <a16:creationId xmlns:a16="http://schemas.microsoft.com/office/drawing/2014/main" id="{5BC6CBD9-5D95-49E1-9799-9EF18DFBCAFC}"/>
              </a:ext>
            </a:extLst>
          </p:cNvPr>
          <p:cNvSpPr>
            <a:spLocks xmlns:a="http://schemas.openxmlformats.org/drawingml/2006/main" noGrp="1"/>
          </p:cNvSpPr>
          <p:nvPr/>
        </p:nvSpPr>
        <p:spPr>
          <a:xfrm xmlns:a="http://schemas.openxmlformats.org/drawingml/2006/main">
            <a:off x="822960" y="4892040"/>
            <a:ext cx="73152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spc="100">
                <a:solidFill>
                  <a:srgbClr val="8A94A8"/>
                </a:solidFill>
                <a:latin typeface="Arial"/>
                <a:ea typeface="Arial"/>
                <a:cs typeface="Arial"/>
              </a:rPr>
              <a:t>Joint optimisation: evidence, controls, interfaces and accountable people form one chain.</a:t>
            </a:r>
            <a:endParaRPr sz="1200"/>
          </a:p>
        </p:txBody>
      </p:sp>
    </p:spTree>
    <p:extLst>
      <p:ext uri="{BB962C8B-B14F-4D97-AF65-F5344CB8AC3E}">
        <p14:creationId xmlns:p14="http://schemas.microsoft.com/office/powerpoint/2010/main" val="810914789"/>
      </p:ext>
    </p:extLst>
  </p:cSld>
  <mc:AlternateContent xmlns:mc="http://schemas.openxmlformats.org/markup-compatibility/2006">
    <mc:Choice xmlns:p159="http://schemas.microsoft.com/office/powerpoint/2015/09/main" Requires="p159">
      <p:transition xmlns:p14="http://schemas.microsoft.com/office/powerpoint/2010/main" spd="slow" advClick="1" advTm="4000" p14:dur="1800">
        <p159:morph option="byWord"/>
      </p:transition>
    </mc:Choice>
    <mc:Fallback>
      <p:transition spd="slow" advClick="1" advTm="4000">
        <p:fade/>
      </p:transition>
    </mc:Fallback>
  </mc:AlternateContent>
</p:sld>
</file>

<file path=ppt/slides/slide7.xml><?xml version="1.0" encoding="utf-8"?>
<p:sld xmlns:p="http://schemas.openxmlformats.org/presentationml/2006/main">
  <p:cSld>
    <p:bg>
      <p:bgPr>
        <a:blipFill xmlns:a="http://schemas.openxmlformats.org/drawingml/2006/main" rotWithShape="1">
          <a:blip xmlns:r="http://schemas.openxmlformats.org/officeDocument/2006/relationships" r:embed="R9284322254f44a76">
            <a:lum/>
          </a:blip>
          <a:srcRect l="0" t="0" r="0" b="0"/>
          <a:stretch>
            <a:fillRect l="0" t="0" r="0" b="0"/>
          </a:stretch>
        </a:blipFill>
      </p:bgPr>
    </p:bg>
    <p:spTree>
      <p:nvGrpSpPr>
        <p:cNvPr id="1" name=""/>
        <p:cNvGrpSpPr/>
        <p:nvPr/>
      </p:nvGrpSpPr>
      <p:grpSpPr>
        <a:xfrm xmlns:a="http://schemas.openxmlformats.org/drawingml/2006/main"/>
      </p:grpSpPr>
      <p:pic>
        <p:nvPicPr>
          <p:cNvPr id="25" name="!!orb"/>
          <p:cNvPicPr>
            <a:picLocks xmlns:a="http://schemas.openxmlformats.org/drawingml/2006/main" noChangeAspect="1"/>
          </p:cNvPicPr>
          <p:nvPr/>
        </p:nvPicPr>
        <p:blipFill>
          <a:blip xmlns:r="http://schemas.openxmlformats.org/officeDocument/2006/relationships" xmlns:a="http://schemas.openxmlformats.org/drawingml/2006/main" r:embed="Re572edf7688d4d49"/>
          <a:stretch xmlns:a="http://schemas.openxmlformats.org/drawingml/2006/main">
            <a:fillRect l="0" t="0" r="0" b="0"/>
          </a:stretch>
        </p:blipFill>
        <p:spPr>
          <a:xfrm xmlns:a="http://schemas.openxmlformats.org/drawingml/2006/main">
            <a:off x="8229600" y="-1463040"/>
            <a:ext cx="5486400" cy="54864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5B09CE31-374B-4134-B6BE-9C55FDE818F3}"/>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952BAAEC-1A6B-4788-8147-5F1D328BA908}"/>
              </a:ext>
            </a:extLst>
          </p:cNvPr>
          <p:cNvSpPr>
            <a:spLocks xmlns:a="http://schemas.openxmlformats.org/drawingml/2006/main" noGrp="1"/>
          </p:cNvSpPr>
          <p:nvPr/>
        </p:nvSpPr>
        <p:spPr>
          <a:xfrm xmlns:a="http://schemas.openxmlformats.org/drawingml/2006/main">
            <a:off x="822960" y="6446520"/>
            <a:ext cx="3593014"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32119C24-D1AE-453C-BBCD-507D06EDE9B0}"/>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DC58CD72-532F-4D68-9294-42B257FCD549}"/>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CONWAY'S LAW / THREE LANES</a:t>
            </a:r>
            <a:endParaRPr sz="900"/>
          </a:p>
        </p:txBody>
      </p:sp>
      <p:sp>
        <p:nvSpPr>
          <p:cNvPr id="7" name="pageno">
            <a:extLst xmlns:a="http://schemas.openxmlformats.org/drawingml/2006/main">
              <a:ext uri="{FF2B5EF4-FFF2-40B4-BE49-F238E27FC236}">
                <a16:creationId xmlns:a16="http://schemas.microsoft.com/office/drawing/2014/main" id="{8B7A002C-F101-404C-9BFD-5689555C30F7}"/>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07 / 20</a:t>
            </a:r>
            <a:endParaRPr sz="900"/>
          </a:p>
        </p:txBody>
      </p:sp>
      <p:sp>
        <p:nvSpPr>
          <p:cNvPr id="8" name="Text 5">
            <a:extLst xmlns:a="http://schemas.openxmlformats.org/drawingml/2006/main">
              <a:ext uri="{FF2B5EF4-FFF2-40B4-BE49-F238E27FC236}">
                <a16:creationId xmlns:a16="http://schemas.microsoft.com/office/drawing/2014/main" id="{828A4E2E-953F-4473-A7D5-E7D2C542001F}"/>
              </a:ext>
            </a:extLst>
          </p:cNvPr>
          <p:cNvSpPr>
            <a:spLocks xmlns:a="http://schemas.openxmlformats.org/drawingml/2006/main" noGrp="1"/>
          </p:cNvSpPr>
          <p:nvPr/>
        </p:nvSpPr>
        <p:spPr>
          <a:xfrm xmlns:a="http://schemas.openxmlformats.org/drawingml/2006/main">
            <a:off x="822960" y="1115568"/>
            <a:ext cx="77724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Team boundaries shaped system boundaries</a:t>
            </a:r>
            <a:endParaRPr sz="2700"/>
          </a:p>
        </p:txBody>
      </p:sp>
      <p:sp>
        <p:nvSpPr>
          <p:cNvPr id="9" name="!!card1">
            <a:extLst xmlns:a="http://schemas.openxmlformats.org/drawingml/2006/main">
              <a:ext uri="{FF2B5EF4-FFF2-40B4-BE49-F238E27FC236}">
                <a16:creationId xmlns:a16="http://schemas.microsoft.com/office/drawing/2014/main" id="{3B15E706-7DD6-4716-8A50-CD7C083D002F}"/>
              </a:ext>
            </a:extLst>
          </p:cNvPr>
          <p:cNvSpPr>
            <a:spLocks xmlns:a="http://schemas.openxmlformats.org/drawingml/2006/main" noGrp="1"/>
          </p:cNvSpPr>
          <p:nvPr/>
        </p:nvSpPr>
        <p:spPr>
          <a:xfrm xmlns:a="http://schemas.openxmlformats.org/drawingml/2006/main">
            <a:off x="822960" y="2304288"/>
            <a:ext cx="3200400" cy="3310128"/>
          </a:xfrm>
          <a:prstGeom xmlns:a="http://schemas.openxmlformats.org/drawingml/2006/main" prst="roundRect">
            <a:avLst>
              <a:gd name="adj" fmla="val 3429"/>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0" name="Shape 7">
            <a:extLst xmlns:a="http://schemas.openxmlformats.org/drawingml/2006/main">
              <a:ext uri="{FF2B5EF4-FFF2-40B4-BE49-F238E27FC236}">
                <a16:creationId xmlns:a16="http://schemas.microsoft.com/office/drawing/2014/main" id="{CAC1A13A-3F15-45BE-B2B9-B829E04CA706}"/>
              </a:ext>
            </a:extLst>
          </p:cNvPr>
          <p:cNvSpPr>
            <a:spLocks xmlns:a="http://schemas.openxmlformats.org/drawingml/2006/main" noGrp="1"/>
          </p:cNvSpPr>
          <p:nvPr/>
        </p:nvSpPr>
        <p:spPr>
          <a:xfrm xmlns:a="http://schemas.openxmlformats.org/drawingml/2006/main">
            <a:off x="1207008" y="2688336"/>
            <a:ext cx="585216" cy="585216"/>
          </a:xfrm>
          <a:prstGeom xmlns:a="http://schemas.openxmlformats.org/drawingml/2006/main" prst="ellipse">
            <a:avLst/>
          </a:prstGeom>
          <a:solidFill xmlns:a="http://schemas.openxmlformats.org/drawingml/2006/main">
            <a:srgbClr val="FF6B35"/>
          </a:solidFill>
          <a:ln xmlns:a="http://schemas.openxmlformats.org/drawingml/2006/main" w="12700">
            <a:solidFill>
              <a:srgbClr val="FF6B35"/>
            </a:solidFill>
            <a:prstDash val="solid"/>
          </a:ln>
        </p:spPr>
      </p:sp>
      <p:sp>
        <p:nvSpPr>
          <p:cNvPr id="11" name="Text 8">
            <a:extLst xmlns:a="http://schemas.openxmlformats.org/drawingml/2006/main">
              <a:ext uri="{FF2B5EF4-FFF2-40B4-BE49-F238E27FC236}">
                <a16:creationId xmlns:a16="http://schemas.microsoft.com/office/drawing/2014/main" id="{AF5206E4-5CA8-458E-943D-F8E67D0207D5}"/>
              </a:ext>
            </a:extLst>
          </p:cNvPr>
          <p:cNvSpPr>
            <a:spLocks xmlns:a="http://schemas.openxmlformats.org/drawingml/2006/main" noGrp="1"/>
          </p:cNvSpPr>
          <p:nvPr/>
        </p:nvSpPr>
        <p:spPr>
          <a:xfrm xmlns:a="http://schemas.openxmlformats.org/drawingml/2006/main">
            <a:off x="1207008" y="2688336"/>
            <a:ext cx="58521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0D12"/>
                </a:solidFill>
                <a:latin typeface="Arial"/>
                <a:ea typeface="Arial"/>
                <a:cs typeface="Arial"/>
              </a:rPr>
              <a:t>01</a:t>
            </a:r>
            <a:endParaRPr sz="1500"/>
          </a:p>
        </p:txBody>
      </p:sp>
      <p:sp>
        <p:nvSpPr>
          <p:cNvPr id="12" name="Text 9">
            <a:extLst xmlns:a="http://schemas.openxmlformats.org/drawingml/2006/main">
              <a:ext uri="{FF2B5EF4-FFF2-40B4-BE49-F238E27FC236}">
                <a16:creationId xmlns:a16="http://schemas.microsoft.com/office/drawing/2014/main" id="{AE09CD8F-53F1-46A6-89FF-1401A923CC56}"/>
              </a:ext>
            </a:extLst>
          </p:cNvPr>
          <p:cNvSpPr>
            <a:spLocks xmlns:a="http://schemas.openxmlformats.org/drawingml/2006/main" noGrp="1"/>
          </p:cNvSpPr>
          <p:nvPr/>
        </p:nvSpPr>
        <p:spPr>
          <a:xfrm xmlns:a="http://schemas.openxmlformats.org/drawingml/2006/main">
            <a:off x="1207008" y="3547872"/>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Bhanu Gupta</a:t>
            </a:r>
            <a:endParaRPr sz="1700"/>
          </a:p>
        </p:txBody>
      </p:sp>
      <p:sp>
        <p:nvSpPr>
          <p:cNvPr id="13" name="Text 10">
            <a:extLst xmlns:a="http://schemas.openxmlformats.org/drawingml/2006/main">
              <a:ext uri="{FF2B5EF4-FFF2-40B4-BE49-F238E27FC236}">
                <a16:creationId xmlns:a16="http://schemas.microsoft.com/office/drawing/2014/main" id="{A77AA520-B447-407F-B5DF-FC6DA793F315}"/>
              </a:ext>
            </a:extLst>
          </p:cNvPr>
          <p:cNvSpPr>
            <a:spLocks xmlns:a="http://schemas.openxmlformats.org/drawingml/2006/main" noGrp="1"/>
          </p:cNvSpPr>
          <p:nvPr/>
        </p:nvSpPr>
        <p:spPr>
          <a:xfrm xmlns:a="http://schemas.openxmlformats.org/drawingml/2006/main">
            <a:off x="1207008" y="3931920"/>
            <a:ext cx="243230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50">
                <a:solidFill>
                  <a:srgbClr val="8A94A8"/>
                </a:solidFill>
                <a:latin typeface="Arial"/>
                <a:ea typeface="Arial"/>
                <a:cs typeface="Arial"/>
              </a:rPr>
              <a:t>Strong ×6. Shared platform, security, review and integration boundary.</a:t>
            </a:r>
            <a:endParaRPr sz="1250"/>
          </a:p>
        </p:txBody>
      </p:sp>
      <p:sp>
        <p:nvSpPr>
          <p:cNvPr id="14" name="!!card2">
            <a:extLst xmlns:a="http://schemas.openxmlformats.org/drawingml/2006/main">
              <a:ext uri="{FF2B5EF4-FFF2-40B4-BE49-F238E27FC236}">
                <a16:creationId xmlns:a16="http://schemas.microsoft.com/office/drawing/2014/main" id="{C33E49A0-9786-41CF-B3DB-8D2D5FDF5F3C}"/>
              </a:ext>
            </a:extLst>
          </p:cNvPr>
          <p:cNvSpPr>
            <a:spLocks xmlns:a="http://schemas.openxmlformats.org/drawingml/2006/main" noGrp="1"/>
          </p:cNvSpPr>
          <p:nvPr/>
        </p:nvSpPr>
        <p:spPr>
          <a:xfrm xmlns:a="http://schemas.openxmlformats.org/drawingml/2006/main">
            <a:off x="4494276" y="2304288"/>
            <a:ext cx="3200400" cy="3310128"/>
          </a:xfrm>
          <a:prstGeom xmlns:a="http://schemas.openxmlformats.org/drawingml/2006/main" prst="roundRect">
            <a:avLst>
              <a:gd name="adj" fmla="val 3429"/>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5" name="Shape 12">
            <a:extLst xmlns:a="http://schemas.openxmlformats.org/drawingml/2006/main">
              <a:ext uri="{FF2B5EF4-FFF2-40B4-BE49-F238E27FC236}">
                <a16:creationId xmlns:a16="http://schemas.microsoft.com/office/drawing/2014/main" id="{E3B3F542-0684-4491-8454-1CF4F5224847}"/>
              </a:ext>
            </a:extLst>
          </p:cNvPr>
          <p:cNvSpPr>
            <a:spLocks xmlns:a="http://schemas.openxmlformats.org/drawingml/2006/main" noGrp="1"/>
          </p:cNvSpPr>
          <p:nvPr/>
        </p:nvSpPr>
        <p:spPr>
          <a:xfrm xmlns:a="http://schemas.openxmlformats.org/drawingml/2006/main">
            <a:off x="4878324" y="2688336"/>
            <a:ext cx="585216" cy="585216"/>
          </a:xfrm>
          <a:prstGeom xmlns:a="http://schemas.openxmlformats.org/drawingml/2006/main" prst="ellipse">
            <a:avLst/>
          </a:prstGeom>
          <a:solidFill xmlns:a="http://schemas.openxmlformats.org/drawingml/2006/main">
            <a:srgbClr val="3DDC97"/>
          </a:solidFill>
          <a:ln xmlns:a="http://schemas.openxmlformats.org/drawingml/2006/main" w="12700">
            <a:solidFill>
              <a:srgbClr val="3DDC97"/>
            </a:solidFill>
            <a:prstDash val="solid"/>
          </a:ln>
        </p:spPr>
      </p:sp>
      <p:sp>
        <p:nvSpPr>
          <p:cNvPr id="16" name="Text 13">
            <a:extLst xmlns:a="http://schemas.openxmlformats.org/drawingml/2006/main">
              <a:ext uri="{FF2B5EF4-FFF2-40B4-BE49-F238E27FC236}">
                <a16:creationId xmlns:a16="http://schemas.microsoft.com/office/drawing/2014/main" id="{6CB8B92B-8D09-46A9-B393-E43020696940}"/>
              </a:ext>
            </a:extLst>
          </p:cNvPr>
          <p:cNvSpPr>
            <a:spLocks xmlns:a="http://schemas.openxmlformats.org/drawingml/2006/main" noGrp="1"/>
          </p:cNvSpPr>
          <p:nvPr/>
        </p:nvSpPr>
        <p:spPr>
          <a:xfrm xmlns:a="http://schemas.openxmlformats.org/drawingml/2006/main">
            <a:off x="4878324" y="2688336"/>
            <a:ext cx="58521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0D12"/>
                </a:solidFill>
                <a:latin typeface="Arial"/>
                <a:ea typeface="Arial"/>
                <a:cs typeface="Arial"/>
              </a:rPr>
              <a:t>02</a:t>
            </a:r>
            <a:endParaRPr sz="1500"/>
          </a:p>
        </p:txBody>
      </p:sp>
      <p:sp>
        <p:nvSpPr>
          <p:cNvPr id="17" name="Text 14">
            <a:extLst xmlns:a="http://schemas.openxmlformats.org/drawingml/2006/main">
              <a:ext uri="{FF2B5EF4-FFF2-40B4-BE49-F238E27FC236}">
                <a16:creationId xmlns:a16="http://schemas.microsoft.com/office/drawing/2014/main" id="{1A63A006-E412-4783-81DC-207583A0CC00}"/>
              </a:ext>
            </a:extLst>
          </p:cNvPr>
          <p:cNvSpPr>
            <a:spLocks xmlns:a="http://schemas.openxmlformats.org/drawingml/2006/main" noGrp="1"/>
          </p:cNvSpPr>
          <p:nvPr/>
        </p:nvSpPr>
        <p:spPr>
          <a:xfrm xmlns:a="http://schemas.openxmlformats.org/drawingml/2006/main">
            <a:off x="4878324" y="3547872"/>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Roshan Aryal</a:t>
            </a:r>
            <a:endParaRPr sz="1700"/>
          </a:p>
        </p:txBody>
      </p:sp>
      <p:sp>
        <p:nvSpPr>
          <p:cNvPr id="18" name="Text 15">
            <a:extLst xmlns:a="http://schemas.openxmlformats.org/drawingml/2006/main">
              <a:ext uri="{FF2B5EF4-FFF2-40B4-BE49-F238E27FC236}">
                <a16:creationId xmlns:a16="http://schemas.microsoft.com/office/drawing/2014/main" id="{E81D843F-B602-4814-B85C-B377DBCEB7D1}"/>
              </a:ext>
            </a:extLst>
          </p:cNvPr>
          <p:cNvSpPr>
            <a:spLocks xmlns:a="http://schemas.openxmlformats.org/drawingml/2006/main" noGrp="1"/>
          </p:cNvSpPr>
          <p:nvPr/>
        </p:nvSpPr>
        <p:spPr>
          <a:xfrm xmlns:a="http://schemas.openxmlformats.org/drawingml/2006/main">
            <a:off x="4878324" y="3931920"/>
            <a:ext cx="243230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50">
                <a:solidFill>
                  <a:srgbClr val="8A94A8"/>
                </a:solidFill>
                <a:latin typeface="Arial"/>
                <a:ea typeface="Arial"/>
                <a:cs typeface="Arial"/>
              </a:rPr>
              <a:t>Intelligence, sources, FTA, collectors and service boundary.</a:t>
            </a:r>
            <a:endParaRPr sz="1250"/>
          </a:p>
        </p:txBody>
      </p:sp>
      <p:sp>
        <p:nvSpPr>
          <p:cNvPr id="19" name="!!card3">
            <a:extLst xmlns:a="http://schemas.openxmlformats.org/drawingml/2006/main">
              <a:ext uri="{FF2B5EF4-FFF2-40B4-BE49-F238E27FC236}">
                <a16:creationId xmlns:a16="http://schemas.microsoft.com/office/drawing/2014/main" id="{6C69DCC5-D875-4128-914A-FA8DBF4106C0}"/>
              </a:ext>
            </a:extLst>
          </p:cNvPr>
          <p:cNvSpPr>
            <a:spLocks xmlns:a="http://schemas.openxmlformats.org/drawingml/2006/main" noGrp="1"/>
          </p:cNvSpPr>
          <p:nvPr/>
        </p:nvSpPr>
        <p:spPr>
          <a:xfrm xmlns:a="http://schemas.openxmlformats.org/drawingml/2006/main">
            <a:off x="8165592" y="2304288"/>
            <a:ext cx="3200400" cy="3310128"/>
          </a:xfrm>
          <a:prstGeom xmlns:a="http://schemas.openxmlformats.org/drawingml/2006/main" prst="roundRect">
            <a:avLst>
              <a:gd name="adj" fmla="val 3429"/>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20" name="Shape 17">
            <a:extLst xmlns:a="http://schemas.openxmlformats.org/drawingml/2006/main">
              <a:ext uri="{FF2B5EF4-FFF2-40B4-BE49-F238E27FC236}">
                <a16:creationId xmlns:a16="http://schemas.microsoft.com/office/drawing/2014/main" id="{A77D36CB-90EA-48A6-8D97-4442F7764810}"/>
              </a:ext>
            </a:extLst>
          </p:cNvPr>
          <p:cNvSpPr>
            <a:spLocks xmlns:a="http://schemas.openxmlformats.org/drawingml/2006/main" noGrp="1"/>
          </p:cNvSpPr>
          <p:nvPr/>
        </p:nvSpPr>
        <p:spPr>
          <a:xfrm xmlns:a="http://schemas.openxmlformats.org/drawingml/2006/main">
            <a:off x="8549640" y="2688336"/>
            <a:ext cx="585216" cy="585216"/>
          </a:xfrm>
          <a:prstGeom xmlns:a="http://schemas.openxmlformats.org/drawingml/2006/main" prst="ellipse">
            <a:avLst/>
          </a:prstGeom>
          <a:solidFill xmlns:a="http://schemas.openxmlformats.org/drawingml/2006/main">
            <a:srgbClr val="5C84DC"/>
          </a:solidFill>
          <a:ln xmlns:a="http://schemas.openxmlformats.org/drawingml/2006/main" w="12700">
            <a:solidFill>
              <a:srgbClr val="5C84DC"/>
            </a:solidFill>
            <a:prstDash val="solid"/>
          </a:ln>
        </p:spPr>
      </p:sp>
      <p:sp>
        <p:nvSpPr>
          <p:cNvPr id="21" name="Text 18">
            <a:extLst xmlns:a="http://schemas.openxmlformats.org/drawingml/2006/main">
              <a:ext uri="{FF2B5EF4-FFF2-40B4-BE49-F238E27FC236}">
                <a16:creationId xmlns:a16="http://schemas.microsoft.com/office/drawing/2014/main" id="{7122B61D-34B4-4B7C-976B-91D3F0024C3D}"/>
              </a:ext>
            </a:extLst>
          </p:cNvPr>
          <p:cNvSpPr>
            <a:spLocks xmlns:a="http://schemas.openxmlformats.org/drawingml/2006/main" noGrp="1"/>
          </p:cNvSpPr>
          <p:nvPr/>
        </p:nvSpPr>
        <p:spPr>
          <a:xfrm xmlns:a="http://schemas.openxmlformats.org/drawingml/2006/main">
            <a:off x="8549640" y="2688336"/>
            <a:ext cx="585216" cy="58521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500" b="1">
                <a:solidFill>
                  <a:srgbClr val="0B0D12"/>
                </a:solidFill>
                <a:latin typeface="Arial"/>
                <a:ea typeface="Arial"/>
                <a:cs typeface="Arial"/>
              </a:rPr>
              <a:t>03</a:t>
            </a:r>
            <a:endParaRPr sz="1500"/>
          </a:p>
        </p:txBody>
      </p:sp>
      <p:sp>
        <p:nvSpPr>
          <p:cNvPr id="22" name="Text 19">
            <a:extLst xmlns:a="http://schemas.openxmlformats.org/drawingml/2006/main">
              <a:ext uri="{FF2B5EF4-FFF2-40B4-BE49-F238E27FC236}">
                <a16:creationId xmlns:a16="http://schemas.microsoft.com/office/drawing/2014/main" id="{A12A3729-D6EC-4807-9CF5-A28200409DA2}"/>
              </a:ext>
            </a:extLst>
          </p:cNvPr>
          <p:cNvSpPr>
            <a:spLocks xmlns:a="http://schemas.openxmlformats.org/drawingml/2006/main" noGrp="1"/>
          </p:cNvSpPr>
          <p:nvPr/>
        </p:nvSpPr>
        <p:spPr>
          <a:xfrm xmlns:a="http://schemas.openxmlformats.org/drawingml/2006/main">
            <a:off x="8549640" y="3547872"/>
            <a:ext cx="2432304"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Paras</a:t>
            </a:r>
            <a:endParaRPr sz="1700"/>
          </a:p>
        </p:txBody>
      </p:sp>
      <p:sp>
        <p:nvSpPr>
          <p:cNvPr id="23" name="Text 20">
            <a:extLst xmlns:a="http://schemas.openxmlformats.org/drawingml/2006/main">
              <a:ext uri="{FF2B5EF4-FFF2-40B4-BE49-F238E27FC236}">
                <a16:creationId xmlns:a16="http://schemas.microsoft.com/office/drawing/2014/main" id="{7223E10E-F16F-47EA-81DB-A5499A55456F}"/>
              </a:ext>
            </a:extLst>
          </p:cNvPr>
          <p:cNvSpPr>
            <a:spLocks xmlns:a="http://schemas.openxmlformats.org/drawingml/2006/main" noGrp="1"/>
          </p:cNvSpPr>
          <p:nvPr/>
        </p:nvSpPr>
        <p:spPr>
          <a:xfrm xmlns:a="http://schemas.openxmlformats.org/drawingml/2006/main">
            <a:off x="8549640" y="3931920"/>
            <a:ext cx="2432304"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50">
                <a:solidFill>
                  <a:srgbClr val="8A94A8"/>
                </a:solidFill>
                <a:latin typeface="Arial"/>
                <a:ea typeface="Arial"/>
                <a:cs typeface="Arial"/>
              </a:rPr>
              <a:t>Product/UX, review interfaces, member surfaces and public-site boundary.</a:t>
            </a:r>
            <a:endParaRPr sz="1250"/>
          </a:p>
        </p:txBody>
      </p:sp>
    </p:spTree>
    <p:extLst>
      <p:ext uri="{BB962C8B-B14F-4D97-AF65-F5344CB8AC3E}">
        <p14:creationId xmlns:p14="http://schemas.microsoft.com/office/powerpoint/2010/main" val="1972371854"/>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300">
        <p159:morph option="byObject"/>
      </p:transition>
    </mc:Choice>
    <mc:Fallback>
      <p:transition spd="slow" advClick="1" advTm="5000">
        <p:fade/>
      </p:transition>
    </mc:Fallback>
  </mc:AlternateContent>
</p:sld>
</file>

<file path=ppt/slides/slide8.xml><?xml version="1.0" encoding="utf-8"?>
<p:sld xmlns:p="http://schemas.openxmlformats.org/presentationml/2006/main">
  <p:cSld>
    <p:bg>
      <p:bgPr>
        <a:blipFill xmlns:a="http://schemas.openxmlformats.org/drawingml/2006/main" rotWithShape="1">
          <a:blip xmlns:r="http://schemas.openxmlformats.org/officeDocument/2006/relationships" r:embed="R9ee32c0dd5a94efa">
            <a:lum/>
          </a:blip>
          <a:srcRect l="0" t="0" r="0" b="0"/>
          <a:stretch>
            <a:fillRect l="0" t="0" r="0" b="0"/>
          </a:stretch>
        </a:blipFill>
      </p:bgPr>
    </p:bg>
    <p:spTree>
      <p:nvGrpSpPr>
        <p:cNvPr id="1" name=""/>
        <p:cNvGrpSpPr/>
        <p:nvPr/>
      </p:nvGrpSpPr>
      <p:grpSpPr>
        <a:xfrm xmlns:a="http://schemas.openxmlformats.org/drawingml/2006/main"/>
      </p:grpSpPr>
      <p:pic>
        <p:nvPicPr>
          <p:cNvPr id="21" name="!!orb"/>
          <p:cNvPicPr>
            <a:picLocks xmlns:a="http://schemas.openxmlformats.org/drawingml/2006/main" noChangeAspect="1"/>
          </p:cNvPicPr>
          <p:nvPr/>
        </p:nvPicPr>
        <p:blipFill>
          <a:blip xmlns:r="http://schemas.openxmlformats.org/officeDocument/2006/relationships" xmlns:a="http://schemas.openxmlformats.org/drawingml/2006/main" r:embed="Rd7c8aa92304643dd"/>
          <a:stretch xmlns:a="http://schemas.openxmlformats.org/drawingml/2006/main">
            <a:fillRect l="0" t="0" r="0" b="0"/>
          </a:stretch>
        </p:blipFill>
        <p:spPr>
          <a:xfrm xmlns:a="http://schemas.openxmlformats.org/drawingml/2006/main">
            <a:off x="-2194560" y="822960"/>
            <a:ext cx="6400800" cy="64008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4EA0A2E9-88EE-40CD-8061-E17A4DEDD72A}"/>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78FED6DF-3A6E-419B-A9E8-088E2E4C2CBB}"/>
              </a:ext>
            </a:extLst>
          </p:cNvPr>
          <p:cNvSpPr>
            <a:spLocks xmlns:a="http://schemas.openxmlformats.org/drawingml/2006/main" noGrp="1"/>
          </p:cNvSpPr>
          <p:nvPr/>
        </p:nvSpPr>
        <p:spPr>
          <a:xfrm xmlns:a="http://schemas.openxmlformats.org/drawingml/2006/main">
            <a:off x="822960" y="6446520"/>
            <a:ext cx="4127842"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0C793664-46F3-491D-8FD9-113E28037302}"/>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CA087C99-B8F3-4548-9466-B36056628677}"/>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MERGE QUALITY</a:t>
            </a:r>
            <a:endParaRPr sz="900"/>
          </a:p>
        </p:txBody>
      </p:sp>
      <p:sp>
        <p:nvSpPr>
          <p:cNvPr id="7" name="pageno">
            <a:extLst xmlns:a="http://schemas.openxmlformats.org/drawingml/2006/main">
              <a:ext uri="{FF2B5EF4-FFF2-40B4-BE49-F238E27FC236}">
                <a16:creationId xmlns:a16="http://schemas.microsoft.com/office/drawing/2014/main" id="{F28128BF-88C3-4CDD-B370-5DF93EA63FF8}"/>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08 / 20</a:t>
            </a:r>
            <a:endParaRPr sz="900"/>
          </a:p>
        </p:txBody>
      </p:sp>
      <p:sp>
        <p:nvSpPr>
          <p:cNvPr id="8" name="Text 5">
            <a:extLst xmlns:a="http://schemas.openxmlformats.org/drawingml/2006/main">
              <a:ext uri="{FF2B5EF4-FFF2-40B4-BE49-F238E27FC236}">
                <a16:creationId xmlns:a16="http://schemas.microsoft.com/office/drawing/2014/main" id="{C65F0DE1-5316-4DD9-A435-791710492BBB}"/>
              </a:ext>
            </a:extLst>
          </p:cNvPr>
          <p:cNvSpPr>
            <a:spLocks xmlns:a="http://schemas.openxmlformats.org/drawingml/2006/main" noGrp="1"/>
          </p:cNvSpPr>
          <p:nvPr/>
        </p:nvSpPr>
        <p:spPr>
          <a:xfrm xmlns:a="http://schemas.openxmlformats.org/drawingml/2006/main">
            <a:off x="822960" y="1417320"/>
            <a:ext cx="6400800" cy="256032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buNone/>
            </a:pPr>
            <a:r>
              <a:rPr sz="14000" b="1" spc="-500">
                <a:solidFill>
                  <a:srgbClr val="FF6B35"/>
                </a:solidFill>
                <a:latin typeface="Arial"/>
                <a:ea typeface="Arial"/>
                <a:cs typeface="Arial"/>
              </a:rPr>
              <a:t>95.8%</a:t>
            </a:r>
            <a:endParaRPr sz="14000"/>
          </a:p>
        </p:txBody>
      </p:sp>
      <p:sp>
        <p:nvSpPr>
          <p:cNvPr id="9" name="Text 6">
            <a:extLst xmlns:a="http://schemas.openxmlformats.org/drawingml/2006/main">
              <a:ext uri="{FF2B5EF4-FFF2-40B4-BE49-F238E27FC236}">
                <a16:creationId xmlns:a16="http://schemas.microsoft.com/office/drawing/2014/main" id="{653BD460-D4BA-4EC9-A648-16CE86EB27CE}"/>
              </a:ext>
            </a:extLst>
          </p:cNvPr>
          <p:cNvSpPr>
            <a:spLocks xmlns:a="http://schemas.openxmlformats.org/drawingml/2006/main" noGrp="1"/>
          </p:cNvSpPr>
          <p:nvPr/>
        </p:nvSpPr>
        <p:spPr>
          <a:xfrm xmlns:a="http://schemas.openxmlformats.org/drawingml/2006/main">
            <a:off x="822960" y="4114800"/>
            <a:ext cx="6035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EEF2F8"/>
                </a:solidFill>
                <a:latin typeface="Arial"/>
                <a:ea typeface="Arial"/>
                <a:cs typeface="Arial"/>
              </a:rPr>
              <a:t>of student-authored PRs merged</a:t>
            </a:r>
            <a:endParaRPr sz="2000"/>
          </a:p>
        </p:txBody>
      </p:sp>
      <p:sp>
        <p:nvSpPr>
          <p:cNvPr id="10" name="Text 7">
            <a:extLst xmlns:a="http://schemas.openxmlformats.org/drawingml/2006/main">
              <a:ext uri="{FF2B5EF4-FFF2-40B4-BE49-F238E27FC236}">
                <a16:creationId xmlns:a16="http://schemas.microsoft.com/office/drawing/2014/main" id="{1AF05663-2740-466C-B4AC-1D21E29960A1}"/>
              </a:ext>
            </a:extLst>
          </p:cNvPr>
          <p:cNvSpPr>
            <a:spLocks xmlns:a="http://schemas.openxmlformats.org/drawingml/2006/main" noGrp="1"/>
          </p:cNvSpPr>
          <p:nvPr/>
        </p:nvSpPr>
        <p:spPr>
          <a:xfrm xmlns:a="http://schemas.openxmlformats.org/drawingml/2006/main">
            <a:off x="822960" y="4709160"/>
            <a:ext cx="5760720"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1950"/>
              </a:lnSpc>
              <a:buNone/>
            </a:pPr>
            <a:r>
              <a:rPr sz="1300">
                <a:solidFill>
                  <a:srgbClr val="8A94A8"/>
                </a:solidFill>
                <a:latin typeface="Arial"/>
                <a:ea typeface="Arial"/>
                <a:cs typeface="Arial"/>
              </a:rPr>
              <a:t>184 of 192 across Bhanu, Roshan and Paras · live organisation history refreshed 20 August 2026.</a:t>
            </a:r>
            <a:endParaRPr sz="1300"/>
          </a:p>
        </p:txBody>
      </p:sp>
      <p:sp>
        <p:nvSpPr>
          <p:cNvPr id="11" name="Text 8">
            <a:extLst xmlns:a="http://schemas.openxmlformats.org/drawingml/2006/main">
              <a:ext uri="{FF2B5EF4-FFF2-40B4-BE49-F238E27FC236}">
                <a16:creationId xmlns:a16="http://schemas.microsoft.com/office/drawing/2014/main" id="{06E8EA7C-1440-4DB3-BCE5-F40EA7638D67}"/>
              </a:ext>
            </a:extLst>
          </p:cNvPr>
          <p:cNvSpPr>
            <a:spLocks xmlns:a="http://schemas.openxmlformats.org/drawingml/2006/main" noGrp="1"/>
          </p:cNvSpPr>
          <p:nvPr/>
        </p:nvSpPr>
        <p:spPr>
          <a:xfrm xmlns:a="http://schemas.openxmlformats.org/drawingml/2006/main">
            <a:off x="7680960" y="1819656"/>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8A94A8"/>
                </a:solidFill>
                <a:latin typeface="Arial"/>
                <a:ea typeface="Arial"/>
                <a:cs typeface="Arial"/>
              </a:rPr>
              <a:t>BHANU / 135 PRs</a:t>
            </a:r>
            <a:endParaRPr sz="1000"/>
          </a:p>
        </p:txBody>
      </p:sp>
      <p:sp>
        <p:nvSpPr>
          <p:cNvPr id="12" name="Shape 9">
            <a:extLst xmlns:a="http://schemas.openxmlformats.org/drawingml/2006/main">
              <a:ext uri="{FF2B5EF4-FFF2-40B4-BE49-F238E27FC236}">
                <a16:creationId xmlns:a16="http://schemas.microsoft.com/office/drawing/2014/main" id="{5B79147C-6CA3-490B-A18F-8A287A1BF134}"/>
              </a:ext>
            </a:extLst>
          </p:cNvPr>
          <p:cNvSpPr>
            <a:spLocks xmlns:a="http://schemas.openxmlformats.org/drawingml/2006/main" noGrp="1"/>
          </p:cNvSpPr>
          <p:nvPr/>
        </p:nvSpPr>
        <p:spPr>
          <a:xfrm xmlns:a="http://schemas.openxmlformats.org/drawingml/2006/main">
            <a:off x="7680960" y="2148840"/>
            <a:ext cx="3246120" cy="310896"/>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13" name="Text 10">
            <a:extLst xmlns:a="http://schemas.openxmlformats.org/drawingml/2006/main">
              <a:ext uri="{FF2B5EF4-FFF2-40B4-BE49-F238E27FC236}">
                <a16:creationId xmlns:a16="http://schemas.microsoft.com/office/drawing/2014/main" id="{27968FB2-14F0-4539-91E4-580534B07C1A}"/>
              </a:ext>
            </a:extLst>
          </p:cNvPr>
          <p:cNvSpPr>
            <a:spLocks xmlns:a="http://schemas.openxmlformats.org/drawingml/2006/main" noGrp="1"/>
          </p:cNvSpPr>
          <p:nvPr/>
        </p:nvSpPr>
        <p:spPr>
          <a:xfrm xmlns:a="http://schemas.openxmlformats.org/drawingml/2006/main">
            <a:off x="11073384" y="2148840"/>
            <a:ext cx="822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99.3%</a:t>
            </a:r>
            <a:endParaRPr sz="1200"/>
          </a:p>
        </p:txBody>
      </p:sp>
      <p:sp>
        <p:nvSpPr>
          <p:cNvPr id="14" name="Text 11">
            <a:extLst xmlns:a="http://schemas.openxmlformats.org/drawingml/2006/main">
              <a:ext uri="{FF2B5EF4-FFF2-40B4-BE49-F238E27FC236}">
                <a16:creationId xmlns:a16="http://schemas.microsoft.com/office/drawing/2014/main" id="{939480A0-42BD-4A2C-B591-B487D8CD9014}"/>
              </a:ext>
            </a:extLst>
          </p:cNvPr>
          <p:cNvSpPr>
            <a:spLocks xmlns:a="http://schemas.openxmlformats.org/drawingml/2006/main" noGrp="1"/>
          </p:cNvSpPr>
          <p:nvPr/>
        </p:nvSpPr>
        <p:spPr>
          <a:xfrm xmlns:a="http://schemas.openxmlformats.org/drawingml/2006/main">
            <a:off x="7680960" y="2898648"/>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8A94A8"/>
                </a:solidFill>
                <a:latin typeface="Arial"/>
                <a:ea typeface="Arial"/>
                <a:cs typeface="Arial"/>
              </a:rPr>
              <a:t>ROSHAN / 35 PRs</a:t>
            </a:r>
            <a:endParaRPr sz="1000"/>
          </a:p>
        </p:txBody>
      </p:sp>
      <p:sp>
        <p:nvSpPr>
          <p:cNvPr id="15" name="Shape 12">
            <a:extLst xmlns:a="http://schemas.openxmlformats.org/drawingml/2006/main">
              <a:ext uri="{FF2B5EF4-FFF2-40B4-BE49-F238E27FC236}">
                <a16:creationId xmlns:a16="http://schemas.microsoft.com/office/drawing/2014/main" id="{BC795C8E-E418-4658-B68F-B2B81C827D38}"/>
              </a:ext>
            </a:extLst>
          </p:cNvPr>
          <p:cNvSpPr>
            <a:spLocks xmlns:a="http://schemas.openxmlformats.org/drawingml/2006/main" noGrp="1"/>
          </p:cNvSpPr>
          <p:nvPr/>
        </p:nvSpPr>
        <p:spPr>
          <a:xfrm xmlns:a="http://schemas.openxmlformats.org/drawingml/2006/main">
            <a:off x="7680960" y="3227832"/>
            <a:ext cx="2896553" cy="310896"/>
          </a:xfrm>
          <a:prstGeom xmlns:a="http://schemas.openxmlformats.org/drawingml/2006/main" prst="rect">
            <a:avLst/>
          </a:prstGeom>
          <a:solidFill xmlns:a="http://schemas.openxmlformats.org/drawingml/2006/main">
            <a:srgbClr val="35405A"/>
          </a:solidFill>
          <a:ln xmlns:a="http://schemas.openxmlformats.org/drawingml/2006/main" w="12700">
            <a:solidFill>
              <a:srgbClr val="35405A"/>
            </a:solidFill>
            <a:prstDash val="solid"/>
          </a:ln>
        </p:spPr>
      </p:sp>
      <p:sp>
        <p:nvSpPr>
          <p:cNvPr id="16" name="Text 13">
            <a:extLst xmlns:a="http://schemas.openxmlformats.org/drawingml/2006/main">
              <a:ext uri="{FF2B5EF4-FFF2-40B4-BE49-F238E27FC236}">
                <a16:creationId xmlns:a16="http://schemas.microsoft.com/office/drawing/2014/main" id="{DBD1217F-3641-44E7-A7CB-B8099BACD827}"/>
              </a:ext>
            </a:extLst>
          </p:cNvPr>
          <p:cNvSpPr>
            <a:spLocks xmlns:a="http://schemas.openxmlformats.org/drawingml/2006/main" noGrp="1"/>
          </p:cNvSpPr>
          <p:nvPr/>
        </p:nvSpPr>
        <p:spPr>
          <a:xfrm xmlns:a="http://schemas.openxmlformats.org/drawingml/2006/main">
            <a:off x="9930384" y="3227832"/>
            <a:ext cx="822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88.6%</a:t>
            </a:r>
            <a:endParaRPr sz="1200"/>
          </a:p>
        </p:txBody>
      </p:sp>
      <p:sp>
        <p:nvSpPr>
          <p:cNvPr id="17" name="Text 14">
            <a:extLst xmlns:a="http://schemas.openxmlformats.org/drawingml/2006/main">
              <a:ext uri="{FF2B5EF4-FFF2-40B4-BE49-F238E27FC236}">
                <a16:creationId xmlns:a16="http://schemas.microsoft.com/office/drawing/2014/main" id="{13E1A8ED-CC8D-409C-BDD2-B227C8AFBD76}"/>
              </a:ext>
            </a:extLst>
          </p:cNvPr>
          <p:cNvSpPr>
            <a:spLocks xmlns:a="http://schemas.openxmlformats.org/drawingml/2006/main" noGrp="1"/>
          </p:cNvSpPr>
          <p:nvPr/>
        </p:nvSpPr>
        <p:spPr>
          <a:xfrm xmlns:a="http://schemas.openxmlformats.org/drawingml/2006/main">
            <a:off x="7680960" y="3977640"/>
            <a:ext cx="237744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spc="200">
                <a:solidFill>
                  <a:srgbClr val="8A94A8"/>
                </a:solidFill>
                <a:latin typeface="Arial"/>
                <a:ea typeface="Arial"/>
                <a:cs typeface="Arial"/>
              </a:rPr>
              <a:t>PARAS / 22 PRs</a:t>
            </a:r>
            <a:endParaRPr sz="1000"/>
          </a:p>
        </p:txBody>
      </p:sp>
      <p:sp>
        <p:nvSpPr>
          <p:cNvPr id="18" name="Shape 15">
            <a:extLst xmlns:a="http://schemas.openxmlformats.org/drawingml/2006/main">
              <a:ext uri="{FF2B5EF4-FFF2-40B4-BE49-F238E27FC236}">
                <a16:creationId xmlns:a16="http://schemas.microsoft.com/office/drawing/2014/main" id="{65F4F26D-2CAC-4AC7-9678-7DF6DD2465C1}"/>
              </a:ext>
            </a:extLst>
          </p:cNvPr>
          <p:cNvSpPr>
            <a:spLocks xmlns:a="http://schemas.openxmlformats.org/drawingml/2006/main" noGrp="1"/>
          </p:cNvSpPr>
          <p:nvPr/>
        </p:nvSpPr>
        <p:spPr>
          <a:xfrm xmlns:a="http://schemas.openxmlformats.org/drawingml/2006/main">
            <a:off x="7680960" y="4306824"/>
            <a:ext cx="2823210" cy="310896"/>
          </a:xfrm>
          <a:prstGeom xmlns:a="http://schemas.openxmlformats.org/drawingml/2006/main" prst="rect">
            <a:avLst/>
          </a:prstGeom>
          <a:solidFill xmlns:a="http://schemas.openxmlformats.org/drawingml/2006/main">
            <a:srgbClr val="2A3348"/>
          </a:solidFill>
          <a:ln xmlns:a="http://schemas.openxmlformats.org/drawingml/2006/main" w="12700">
            <a:solidFill>
              <a:srgbClr val="2A3348"/>
            </a:solidFill>
            <a:prstDash val="solid"/>
          </a:ln>
        </p:spPr>
      </p:sp>
      <p:sp>
        <p:nvSpPr>
          <p:cNvPr id="19" name="Text 16">
            <a:extLst xmlns:a="http://schemas.openxmlformats.org/drawingml/2006/main">
              <a:ext uri="{FF2B5EF4-FFF2-40B4-BE49-F238E27FC236}">
                <a16:creationId xmlns:a16="http://schemas.microsoft.com/office/drawing/2014/main" id="{B71E9E27-EF54-4A7A-9F3B-69A1534660D0}"/>
              </a:ext>
            </a:extLst>
          </p:cNvPr>
          <p:cNvSpPr>
            <a:spLocks xmlns:a="http://schemas.openxmlformats.org/drawingml/2006/main" noGrp="1"/>
          </p:cNvSpPr>
          <p:nvPr/>
        </p:nvSpPr>
        <p:spPr>
          <a:xfrm xmlns:a="http://schemas.openxmlformats.org/drawingml/2006/main">
            <a:off x="9153144" y="4306824"/>
            <a:ext cx="8229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86.4%</a:t>
            </a:r>
            <a:endParaRPr sz="1200"/>
          </a:p>
        </p:txBody>
      </p:sp>
    </p:spTree>
    <p:extLst>
      <p:ext uri="{BB962C8B-B14F-4D97-AF65-F5344CB8AC3E}">
        <p14:creationId xmlns:p14="http://schemas.microsoft.com/office/powerpoint/2010/main" val="270596267"/>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500">
        <p159:morph option="byObject"/>
      </p:transition>
    </mc:Choice>
    <mc:Fallback>
      <p:transition spd="slow" advClick="1" advTm="5000">
        <p:fade/>
      </p:transition>
    </mc:Fallback>
  </mc:AlternateContent>
</p:sld>
</file>

<file path=ppt/slides/slide9.xml><?xml version="1.0" encoding="utf-8"?>
<p:sld xmlns:p="http://schemas.openxmlformats.org/presentationml/2006/main">
  <p:cSld>
    <p:bg>
      <p:bgPr>
        <a:blipFill xmlns:a="http://schemas.openxmlformats.org/drawingml/2006/main" rotWithShape="1">
          <a:blip xmlns:r="http://schemas.openxmlformats.org/officeDocument/2006/relationships" r:embed="R1b7b0cfd066441e7">
            <a:lum/>
          </a:blip>
          <a:srcRect l="0" t="0" r="0" b="0"/>
          <a:stretch>
            <a:fillRect l="0" t="0" r="0" b="0"/>
          </a:stretch>
        </a:blipFill>
      </p:bgPr>
    </p:bg>
    <p:spTree>
      <p:nvGrpSpPr>
        <p:cNvPr id="1" name=""/>
        <p:cNvGrpSpPr/>
        <p:nvPr/>
      </p:nvGrpSpPr>
      <p:grpSpPr>
        <a:xfrm xmlns:a="http://schemas.openxmlformats.org/drawingml/2006/main"/>
      </p:grpSpPr>
      <p:pic>
        <p:nvPicPr>
          <p:cNvPr id="20" name="!!orb"/>
          <p:cNvPicPr>
            <a:picLocks xmlns:a="http://schemas.openxmlformats.org/drawingml/2006/main" noChangeAspect="1"/>
          </p:cNvPicPr>
          <p:nvPr/>
        </p:nvPicPr>
        <p:blipFill>
          <a:blip xmlns:r="http://schemas.openxmlformats.org/officeDocument/2006/relationships" xmlns:a="http://schemas.openxmlformats.org/drawingml/2006/main" r:embed="Rf06f90c13dd448ef"/>
          <a:stretch xmlns:a="http://schemas.openxmlformats.org/drawingml/2006/main">
            <a:fillRect l="0" t="0" r="0" b="0"/>
          </a:stretch>
        </p:blipFill>
        <p:spPr>
          <a:xfrm xmlns:a="http://schemas.openxmlformats.org/drawingml/2006/main">
            <a:off x="7680960" y="3291840"/>
            <a:ext cx="5669280" cy="566928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AD6DF469-4412-409D-AA16-A03C5E37DCC9}"/>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4E23F55E-5CAA-4D27-8139-D11B64626E68}"/>
              </a:ext>
            </a:extLst>
          </p:cNvPr>
          <p:cNvSpPr>
            <a:spLocks xmlns:a="http://schemas.openxmlformats.org/drawingml/2006/main" noGrp="1"/>
          </p:cNvSpPr>
          <p:nvPr/>
        </p:nvSpPr>
        <p:spPr>
          <a:xfrm xmlns:a="http://schemas.openxmlformats.org/drawingml/2006/main">
            <a:off x="822960" y="6446520"/>
            <a:ext cx="4662670"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7BAC369B-88EE-41E5-A94D-DD9CC7186155}"/>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17FE112E-E4D1-4B61-881E-C5FB9337ACB3}"/>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TEAM DELIVERY</a:t>
            </a:r>
            <a:endParaRPr sz="900"/>
          </a:p>
        </p:txBody>
      </p:sp>
      <p:sp>
        <p:nvSpPr>
          <p:cNvPr id="7" name="pageno">
            <a:extLst xmlns:a="http://schemas.openxmlformats.org/drawingml/2006/main">
              <a:ext uri="{FF2B5EF4-FFF2-40B4-BE49-F238E27FC236}">
                <a16:creationId xmlns:a16="http://schemas.microsoft.com/office/drawing/2014/main" id="{6BC1DBB1-8D8D-4018-A480-C887DA0F85EE}"/>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09 / 20</a:t>
            </a:r>
            <a:endParaRPr sz="900"/>
          </a:p>
        </p:txBody>
      </p:sp>
      <p:sp>
        <p:nvSpPr>
          <p:cNvPr id="8" name="Text 5">
            <a:extLst xmlns:a="http://schemas.openxmlformats.org/drawingml/2006/main">
              <a:ext uri="{FF2B5EF4-FFF2-40B4-BE49-F238E27FC236}">
                <a16:creationId xmlns:a16="http://schemas.microsoft.com/office/drawing/2014/main" id="{A4C99146-DABB-4312-A16B-86B055A41CC4}"/>
              </a:ext>
            </a:extLst>
          </p:cNvPr>
          <p:cNvSpPr>
            <a:spLocks xmlns:a="http://schemas.openxmlformats.org/drawingml/2006/main" noGrp="1"/>
          </p:cNvSpPr>
          <p:nvPr/>
        </p:nvSpPr>
        <p:spPr>
          <a:xfrm xmlns:a="http://schemas.openxmlformats.org/drawingml/2006/main">
            <a:off x="822960" y="1115568"/>
            <a:ext cx="8229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The live record shows sustained delivery</a:t>
            </a:r>
            <a:endParaRPr sz="2700"/>
          </a:p>
        </p:txBody>
      </p:sp>
      <p:sp>
        <p:nvSpPr>
          <p:cNvPr id="9" name="Text 6">
            <a:extLst xmlns:a="http://schemas.openxmlformats.org/drawingml/2006/main">
              <a:ext uri="{FF2B5EF4-FFF2-40B4-BE49-F238E27FC236}">
                <a16:creationId xmlns:a16="http://schemas.microsoft.com/office/drawing/2014/main" id="{C985B917-F662-452A-90D5-C3638B22C471}"/>
              </a:ext>
            </a:extLst>
          </p:cNvPr>
          <p:cNvSpPr>
            <a:spLocks xmlns:a="http://schemas.openxmlformats.org/drawingml/2006/main" noGrp="1"/>
          </p:cNvSpPr>
          <p:nvPr/>
        </p:nvSpPr>
        <p:spPr>
          <a:xfrm xmlns:a="http://schemas.openxmlformats.org/drawingml/2006/main">
            <a:off x="822960" y="2606040"/>
            <a:ext cx="32004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spc="-200">
                <a:solidFill>
                  <a:srgbClr val="FF6B35"/>
                </a:solidFill>
                <a:latin typeface="Arial"/>
                <a:ea typeface="Arial"/>
                <a:cs typeface="Arial"/>
              </a:rPr>
              <a:t>192</a:t>
            </a:r>
            <a:endParaRPr sz="6600"/>
          </a:p>
        </p:txBody>
      </p:sp>
      <p:sp>
        <p:nvSpPr>
          <p:cNvPr id="10" name="Text 7">
            <a:extLst xmlns:a="http://schemas.openxmlformats.org/drawingml/2006/main">
              <a:ext uri="{FF2B5EF4-FFF2-40B4-BE49-F238E27FC236}">
                <a16:creationId xmlns:a16="http://schemas.microsoft.com/office/drawing/2014/main" id="{4D668E25-38FC-48F5-A90A-BF00882FDB3C}"/>
              </a:ext>
            </a:extLst>
          </p:cNvPr>
          <p:cNvSpPr>
            <a:spLocks xmlns:a="http://schemas.openxmlformats.org/drawingml/2006/main" noGrp="1"/>
          </p:cNvSpPr>
          <p:nvPr/>
        </p:nvSpPr>
        <p:spPr>
          <a:xfrm xmlns:a="http://schemas.openxmlformats.org/drawingml/2006/main">
            <a:off x="822960" y="4160520"/>
            <a:ext cx="2926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F2F8"/>
                </a:solidFill>
                <a:latin typeface="Arial"/>
                <a:ea typeface="Arial"/>
                <a:cs typeface="Arial"/>
              </a:rPr>
              <a:t>Student-authored PRs</a:t>
            </a:r>
            <a:endParaRPr sz="1500"/>
          </a:p>
        </p:txBody>
      </p:sp>
      <p:sp>
        <p:nvSpPr>
          <p:cNvPr id="11" name="Text 8">
            <a:extLst xmlns:a="http://schemas.openxmlformats.org/drawingml/2006/main">
              <a:ext uri="{FF2B5EF4-FFF2-40B4-BE49-F238E27FC236}">
                <a16:creationId xmlns:a16="http://schemas.microsoft.com/office/drawing/2014/main" id="{78BE5658-912E-4DC3-B531-9E0DCC6F7103}"/>
              </a:ext>
            </a:extLst>
          </p:cNvPr>
          <p:cNvSpPr>
            <a:spLocks xmlns:a="http://schemas.openxmlformats.org/drawingml/2006/main" noGrp="1"/>
          </p:cNvSpPr>
          <p:nvPr/>
        </p:nvSpPr>
        <p:spPr>
          <a:xfrm xmlns:a="http://schemas.openxmlformats.org/drawingml/2006/main">
            <a:off x="822960" y="4553712"/>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00">
                <a:solidFill>
                  <a:srgbClr val="8A94A8"/>
                </a:solidFill>
                <a:latin typeface="Arial"/>
                <a:ea typeface="Arial"/>
                <a:cs typeface="Arial"/>
              </a:rPr>
              <a:t>Across all four repositories</a:t>
            </a:r>
            <a:endParaRPr sz="1200"/>
          </a:p>
        </p:txBody>
      </p:sp>
      <p:sp>
        <p:nvSpPr>
          <p:cNvPr id="12" name="Text 9">
            <a:extLst xmlns:a="http://schemas.openxmlformats.org/drawingml/2006/main">
              <a:ext uri="{FF2B5EF4-FFF2-40B4-BE49-F238E27FC236}">
                <a16:creationId xmlns:a16="http://schemas.microsoft.com/office/drawing/2014/main" id="{81990119-B6F1-46B6-BC91-603E1FFF7072}"/>
              </a:ext>
            </a:extLst>
          </p:cNvPr>
          <p:cNvSpPr>
            <a:spLocks xmlns:a="http://schemas.openxmlformats.org/drawingml/2006/main" noGrp="1"/>
          </p:cNvSpPr>
          <p:nvPr/>
        </p:nvSpPr>
        <p:spPr>
          <a:xfrm xmlns:a="http://schemas.openxmlformats.org/drawingml/2006/main">
            <a:off x="4494276" y="2606040"/>
            <a:ext cx="32004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spc="-200">
                <a:solidFill>
                  <a:srgbClr val="EEF2F8"/>
                </a:solidFill>
                <a:latin typeface="Arial"/>
                <a:ea typeface="Arial"/>
                <a:cs typeface="Arial"/>
              </a:rPr>
              <a:t>184</a:t>
            </a:r>
            <a:endParaRPr sz="6600"/>
          </a:p>
        </p:txBody>
      </p:sp>
      <p:sp>
        <p:nvSpPr>
          <p:cNvPr id="13" name="Text 10">
            <a:extLst xmlns:a="http://schemas.openxmlformats.org/drawingml/2006/main">
              <a:ext uri="{FF2B5EF4-FFF2-40B4-BE49-F238E27FC236}">
                <a16:creationId xmlns:a16="http://schemas.microsoft.com/office/drawing/2014/main" id="{B372963D-744E-4611-AC7D-AA373E21267C}"/>
              </a:ext>
            </a:extLst>
          </p:cNvPr>
          <p:cNvSpPr>
            <a:spLocks xmlns:a="http://schemas.openxmlformats.org/drawingml/2006/main" noGrp="1"/>
          </p:cNvSpPr>
          <p:nvPr/>
        </p:nvSpPr>
        <p:spPr>
          <a:xfrm xmlns:a="http://schemas.openxmlformats.org/drawingml/2006/main">
            <a:off x="4494276" y="4160520"/>
            <a:ext cx="2926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F2F8"/>
                </a:solidFill>
                <a:latin typeface="Arial"/>
                <a:ea typeface="Arial"/>
                <a:cs typeface="Arial"/>
              </a:rPr>
              <a:t>Merged</a:t>
            </a:r>
            <a:endParaRPr sz="1500"/>
          </a:p>
        </p:txBody>
      </p:sp>
      <p:sp>
        <p:nvSpPr>
          <p:cNvPr id="14" name="Text 11">
            <a:extLst xmlns:a="http://schemas.openxmlformats.org/drawingml/2006/main">
              <a:ext uri="{FF2B5EF4-FFF2-40B4-BE49-F238E27FC236}">
                <a16:creationId xmlns:a16="http://schemas.microsoft.com/office/drawing/2014/main" id="{F10062E6-4263-41E5-91FC-468F3C6D3482}"/>
              </a:ext>
            </a:extLst>
          </p:cNvPr>
          <p:cNvSpPr>
            <a:spLocks xmlns:a="http://schemas.openxmlformats.org/drawingml/2006/main" noGrp="1"/>
          </p:cNvSpPr>
          <p:nvPr/>
        </p:nvSpPr>
        <p:spPr>
          <a:xfrm xmlns:a="http://schemas.openxmlformats.org/drawingml/2006/main">
            <a:off x="4494276" y="4553712"/>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00">
                <a:solidFill>
                  <a:srgbClr val="8A94A8"/>
                </a:solidFill>
                <a:latin typeface="Arial"/>
                <a:ea typeface="Arial"/>
                <a:cs typeface="Arial"/>
              </a:rPr>
              <a:t>95.8% of the student set</a:t>
            </a:r>
            <a:endParaRPr sz="1200"/>
          </a:p>
        </p:txBody>
      </p:sp>
      <p:sp>
        <p:nvSpPr>
          <p:cNvPr id="15" name="Text 12">
            <a:extLst xmlns:a="http://schemas.openxmlformats.org/drawingml/2006/main">
              <a:ext uri="{FF2B5EF4-FFF2-40B4-BE49-F238E27FC236}">
                <a16:creationId xmlns:a16="http://schemas.microsoft.com/office/drawing/2014/main" id="{62198F73-6B5B-4984-AC64-EEEB16106A7B}"/>
              </a:ext>
            </a:extLst>
          </p:cNvPr>
          <p:cNvSpPr>
            <a:spLocks xmlns:a="http://schemas.openxmlformats.org/drawingml/2006/main" noGrp="1"/>
          </p:cNvSpPr>
          <p:nvPr/>
        </p:nvSpPr>
        <p:spPr>
          <a:xfrm xmlns:a="http://schemas.openxmlformats.org/drawingml/2006/main">
            <a:off x="8165592" y="2606040"/>
            <a:ext cx="3200400" cy="13716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6600" b="1" spc="-200">
                <a:solidFill>
                  <a:srgbClr val="3DDC97"/>
                </a:solidFill>
                <a:latin typeface="Arial"/>
                <a:ea typeface="Arial"/>
                <a:cs typeface="Arial"/>
              </a:rPr>
              <a:t>138</a:t>
            </a:r>
            <a:endParaRPr sz="6600"/>
          </a:p>
        </p:txBody>
      </p:sp>
      <p:sp>
        <p:nvSpPr>
          <p:cNvPr id="16" name="Text 13">
            <a:extLst xmlns:a="http://schemas.openxmlformats.org/drawingml/2006/main">
              <a:ext uri="{FF2B5EF4-FFF2-40B4-BE49-F238E27FC236}">
                <a16:creationId xmlns:a16="http://schemas.microsoft.com/office/drawing/2014/main" id="{0846BA5C-9329-4BB0-905E-39703B1A48BD}"/>
              </a:ext>
            </a:extLst>
          </p:cNvPr>
          <p:cNvSpPr>
            <a:spLocks xmlns:a="http://schemas.openxmlformats.org/drawingml/2006/main" noGrp="1"/>
          </p:cNvSpPr>
          <p:nvPr/>
        </p:nvSpPr>
        <p:spPr>
          <a:xfrm xmlns:a="http://schemas.openxmlformats.org/drawingml/2006/main">
            <a:off x="8165592" y="4160520"/>
            <a:ext cx="292608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EEF2F8"/>
                </a:solidFill>
                <a:latin typeface="Arial"/>
                <a:ea typeface="Arial"/>
                <a:cs typeface="Arial"/>
              </a:rPr>
              <a:t>ProjectV2 items</a:t>
            </a:r>
            <a:endParaRPr sz="1500"/>
          </a:p>
        </p:txBody>
      </p:sp>
      <p:sp>
        <p:nvSpPr>
          <p:cNvPr id="17" name="Text 14">
            <a:extLst xmlns:a="http://schemas.openxmlformats.org/drawingml/2006/main">
              <a:ext uri="{FF2B5EF4-FFF2-40B4-BE49-F238E27FC236}">
                <a16:creationId xmlns:a16="http://schemas.microsoft.com/office/drawing/2014/main" id="{3DC0E042-861D-42B3-A9F9-20A9D083349D}"/>
              </a:ext>
            </a:extLst>
          </p:cNvPr>
          <p:cNvSpPr>
            <a:spLocks xmlns:a="http://schemas.openxmlformats.org/drawingml/2006/main" noGrp="1"/>
          </p:cNvSpPr>
          <p:nvPr/>
        </p:nvSpPr>
        <p:spPr>
          <a:xfrm xmlns:a="http://schemas.openxmlformats.org/drawingml/2006/main">
            <a:off x="8165592" y="4553712"/>
            <a:ext cx="2926080"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800"/>
              </a:lnSpc>
              <a:buNone/>
            </a:pPr>
            <a:r>
              <a:rPr sz="1200">
                <a:solidFill>
                  <a:srgbClr val="8A94A8"/>
                </a:solidFill>
                <a:latin typeface="Arial"/>
                <a:ea typeface="Arial"/>
                <a:cs typeface="Arial"/>
              </a:rPr>
              <a:t>121 unique student-assigned</a:t>
            </a:r>
            <a:endParaRPr sz="1200"/>
          </a:p>
        </p:txBody>
      </p:sp>
      <p:sp>
        <p:nvSpPr>
          <p:cNvPr id="18" name="!!num">
            <a:extLst xmlns:a="http://schemas.openxmlformats.org/drawingml/2006/main">
              <a:ext uri="{FF2B5EF4-FFF2-40B4-BE49-F238E27FC236}">
                <a16:creationId xmlns:a16="http://schemas.microsoft.com/office/drawing/2014/main" id="{D8366BBF-AFEB-482A-A6B3-4FFA616072FC}"/>
              </a:ext>
            </a:extLst>
          </p:cNvPr>
          <p:cNvSpPr>
            <a:spLocks xmlns:a="http://schemas.openxmlformats.org/drawingml/2006/main" noGrp="1"/>
          </p:cNvSpPr>
          <p:nvPr/>
        </p:nvSpPr>
        <p:spPr>
          <a:xfrm xmlns:a="http://schemas.openxmlformats.org/drawingml/2006/main">
            <a:off x="10607040" y="1133856"/>
            <a:ext cx="7589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FF6B35"/>
                </a:solidFill>
                <a:latin typeface="Arial"/>
                <a:ea typeface="Arial"/>
                <a:cs typeface="Arial"/>
              </a:rPr>
              <a:t>01</a:t>
            </a:r>
            <a:endParaRPr sz="2000"/>
          </a:p>
        </p:txBody>
      </p:sp>
    </p:spTree>
    <p:extLst>
      <p:ext uri="{BB962C8B-B14F-4D97-AF65-F5344CB8AC3E}">
        <p14:creationId xmlns:p14="http://schemas.microsoft.com/office/powerpoint/2010/main" val="171276510"/>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400">
        <p159:morph option="byObject"/>
      </p:transition>
    </mc:Choice>
    <mc:Fallback>
      <p:transition spd="slow" advClick="1" advTm="5000">
        <p:fade/>
      </p:transition>
    </mc:Fallback>
  </mc:AlternateContent>
</p:sld>
</file>

<file path=ppt/slides/slide10.xml><?xml version="1.0" encoding="utf-8"?>
<p:sld xmlns:p="http://schemas.openxmlformats.org/presentationml/2006/main">
  <p:cSld>
    <p:bg>
      <p:bgPr>
        <a:blipFill xmlns:a="http://schemas.openxmlformats.org/drawingml/2006/main" rotWithShape="1">
          <a:blip xmlns:r="http://schemas.openxmlformats.org/officeDocument/2006/relationships" r:embed="R68fa3990c239462f">
            <a:lum/>
          </a:blip>
          <a:srcRect l="0" t="0" r="0" b="0"/>
          <a:stretch>
            <a:fillRect l="0" t="0" r="0" b="0"/>
          </a:stretch>
        </a:blipFill>
      </p:bgPr>
    </p:bg>
    <p:spTree>
      <p:nvGrpSpPr>
        <p:cNvPr id="1" name=""/>
        <p:cNvGrpSpPr/>
        <p:nvPr/>
      </p:nvGrpSpPr>
      <p:grpSpPr>
        <a:xfrm xmlns:a="http://schemas.openxmlformats.org/drawingml/2006/main"/>
      </p:grpSpPr>
      <p:pic>
        <p:nvPicPr>
          <p:cNvPr id="12" name="!!orb"/>
          <p:cNvPicPr>
            <a:picLocks xmlns:a="http://schemas.openxmlformats.org/drawingml/2006/main" noChangeAspect="1"/>
          </p:cNvPicPr>
          <p:nvPr/>
        </p:nvPicPr>
        <p:blipFill>
          <a:blip xmlns:r="http://schemas.openxmlformats.org/officeDocument/2006/relationships" xmlns:a="http://schemas.openxmlformats.org/drawingml/2006/main" r:embed="R5de664e813314b46"/>
          <a:stretch xmlns:a="http://schemas.openxmlformats.org/drawingml/2006/main">
            <a:fillRect l="0" t="0" r="0" b="0"/>
          </a:stretch>
        </p:blipFill>
        <p:spPr>
          <a:xfrm xmlns:a="http://schemas.openxmlformats.org/drawingml/2006/main">
            <a:off x="7498080" y="1645920"/>
            <a:ext cx="6400800" cy="64008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5E924D04-D34A-4182-95F5-0CFA728461C7}"/>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E9FA338A-C59E-4E55-930D-2B7AA939EC51}"/>
              </a:ext>
            </a:extLst>
          </p:cNvPr>
          <p:cNvSpPr>
            <a:spLocks xmlns:a="http://schemas.openxmlformats.org/drawingml/2006/main" noGrp="1"/>
          </p:cNvSpPr>
          <p:nvPr/>
        </p:nvSpPr>
        <p:spPr>
          <a:xfrm xmlns:a="http://schemas.openxmlformats.org/drawingml/2006/main">
            <a:off x="822960" y="6446520"/>
            <a:ext cx="5197498"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9B4AD30A-3C89-4E47-B329-E155AFD0A99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5EF5796B-E68A-4D2B-A8E9-54251A02A835}"/>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02</a:t>
            </a:r>
            <a:endParaRPr sz="900"/>
          </a:p>
        </p:txBody>
      </p:sp>
      <p:sp>
        <p:nvSpPr>
          <p:cNvPr id="7" name="pageno">
            <a:extLst xmlns:a="http://schemas.openxmlformats.org/drawingml/2006/main">
              <a:ext uri="{FF2B5EF4-FFF2-40B4-BE49-F238E27FC236}">
                <a16:creationId xmlns:a16="http://schemas.microsoft.com/office/drawing/2014/main" id="{7A2B9979-9890-447F-97AB-EAAFCC938E1B}"/>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10 / 20</a:t>
            </a:r>
            <a:endParaRPr sz="900"/>
          </a:p>
        </p:txBody>
      </p:sp>
      <p:sp>
        <p:nvSpPr>
          <p:cNvPr id="8" name="!!num">
            <a:extLst xmlns:a="http://schemas.openxmlformats.org/drawingml/2006/main">
              <a:ext uri="{FF2B5EF4-FFF2-40B4-BE49-F238E27FC236}">
                <a16:creationId xmlns:a16="http://schemas.microsoft.com/office/drawing/2014/main" id="{BBE53C54-3CB0-4B76-A725-55AB041B5019}"/>
              </a:ext>
            </a:extLst>
          </p:cNvPr>
          <p:cNvSpPr>
            <a:spLocks xmlns:a="http://schemas.openxmlformats.org/drawingml/2006/main" noGrp="1"/>
          </p:cNvSpPr>
          <p:nvPr/>
        </p:nvSpPr>
        <p:spPr>
          <a:xfrm xmlns:a="http://schemas.openxmlformats.org/drawingml/2006/main">
            <a:off x="822960" y="685800"/>
            <a:ext cx="5669280" cy="5120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l">
              <a:buNone/>
            </a:pPr>
            <a:r>
              <a:rPr sz="21000" b="1" spc="-800">
                <a:solidFill>
                  <a:srgbClr val="1F2735"/>
                </a:solidFill>
                <a:latin typeface="Arial"/>
                <a:ea typeface="Arial"/>
                <a:cs typeface="Arial"/>
              </a:rPr>
              <a:t>02</a:t>
            </a:r>
            <a:endParaRPr sz="21000"/>
          </a:p>
        </p:txBody>
      </p:sp>
      <p:sp>
        <p:nvSpPr>
          <p:cNvPr id="9" name="Text 6">
            <a:extLst xmlns:a="http://schemas.openxmlformats.org/drawingml/2006/main">
              <a:ext uri="{FF2B5EF4-FFF2-40B4-BE49-F238E27FC236}">
                <a16:creationId xmlns:a16="http://schemas.microsoft.com/office/drawing/2014/main" id="{7F6433A0-CF19-4910-A120-021E02E7A818}"/>
              </a:ext>
            </a:extLst>
          </p:cNvPr>
          <p:cNvSpPr>
            <a:spLocks xmlns:a="http://schemas.openxmlformats.org/drawingml/2006/main" noGrp="1"/>
          </p:cNvSpPr>
          <p:nvPr/>
        </p:nvSpPr>
        <p:spPr>
          <a:xfrm xmlns:a="http://schemas.openxmlformats.org/drawingml/2006/main">
            <a:off x="5852160" y="2514600"/>
            <a:ext cx="5513832"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gn="r">
              <a:lnSpc>
                <a:spcPts val="5000"/>
              </a:lnSpc>
              <a:buNone/>
            </a:pPr>
            <a:r>
              <a:rPr sz="4400" b="1">
                <a:solidFill>
                  <a:srgbClr val="EEF2F8"/>
                </a:solidFill>
                <a:latin typeface="Arial"/>
                <a:ea typeface="Arial"/>
                <a:cs typeface="Arial"/>
              </a:rPr>
              <a:t>Feedback that</a:t>
            </a:r>
            <a:endParaRPr sz="4400"/>
          </a:p>
          <a:p xmlns:a="http://schemas.openxmlformats.org/drawingml/2006/main">
            <a:pPr marL="0" indent="0" algn="r">
              <a:lnSpc>
                <a:spcPts val="5000"/>
              </a:lnSpc>
              <a:buNone/>
            </a:pPr>
            <a:r>
              <a:rPr sz="4400" b="1">
                <a:solidFill>
                  <a:srgbClr val="EEF2F8"/>
                </a:solidFill>
                <a:latin typeface="Arial"/>
                <a:ea typeface="Arial"/>
                <a:cs typeface="Arial"/>
              </a:rPr>
              <a:t>connects</a:t>
            </a:r>
            <a:endParaRPr sz="4400"/>
          </a:p>
        </p:txBody>
      </p:sp>
      <p:sp>
        <p:nvSpPr>
          <p:cNvPr id="10" name="Text 7">
            <a:extLst xmlns:a="http://schemas.openxmlformats.org/drawingml/2006/main">
              <a:ext uri="{FF2B5EF4-FFF2-40B4-BE49-F238E27FC236}">
                <a16:creationId xmlns:a16="http://schemas.microsoft.com/office/drawing/2014/main" id="{0A4D2ACF-7B80-4554-9C0C-8C93949A7787}"/>
              </a:ext>
            </a:extLst>
          </p:cNvPr>
          <p:cNvSpPr>
            <a:spLocks xmlns:a="http://schemas.openxmlformats.org/drawingml/2006/main" noGrp="1"/>
          </p:cNvSpPr>
          <p:nvPr/>
        </p:nvSpPr>
        <p:spPr>
          <a:xfrm xmlns:a="http://schemas.openxmlformats.org/drawingml/2006/main">
            <a:off x="5852160" y="4572000"/>
            <a:ext cx="5513832"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lnSpc>
                <a:spcPts val="2000"/>
              </a:lnSpc>
              <a:buNone/>
            </a:pPr>
            <a:r>
              <a:rPr sz="1350">
                <a:solidFill>
                  <a:srgbClr val="8A94A8"/>
                </a:solidFill>
                <a:latin typeface="Arial"/>
                <a:ea typeface="Arial"/>
                <a:cs typeface="Arial"/>
              </a:rPr>
              <a:t>Agile iteration and continuous delivery moved defect discovery earlier, where correction is cheapest.</a:t>
            </a:r>
            <a:endParaRPr sz="1350"/>
          </a:p>
        </p:txBody>
      </p:sp>
    </p:spTree>
    <p:extLst>
      <p:ext uri="{BB962C8B-B14F-4D97-AF65-F5344CB8AC3E}">
        <p14:creationId xmlns:p14="http://schemas.microsoft.com/office/powerpoint/2010/main" val="876815964"/>
      </p:ext>
    </p:extLst>
  </p:cSld>
  <mc:AlternateContent xmlns:mc="http://schemas.openxmlformats.org/markup-compatibility/2006">
    <mc:Choice xmlns:p159="http://schemas.microsoft.com/office/powerpoint/2015/09/main" Requires="p159">
      <p:transition xmlns:p14="http://schemas.microsoft.com/office/powerpoint/2010/main" spd="slow" advClick="1" advTm="3500" p14:dur="2000">
        <p159:morph option="byObject"/>
      </p:transition>
    </mc:Choice>
    <mc:Fallback>
      <p:transition spd="slow" advClick="1" advTm="3500">
        <p:fade/>
      </p:transition>
    </mc:Fallback>
  </mc:AlternateContent>
</p:sld>
</file>

<file path=ppt/slides/slide11.xml><?xml version="1.0" encoding="utf-8"?>
<p:sld xmlns:p="http://schemas.openxmlformats.org/presentationml/2006/main">
  <p:cSld>
    <p:bg>
      <p:bgPr>
        <a:blipFill xmlns:a="http://schemas.openxmlformats.org/drawingml/2006/main" rotWithShape="1">
          <a:blip xmlns:r="http://schemas.openxmlformats.org/officeDocument/2006/relationships" r:embed="R919f9a531c014e32">
            <a:lum/>
          </a:blip>
          <a:srcRect l="0" t="0" r="0" b="0"/>
          <a:stretch>
            <a:fillRect l="0" t="0" r="0" b="0"/>
          </a:stretch>
        </a:blipFill>
      </p:bgPr>
    </p:bg>
    <p:spTree>
      <p:nvGrpSpPr>
        <p:cNvPr id="1" name=""/>
        <p:cNvGrpSpPr/>
        <p:nvPr/>
      </p:nvGrpSpPr>
      <p:grpSpPr>
        <a:xfrm xmlns:a="http://schemas.openxmlformats.org/drawingml/2006/main"/>
      </p:grpSpPr>
      <p:pic>
        <p:nvPicPr>
          <p:cNvPr id="32" name="!!orb"/>
          <p:cNvPicPr>
            <a:picLocks xmlns:a="http://schemas.openxmlformats.org/drawingml/2006/main" noChangeAspect="1"/>
          </p:cNvPicPr>
          <p:nvPr/>
        </p:nvPicPr>
        <p:blipFill>
          <a:blip xmlns:r="http://schemas.openxmlformats.org/officeDocument/2006/relationships" xmlns:a="http://schemas.openxmlformats.org/drawingml/2006/main" r:embed="R799297b4908b4482"/>
          <a:stretch xmlns:a="http://schemas.openxmlformats.org/drawingml/2006/main">
            <a:fillRect l="0" t="0" r="0" b="0"/>
          </a:stretch>
        </p:blipFill>
        <p:spPr>
          <a:xfrm xmlns:a="http://schemas.openxmlformats.org/drawingml/2006/main">
            <a:off x="-1828800" y="3474720"/>
            <a:ext cx="5120640" cy="51206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E1C4B692-95CC-4E43-AAD2-11450DB9E38C}"/>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CC62EC98-43DE-4830-837E-C5E826AE1920}"/>
              </a:ext>
            </a:extLst>
          </p:cNvPr>
          <p:cNvSpPr>
            <a:spLocks xmlns:a="http://schemas.openxmlformats.org/drawingml/2006/main" noGrp="1"/>
          </p:cNvSpPr>
          <p:nvPr/>
        </p:nvSpPr>
        <p:spPr>
          <a:xfrm xmlns:a="http://schemas.openxmlformats.org/drawingml/2006/main">
            <a:off x="822960" y="6446520"/>
            <a:ext cx="5732325"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D6BEEF53-0E8A-43D9-9411-223D32BF2AD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36BBE9C8-5583-4E5C-AC24-04266B6F72C2}"/>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02</a:t>
            </a:r>
            <a:endParaRPr sz="900"/>
          </a:p>
        </p:txBody>
      </p:sp>
      <p:sp>
        <p:nvSpPr>
          <p:cNvPr id="7" name="pageno">
            <a:extLst xmlns:a="http://schemas.openxmlformats.org/drawingml/2006/main">
              <a:ext uri="{FF2B5EF4-FFF2-40B4-BE49-F238E27FC236}">
                <a16:creationId xmlns:a16="http://schemas.microsoft.com/office/drawing/2014/main" id="{6C2C2A85-F7B2-44BF-8B48-191096F95A46}"/>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11 / 20</a:t>
            </a:r>
            <a:endParaRPr sz="900"/>
          </a:p>
        </p:txBody>
      </p:sp>
      <p:sp>
        <p:nvSpPr>
          <p:cNvPr id="8" name="Text 5">
            <a:extLst xmlns:a="http://schemas.openxmlformats.org/drawingml/2006/main">
              <a:ext uri="{FF2B5EF4-FFF2-40B4-BE49-F238E27FC236}">
                <a16:creationId xmlns:a16="http://schemas.microsoft.com/office/drawing/2014/main" id="{2642B1DB-7FF2-4F1B-B775-B190A278C899}"/>
              </a:ext>
            </a:extLst>
          </p:cNvPr>
          <p:cNvSpPr>
            <a:spLocks xmlns:a="http://schemas.openxmlformats.org/drawingml/2006/main" noGrp="1"/>
          </p:cNvSpPr>
          <p:nvPr/>
        </p:nvSpPr>
        <p:spPr>
          <a:xfrm xmlns:a="http://schemas.openxmlformats.org/drawingml/2006/main">
            <a:off x="822960" y="1115568"/>
            <a:ext cx="7315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Capability grew through iterative increments</a:t>
            </a:r>
            <a:endParaRPr sz="2700"/>
          </a:p>
        </p:txBody>
      </p:sp>
      <p:sp>
        <p:nvSpPr>
          <p:cNvPr id="9" name="!!num">
            <a:extLst xmlns:a="http://schemas.openxmlformats.org/drawingml/2006/main">
              <a:ext uri="{FF2B5EF4-FFF2-40B4-BE49-F238E27FC236}">
                <a16:creationId xmlns:a16="http://schemas.microsoft.com/office/drawing/2014/main" id="{6D1B4E10-A920-47BC-A7CD-81DB206B07A4}"/>
              </a:ext>
            </a:extLst>
          </p:cNvPr>
          <p:cNvSpPr>
            <a:spLocks xmlns:a="http://schemas.openxmlformats.org/drawingml/2006/main" noGrp="1"/>
          </p:cNvSpPr>
          <p:nvPr/>
        </p:nvSpPr>
        <p:spPr>
          <a:xfrm xmlns:a="http://schemas.openxmlformats.org/drawingml/2006/main">
            <a:off x="10607040" y="1133856"/>
            <a:ext cx="7589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FF6B35"/>
                </a:solidFill>
                <a:latin typeface="Arial"/>
                <a:ea typeface="Arial"/>
                <a:cs typeface="Arial"/>
              </a:rPr>
              <a:t>02</a:t>
            </a:r>
            <a:endParaRPr sz="2000"/>
          </a:p>
        </p:txBody>
      </p:sp>
      <p:sp>
        <p:nvSpPr>
          <p:cNvPr id="10" name="Shape 7">
            <a:extLst xmlns:a="http://schemas.openxmlformats.org/drawingml/2006/main">
              <a:ext uri="{FF2B5EF4-FFF2-40B4-BE49-F238E27FC236}">
                <a16:creationId xmlns:a16="http://schemas.microsoft.com/office/drawing/2014/main" id="{6B969551-016C-49D8-B29B-882C58B45EC4}"/>
              </a:ext>
            </a:extLst>
          </p:cNvPr>
          <p:cNvSpPr>
            <a:spLocks xmlns:a="http://schemas.openxmlformats.org/drawingml/2006/main" noGrp="1"/>
          </p:cNvSpPr>
          <p:nvPr/>
        </p:nvSpPr>
        <p:spPr>
          <a:xfrm xmlns:a="http://schemas.openxmlformats.org/drawingml/2006/main">
            <a:off x="1828800" y="3529584"/>
            <a:ext cx="8531352"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11" name="Text 8">
            <a:extLst xmlns:a="http://schemas.openxmlformats.org/drawingml/2006/main">
              <a:ext uri="{FF2B5EF4-FFF2-40B4-BE49-F238E27FC236}">
                <a16:creationId xmlns:a16="http://schemas.microsoft.com/office/drawing/2014/main" id="{9BC4ACC4-2414-44D5-A06C-5B014D4B6F96}"/>
              </a:ext>
            </a:extLst>
          </p:cNvPr>
          <p:cNvSpPr>
            <a:spLocks xmlns:a="http://schemas.openxmlformats.org/drawingml/2006/main" noGrp="1"/>
          </p:cNvSpPr>
          <p:nvPr/>
        </p:nvSpPr>
        <p:spPr>
          <a:xfrm xmlns:a="http://schemas.openxmlformats.org/drawingml/2006/main">
            <a:off x="822960"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FOUNDATION</a:t>
            </a:r>
            <a:endParaRPr sz="1150"/>
          </a:p>
        </p:txBody>
      </p:sp>
      <p:sp>
        <p:nvSpPr>
          <p:cNvPr id="12" name="!!node1">
            <a:extLst xmlns:a="http://schemas.openxmlformats.org/drawingml/2006/main">
              <a:ext uri="{FF2B5EF4-FFF2-40B4-BE49-F238E27FC236}">
                <a16:creationId xmlns:a16="http://schemas.microsoft.com/office/drawing/2014/main" id="{6B8791B5-6707-4CA2-B5DC-EE0567D4D991}"/>
              </a:ext>
            </a:extLst>
          </p:cNvPr>
          <p:cNvSpPr>
            <a:spLocks xmlns:a="http://schemas.openxmlformats.org/drawingml/2006/main" noGrp="1"/>
          </p:cNvSpPr>
          <p:nvPr/>
        </p:nvSpPr>
        <p:spPr>
          <a:xfrm xmlns:a="http://schemas.openxmlformats.org/drawingml/2006/main">
            <a:off x="1723644"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13" name="Text 10">
            <a:extLst xmlns:a="http://schemas.openxmlformats.org/drawingml/2006/main">
              <a:ext uri="{FF2B5EF4-FFF2-40B4-BE49-F238E27FC236}">
                <a16:creationId xmlns:a16="http://schemas.microsoft.com/office/drawing/2014/main" id="{D147B2D0-A114-41E4-BDDD-06083E70C664}"/>
              </a:ext>
            </a:extLst>
          </p:cNvPr>
          <p:cNvSpPr>
            <a:spLocks xmlns:a="http://schemas.openxmlformats.org/drawingml/2006/main" noGrp="1"/>
          </p:cNvSpPr>
          <p:nvPr/>
        </p:nvSpPr>
        <p:spPr>
          <a:xfrm xmlns:a="http://schemas.openxmlformats.org/drawingml/2006/main">
            <a:off x="822960"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Shared contracts</a:t>
            </a:r>
            <a:endParaRPr sz="1350"/>
          </a:p>
        </p:txBody>
      </p:sp>
      <p:sp>
        <p:nvSpPr>
          <p:cNvPr id="14" name="Text 11">
            <a:extLst xmlns:a="http://schemas.openxmlformats.org/drawingml/2006/main">
              <a:ext uri="{FF2B5EF4-FFF2-40B4-BE49-F238E27FC236}">
                <a16:creationId xmlns:a16="http://schemas.microsoft.com/office/drawing/2014/main" id="{1408D900-03F8-44D0-BEE8-6680D7AB3C78}"/>
              </a:ext>
            </a:extLst>
          </p:cNvPr>
          <p:cNvSpPr>
            <a:spLocks xmlns:a="http://schemas.openxmlformats.org/drawingml/2006/main" noGrp="1"/>
          </p:cNvSpPr>
          <p:nvPr/>
        </p:nvSpPr>
        <p:spPr>
          <a:xfrm xmlns:a="http://schemas.openxmlformats.org/drawingml/2006/main">
            <a:off x="822960"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Schema, APIs, security</a:t>
            </a:r>
            <a:endParaRPr sz="1150"/>
          </a:p>
        </p:txBody>
      </p:sp>
      <p:sp>
        <p:nvSpPr>
          <p:cNvPr id="15" name="Text 12">
            <a:extLst xmlns:a="http://schemas.openxmlformats.org/drawingml/2006/main">
              <a:ext uri="{FF2B5EF4-FFF2-40B4-BE49-F238E27FC236}">
                <a16:creationId xmlns:a16="http://schemas.microsoft.com/office/drawing/2014/main" id="{C28FF78F-9B12-46BD-90E4-534A08373C19}"/>
              </a:ext>
            </a:extLst>
          </p:cNvPr>
          <p:cNvSpPr>
            <a:spLocks xmlns:a="http://schemas.openxmlformats.org/drawingml/2006/main" noGrp="1"/>
          </p:cNvSpPr>
          <p:nvPr/>
        </p:nvSpPr>
        <p:spPr>
          <a:xfrm xmlns:a="http://schemas.openxmlformats.org/drawingml/2006/main">
            <a:off x="2955798"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INTELLIGENCE</a:t>
            </a:r>
            <a:endParaRPr sz="1150"/>
          </a:p>
        </p:txBody>
      </p:sp>
      <p:sp>
        <p:nvSpPr>
          <p:cNvPr id="16" name="!!node2">
            <a:extLst xmlns:a="http://schemas.openxmlformats.org/drawingml/2006/main">
              <a:ext uri="{FF2B5EF4-FFF2-40B4-BE49-F238E27FC236}">
                <a16:creationId xmlns:a16="http://schemas.microsoft.com/office/drawing/2014/main" id="{E1EE37FA-21F1-4BC2-8F80-B0DD89B997ED}"/>
              </a:ext>
            </a:extLst>
          </p:cNvPr>
          <p:cNvSpPr>
            <a:spLocks xmlns:a="http://schemas.openxmlformats.org/drawingml/2006/main" noGrp="1"/>
          </p:cNvSpPr>
          <p:nvPr/>
        </p:nvSpPr>
        <p:spPr>
          <a:xfrm xmlns:a="http://schemas.openxmlformats.org/drawingml/2006/main">
            <a:off x="3856482"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17" name="Text 14">
            <a:extLst xmlns:a="http://schemas.openxmlformats.org/drawingml/2006/main">
              <a:ext uri="{FF2B5EF4-FFF2-40B4-BE49-F238E27FC236}">
                <a16:creationId xmlns:a16="http://schemas.microsoft.com/office/drawing/2014/main" id="{BA343B30-7F6C-47A8-B73A-F38AB139C335}"/>
              </a:ext>
            </a:extLst>
          </p:cNvPr>
          <p:cNvSpPr>
            <a:spLocks xmlns:a="http://schemas.openxmlformats.org/drawingml/2006/main" noGrp="1"/>
          </p:cNvSpPr>
          <p:nvPr/>
        </p:nvSpPr>
        <p:spPr>
          <a:xfrm xmlns:a="http://schemas.openxmlformats.org/drawingml/2006/main">
            <a:off x="2955798"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FTA + sources</a:t>
            </a:r>
            <a:endParaRPr sz="1350"/>
          </a:p>
        </p:txBody>
      </p:sp>
      <p:sp>
        <p:nvSpPr>
          <p:cNvPr id="18" name="Text 15">
            <a:extLst xmlns:a="http://schemas.openxmlformats.org/drawingml/2006/main">
              <a:ext uri="{FF2B5EF4-FFF2-40B4-BE49-F238E27FC236}">
                <a16:creationId xmlns:a16="http://schemas.microsoft.com/office/drawing/2014/main" id="{2785182F-0773-4C5B-958A-17CBF818E507}"/>
              </a:ext>
            </a:extLst>
          </p:cNvPr>
          <p:cNvSpPr>
            <a:spLocks xmlns:a="http://schemas.openxmlformats.org/drawingml/2006/main" noGrp="1"/>
          </p:cNvSpPr>
          <p:nvPr/>
        </p:nvSpPr>
        <p:spPr>
          <a:xfrm xmlns:a="http://schemas.openxmlformats.org/drawingml/2006/main">
            <a:off x="2955798"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Collectors, ranking, audit</a:t>
            </a:r>
            <a:endParaRPr sz="1150"/>
          </a:p>
        </p:txBody>
      </p:sp>
      <p:sp>
        <p:nvSpPr>
          <p:cNvPr id="19" name="Text 16">
            <a:extLst xmlns:a="http://schemas.openxmlformats.org/drawingml/2006/main">
              <a:ext uri="{FF2B5EF4-FFF2-40B4-BE49-F238E27FC236}">
                <a16:creationId xmlns:a16="http://schemas.microsoft.com/office/drawing/2014/main" id="{6F3E8DFB-D319-43ED-A345-219A7AFE11F1}"/>
              </a:ext>
            </a:extLst>
          </p:cNvPr>
          <p:cNvSpPr>
            <a:spLocks xmlns:a="http://schemas.openxmlformats.org/drawingml/2006/main" noGrp="1"/>
          </p:cNvSpPr>
          <p:nvPr/>
        </p:nvSpPr>
        <p:spPr>
          <a:xfrm xmlns:a="http://schemas.openxmlformats.org/drawingml/2006/main">
            <a:off x="5088636"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INTERFACES</a:t>
            </a:r>
            <a:endParaRPr sz="1150"/>
          </a:p>
        </p:txBody>
      </p:sp>
      <p:sp>
        <p:nvSpPr>
          <p:cNvPr id="20" name="!!node3">
            <a:extLst xmlns:a="http://schemas.openxmlformats.org/drawingml/2006/main">
              <a:ext uri="{FF2B5EF4-FFF2-40B4-BE49-F238E27FC236}">
                <a16:creationId xmlns:a16="http://schemas.microsoft.com/office/drawing/2014/main" id="{98F74090-15B5-4027-854C-922426911A4E}"/>
              </a:ext>
            </a:extLst>
          </p:cNvPr>
          <p:cNvSpPr>
            <a:spLocks xmlns:a="http://schemas.openxmlformats.org/drawingml/2006/main" noGrp="1"/>
          </p:cNvSpPr>
          <p:nvPr/>
        </p:nvSpPr>
        <p:spPr>
          <a:xfrm xmlns:a="http://schemas.openxmlformats.org/drawingml/2006/main">
            <a:off x="5989320"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21" name="Text 18">
            <a:extLst xmlns:a="http://schemas.openxmlformats.org/drawingml/2006/main">
              <a:ext uri="{FF2B5EF4-FFF2-40B4-BE49-F238E27FC236}">
                <a16:creationId xmlns:a16="http://schemas.microsoft.com/office/drawing/2014/main" id="{9813502A-52DE-4C3C-AD54-B8666D03D64B}"/>
              </a:ext>
            </a:extLst>
          </p:cNvPr>
          <p:cNvSpPr>
            <a:spLocks xmlns:a="http://schemas.openxmlformats.org/drawingml/2006/main" noGrp="1"/>
          </p:cNvSpPr>
          <p:nvPr/>
        </p:nvSpPr>
        <p:spPr>
          <a:xfrm xmlns:a="http://schemas.openxmlformats.org/drawingml/2006/main">
            <a:off x="5088636"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SIP + Comms</a:t>
            </a:r>
            <a:endParaRPr sz="1350"/>
          </a:p>
        </p:txBody>
      </p:sp>
      <p:sp>
        <p:nvSpPr>
          <p:cNvPr id="22" name="Text 19">
            <a:extLst xmlns:a="http://schemas.openxmlformats.org/drawingml/2006/main">
              <a:ext uri="{FF2B5EF4-FFF2-40B4-BE49-F238E27FC236}">
                <a16:creationId xmlns:a16="http://schemas.microsoft.com/office/drawing/2014/main" id="{80C9EF91-20BE-423F-B2BE-1740C8194D48}"/>
              </a:ext>
            </a:extLst>
          </p:cNvPr>
          <p:cNvSpPr>
            <a:spLocks xmlns:a="http://schemas.openxmlformats.org/drawingml/2006/main" noGrp="1"/>
          </p:cNvSpPr>
          <p:nvPr/>
        </p:nvSpPr>
        <p:spPr>
          <a:xfrm xmlns:a="http://schemas.openxmlformats.org/drawingml/2006/main">
            <a:off x="5088636"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Real data, review states</a:t>
            </a:r>
            <a:endParaRPr sz="1150"/>
          </a:p>
        </p:txBody>
      </p:sp>
      <p:sp>
        <p:nvSpPr>
          <p:cNvPr id="23" name="Text 20">
            <a:extLst xmlns:a="http://schemas.openxmlformats.org/drawingml/2006/main">
              <a:ext uri="{FF2B5EF4-FFF2-40B4-BE49-F238E27FC236}">
                <a16:creationId xmlns:a16="http://schemas.microsoft.com/office/drawing/2014/main" id="{067CA1CD-2D45-48C2-8E02-4578EE90A5E9}"/>
              </a:ext>
            </a:extLst>
          </p:cNvPr>
          <p:cNvSpPr>
            <a:spLocks xmlns:a="http://schemas.openxmlformats.org/drawingml/2006/main" noGrp="1"/>
          </p:cNvSpPr>
          <p:nvPr/>
        </p:nvSpPr>
        <p:spPr>
          <a:xfrm xmlns:a="http://schemas.openxmlformats.org/drawingml/2006/main">
            <a:off x="7221474"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8A94A8"/>
                </a:solidFill>
                <a:latin typeface="Arial"/>
                <a:ea typeface="Arial"/>
                <a:cs typeface="Arial"/>
              </a:rPr>
              <a:t>PUBLIC SITE</a:t>
            </a:r>
            <a:endParaRPr sz="1150"/>
          </a:p>
        </p:txBody>
      </p:sp>
      <p:sp>
        <p:nvSpPr>
          <p:cNvPr id="24" name="!!node4">
            <a:extLst xmlns:a="http://schemas.openxmlformats.org/drawingml/2006/main">
              <a:ext uri="{FF2B5EF4-FFF2-40B4-BE49-F238E27FC236}">
                <a16:creationId xmlns:a16="http://schemas.microsoft.com/office/drawing/2014/main" id="{0F691CE7-513F-4882-B05E-C461F488D0F1}"/>
              </a:ext>
            </a:extLst>
          </p:cNvPr>
          <p:cNvSpPr>
            <a:spLocks xmlns:a="http://schemas.openxmlformats.org/drawingml/2006/main" noGrp="1"/>
          </p:cNvSpPr>
          <p:nvPr/>
        </p:nvSpPr>
        <p:spPr>
          <a:xfrm xmlns:a="http://schemas.openxmlformats.org/drawingml/2006/main">
            <a:off x="8122158" y="3433572"/>
            <a:ext cx="210312" cy="210312"/>
          </a:xfrm>
          <a:prstGeom xmlns:a="http://schemas.openxmlformats.org/drawingml/2006/main" prst="ellipse">
            <a:avLst/>
          </a:prstGeom>
          <a:solidFill xmlns:a="http://schemas.openxmlformats.org/drawingml/2006/main">
            <a:srgbClr val="3A455C"/>
          </a:solidFill>
          <a:ln xmlns:a="http://schemas.openxmlformats.org/drawingml/2006/main" w="25400">
            <a:solidFill>
              <a:srgbClr val="0B0D12"/>
            </a:solidFill>
            <a:prstDash val="solid"/>
          </a:ln>
        </p:spPr>
      </p:sp>
      <p:sp>
        <p:nvSpPr>
          <p:cNvPr id="25" name="Text 22">
            <a:extLst xmlns:a="http://schemas.openxmlformats.org/drawingml/2006/main">
              <a:ext uri="{FF2B5EF4-FFF2-40B4-BE49-F238E27FC236}">
                <a16:creationId xmlns:a16="http://schemas.microsoft.com/office/drawing/2014/main" id="{07A44B03-7F32-44FA-A00E-88018B710BEA}"/>
              </a:ext>
            </a:extLst>
          </p:cNvPr>
          <p:cNvSpPr>
            <a:spLocks xmlns:a="http://schemas.openxmlformats.org/drawingml/2006/main" noGrp="1"/>
          </p:cNvSpPr>
          <p:nvPr/>
        </p:nvSpPr>
        <p:spPr>
          <a:xfrm xmlns:a="http://schemas.openxmlformats.org/drawingml/2006/main">
            <a:off x="7221474"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Wix rebuild</a:t>
            </a:r>
            <a:endParaRPr sz="1350"/>
          </a:p>
        </p:txBody>
      </p:sp>
      <p:sp>
        <p:nvSpPr>
          <p:cNvPr id="26" name="Text 23">
            <a:extLst xmlns:a="http://schemas.openxmlformats.org/drawingml/2006/main">
              <a:ext uri="{FF2B5EF4-FFF2-40B4-BE49-F238E27FC236}">
                <a16:creationId xmlns:a16="http://schemas.microsoft.com/office/drawing/2014/main" id="{1D00268A-1A82-4971-9B3F-503B03D097E0}"/>
              </a:ext>
            </a:extLst>
          </p:cNvPr>
          <p:cNvSpPr>
            <a:spLocks xmlns:a="http://schemas.openxmlformats.org/drawingml/2006/main" noGrp="1"/>
          </p:cNvSpPr>
          <p:nvPr/>
        </p:nvSpPr>
        <p:spPr>
          <a:xfrm xmlns:a="http://schemas.openxmlformats.org/drawingml/2006/main">
            <a:off x="7221474"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Content, mobile, navigation</a:t>
            </a:r>
            <a:endParaRPr sz="1150"/>
          </a:p>
        </p:txBody>
      </p:sp>
      <p:sp>
        <p:nvSpPr>
          <p:cNvPr id="27" name="Text 24">
            <a:extLst xmlns:a="http://schemas.openxmlformats.org/drawingml/2006/main">
              <a:ext uri="{FF2B5EF4-FFF2-40B4-BE49-F238E27FC236}">
                <a16:creationId xmlns:a16="http://schemas.microsoft.com/office/drawing/2014/main" id="{22499DF4-EE03-423C-8897-05B5B09D7475}"/>
              </a:ext>
            </a:extLst>
          </p:cNvPr>
          <p:cNvSpPr>
            <a:spLocks xmlns:a="http://schemas.openxmlformats.org/drawingml/2006/main" noGrp="1"/>
          </p:cNvSpPr>
          <p:nvPr/>
        </p:nvSpPr>
        <p:spPr>
          <a:xfrm xmlns:a="http://schemas.openxmlformats.org/drawingml/2006/main">
            <a:off x="9354312" y="2944368"/>
            <a:ext cx="2011680"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50" b="1" spc="200">
                <a:solidFill>
                  <a:srgbClr val="FF6B35"/>
                </a:solidFill>
                <a:latin typeface="Arial"/>
                <a:ea typeface="Arial"/>
                <a:cs typeface="Arial"/>
              </a:rPr>
              <a:t>VALIDATE</a:t>
            </a:r>
            <a:endParaRPr sz="1150"/>
          </a:p>
        </p:txBody>
      </p:sp>
      <p:sp>
        <p:nvSpPr>
          <p:cNvPr id="28" name="!!node5">
            <a:extLst xmlns:a="http://schemas.openxmlformats.org/drawingml/2006/main">
              <a:ext uri="{FF2B5EF4-FFF2-40B4-BE49-F238E27FC236}">
                <a16:creationId xmlns:a16="http://schemas.microsoft.com/office/drawing/2014/main" id="{EA93324C-1EBD-4996-9749-A0B6CBCF2825}"/>
              </a:ext>
            </a:extLst>
          </p:cNvPr>
          <p:cNvSpPr>
            <a:spLocks xmlns:a="http://schemas.openxmlformats.org/drawingml/2006/main" noGrp="1"/>
          </p:cNvSpPr>
          <p:nvPr/>
        </p:nvSpPr>
        <p:spPr>
          <a:xfrm xmlns:a="http://schemas.openxmlformats.org/drawingml/2006/main">
            <a:off x="10254996" y="3433572"/>
            <a:ext cx="210312" cy="210312"/>
          </a:xfrm>
          <a:prstGeom xmlns:a="http://schemas.openxmlformats.org/drawingml/2006/main" prst="ellipse">
            <a:avLst/>
          </a:prstGeom>
          <a:solidFill xmlns:a="http://schemas.openxmlformats.org/drawingml/2006/main">
            <a:srgbClr val="FF6B35"/>
          </a:solidFill>
          <a:ln xmlns:a="http://schemas.openxmlformats.org/drawingml/2006/main" w="25400">
            <a:solidFill>
              <a:srgbClr val="0B0D12"/>
            </a:solidFill>
            <a:prstDash val="solid"/>
          </a:ln>
        </p:spPr>
      </p:sp>
      <p:sp>
        <p:nvSpPr>
          <p:cNvPr id="29" name="Text 26">
            <a:extLst xmlns:a="http://schemas.openxmlformats.org/drawingml/2006/main">
              <a:ext uri="{FF2B5EF4-FFF2-40B4-BE49-F238E27FC236}">
                <a16:creationId xmlns:a16="http://schemas.microsoft.com/office/drawing/2014/main" id="{F76F70D7-E1B4-46DB-BBBC-F23012D6BE13}"/>
              </a:ext>
            </a:extLst>
          </p:cNvPr>
          <p:cNvSpPr>
            <a:spLocks xmlns:a="http://schemas.openxmlformats.org/drawingml/2006/main" noGrp="1"/>
          </p:cNvSpPr>
          <p:nvPr/>
        </p:nvSpPr>
        <p:spPr>
          <a:xfrm xmlns:a="http://schemas.openxmlformats.org/drawingml/2006/main">
            <a:off x="9354312" y="3858768"/>
            <a:ext cx="2011680" cy="34747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350" b="1">
                <a:solidFill>
                  <a:srgbClr val="EEF2F8"/>
                </a:solidFill>
                <a:latin typeface="Arial"/>
                <a:ea typeface="Arial"/>
                <a:cs typeface="Arial"/>
              </a:rPr>
              <a:t>UAT + readiness</a:t>
            </a:r>
            <a:endParaRPr sz="1350"/>
          </a:p>
        </p:txBody>
      </p:sp>
      <p:sp>
        <p:nvSpPr>
          <p:cNvPr id="30" name="Text 27">
            <a:extLst xmlns:a="http://schemas.openxmlformats.org/drawingml/2006/main">
              <a:ext uri="{FF2B5EF4-FFF2-40B4-BE49-F238E27FC236}">
                <a16:creationId xmlns:a16="http://schemas.microsoft.com/office/drawing/2014/main" id="{3069E149-6362-4325-873F-EAD28F17D98A}"/>
              </a:ext>
            </a:extLst>
          </p:cNvPr>
          <p:cNvSpPr>
            <a:spLocks xmlns:a="http://schemas.openxmlformats.org/drawingml/2006/main" noGrp="1"/>
          </p:cNvSpPr>
          <p:nvPr/>
        </p:nvSpPr>
        <p:spPr>
          <a:xfrm xmlns:a="http://schemas.openxmlformats.org/drawingml/2006/main">
            <a:off x="9354312" y="4224528"/>
            <a:ext cx="201168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1700"/>
              </a:lnSpc>
              <a:buNone/>
            </a:pPr>
            <a:r>
              <a:rPr sz="1150">
                <a:solidFill>
                  <a:srgbClr val="8A94A8"/>
                </a:solidFill>
                <a:latin typeface="Arial"/>
                <a:ea typeface="Arial"/>
                <a:cs typeface="Arial"/>
              </a:rPr>
              <a:t>Close evidence gaps first</a:t>
            </a:r>
            <a:endParaRPr sz="1150"/>
          </a:p>
        </p:txBody>
      </p:sp>
    </p:spTree>
    <p:extLst>
      <p:ext uri="{BB962C8B-B14F-4D97-AF65-F5344CB8AC3E}">
        <p14:creationId xmlns:p14="http://schemas.microsoft.com/office/powerpoint/2010/main" val="813453339"/>
      </p:ext>
    </p:extLst>
  </p:cSld>
  <mc:AlternateContent xmlns:mc="http://schemas.openxmlformats.org/markup-compatibility/2006">
    <mc:Choice xmlns:p159="http://schemas.microsoft.com/office/powerpoint/2015/09/main" Requires="p159">
      <p:transition xmlns:p14="http://schemas.microsoft.com/office/powerpoint/2010/main" spd="slow" advClick="1" advTm="5500" p14:dur="1500">
        <p159:morph option="byObject"/>
      </p:transition>
    </mc:Choice>
    <mc:Fallback>
      <p:transition spd="slow" advClick="1" advTm="5500">
        <p:fade/>
      </p:transition>
    </mc:Fallback>
  </mc:AlternateContent>
</p:sld>
</file>

<file path=ppt/slides/slide12.xml><?xml version="1.0" encoding="utf-8"?>
<p:sld xmlns:p="http://schemas.openxmlformats.org/presentationml/2006/main">
  <p:cSld>
    <p:bg>
      <p:bgPr>
        <a:blipFill xmlns:a="http://schemas.openxmlformats.org/drawingml/2006/main" rotWithShape="1">
          <a:blip xmlns:r="http://schemas.openxmlformats.org/officeDocument/2006/relationships" r:embed="Rbba0d1dde3ad4e98">
            <a:lum/>
          </a:blip>
          <a:srcRect l="0" t="0" r="0" b="0"/>
          <a:stretch>
            <a:fillRect l="0" t="0" r="0" b="0"/>
          </a:stretch>
        </a:blipFill>
      </p:bgPr>
    </p:bg>
    <p:spTree>
      <p:nvGrpSpPr>
        <p:cNvPr id="1" name=""/>
        <p:cNvGrpSpPr/>
        <p:nvPr/>
      </p:nvGrpSpPr>
      <p:grpSpPr>
        <a:xfrm xmlns:a="http://schemas.openxmlformats.org/drawingml/2006/main"/>
      </p:grpSpPr>
      <p:pic>
        <p:nvPicPr>
          <p:cNvPr id="22" name="!!orb"/>
          <p:cNvPicPr>
            <a:picLocks xmlns:a="http://schemas.openxmlformats.org/drawingml/2006/main" noChangeAspect="1"/>
          </p:cNvPicPr>
          <p:nvPr/>
        </p:nvPicPr>
        <p:blipFill>
          <a:blip xmlns:r="http://schemas.openxmlformats.org/officeDocument/2006/relationships" xmlns:a="http://schemas.openxmlformats.org/drawingml/2006/main" r:embed="R7de24e964b304d3e"/>
          <a:stretch xmlns:a="http://schemas.openxmlformats.org/drawingml/2006/main">
            <a:fillRect l="0" t="0" r="0" b="0"/>
          </a:stretch>
        </p:blipFill>
        <p:spPr>
          <a:xfrm xmlns:a="http://schemas.openxmlformats.org/drawingml/2006/main">
            <a:off x="8595360" y="3840480"/>
            <a:ext cx="5120640" cy="51206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5B0AFBF4-4949-4475-B413-6D12D6A703A1}"/>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B12895FB-F4F7-4A0A-9395-6EABE9B1B4D3}"/>
              </a:ext>
            </a:extLst>
          </p:cNvPr>
          <p:cNvSpPr>
            <a:spLocks xmlns:a="http://schemas.openxmlformats.org/drawingml/2006/main" noGrp="1"/>
          </p:cNvSpPr>
          <p:nvPr/>
        </p:nvSpPr>
        <p:spPr>
          <a:xfrm xmlns:a="http://schemas.openxmlformats.org/drawingml/2006/main">
            <a:off x="822960" y="6446520"/>
            <a:ext cx="6267153"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6EE228E7-BD14-4630-B0BC-FFF95AB383F3}"/>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2E2F3CE2-26D5-4183-BEAA-0B51E4160ECB}"/>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ITERATIVE CONTROL LOOP</a:t>
            </a:r>
            <a:endParaRPr sz="900"/>
          </a:p>
        </p:txBody>
      </p:sp>
      <p:sp>
        <p:nvSpPr>
          <p:cNvPr id="7" name="pageno">
            <a:extLst xmlns:a="http://schemas.openxmlformats.org/drawingml/2006/main">
              <a:ext uri="{FF2B5EF4-FFF2-40B4-BE49-F238E27FC236}">
                <a16:creationId xmlns:a16="http://schemas.microsoft.com/office/drawing/2014/main" id="{4098311E-B717-40F3-92CB-9FB021436330}"/>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12 / 20</a:t>
            </a:r>
            <a:endParaRPr sz="900"/>
          </a:p>
        </p:txBody>
      </p:sp>
      <p:sp>
        <p:nvSpPr>
          <p:cNvPr id="8" name="Text 5">
            <a:extLst xmlns:a="http://schemas.openxmlformats.org/drawingml/2006/main">
              <a:ext uri="{FF2B5EF4-FFF2-40B4-BE49-F238E27FC236}">
                <a16:creationId xmlns:a16="http://schemas.microsoft.com/office/drawing/2014/main" id="{380638A5-28C0-4E23-B684-921A9530FA0D}"/>
              </a:ext>
            </a:extLst>
          </p:cNvPr>
          <p:cNvSpPr>
            <a:spLocks xmlns:a="http://schemas.openxmlformats.org/drawingml/2006/main" noGrp="1"/>
          </p:cNvSpPr>
          <p:nvPr/>
        </p:nvSpPr>
        <p:spPr>
          <a:xfrm xmlns:a="http://schemas.openxmlformats.org/drawingml/2006/main">
            <a:off x="822960" y="1115568"/>
            <a:ext cx="73152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Continuous feedback keeps trust intact</a:t>
            </a:r>
            <a:endParaRPr sz="2700"/>
          </a:p>
        </p:txBody>
      </p:sp>
      <p:sp>
        <p:nvSpPr>
          <p:cNvPr id="9" name="!!step1">
            <a:extLst xmlns:a="http://schemas.openxmlformats.org/drawingml/2006/main">
              <a:ext uri="{FF2B5EF4-FFF2-40B4-BE49-F238E27FC236}">
                <a16:creationId xmlns:a16="http://schemas.microsoft.com/office/drawing/2014/main" id="{3A5CB5A2-4A35-4E60-AEB7-AF291EA1130E}"/>
              </a:ext>
            </a:extLst>
          </p:cNvPr>
          <p:cNvSpPr>
            <a:spLocks xmlns:a="http://schemas.openxmlformats.org/drawingml/2006/main" noGrp="1"/>
          </p:cNvSpPr>
          <p:nvPr/>
        </p:nvSpPr>
        <p:spPr>
          <a:xfrm xmlns:a="http://schemas.openxmlformats.org/drawingml/2006/main">
            <a:off x="82296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FF6B35"/>
                </a:solidFill>
                <a:latin typeface="Arial"/>
                <a:ea typeface="Arial"/>
                <a:cs typeface="Arial"/>
              </a:rPr>
              <a:t>01</a:t>
            </a:r>
            <a:endParaRPr sz="5400"/>
          </a:p>
        </p:txBody>
      </p:sp>
      <p:sp>
        <p:nvSpPr>
          <p:cNvPr id="10" name="Text 7">
            <a:extLst xmlns:a="http://schemas.openxmlformats.org/drawingml/2006/main">
              <a:ext uri="{FF2B5EF4-FFF2-40B4-BE49-F238E27FC236}">
                <a16:creationId xmlns:a16="http://schemas.microsoft.com/office/drawing/2014/main" id="{22596A8A-21CA-4AEC-9F45-3D3A8B7D37C1}"/>
              </a:ext>
            </a:extLst>
          </p:cNvPr>
          <p:cNvSpPr>
            <a:spLocks xmlns:a="http://schemas.openxmlformats.org/drawingml/2006/main" noGrp="1"/>
          </p:cNvSpPr>
          <p:nvPr/>
        </p:nvSpPr>
        <p:spPr>
          <a:xfrm xmlns:a="http://schemas.openxmlformats.org/drawingml/2006/main">
            <a:off x="82296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Source evidence</a:t>
            </a:r>
            <a:endParaRPr sz="1600"/>
          </a:p>
        </p:txBody>
      </p:sp>
      <p:sp>
        <p:nvSpPr>
          <p:cNvPr id="11" name="Text 8">
            <a:extLst xmlns:a="http://schemas.openxmlformats.org/drawingml/2006/main">
              <a:ext uri="{FF2B5EF4-FFF2-40B4-BE49-F238E27FC236}">
                <a16:creationId xmlns:a16="http://schemas.microsoft.com/office/drawing/2014/main" id="{38ADC785-DE34-4309-9247-31453C7CA65B}"/>
              </a:ext>
            </a:extLst>
          </p:cNvPr>
          <p:cNvSpPr>
            <a:spLocks xmlns:a="http://schemas.openxmlformats.org/drawingml/2006/main" noGrp="1"/>
          </p:cNvSpPr>
          <p:nvPr/>
        </p:nvSpPr>
        <p:spPr>
          <a:xfrm xmlns:a="http://schemas.openxmlformats.org/drawingml/2006/main">
            <a:off x="82296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Dated sources, collectors and approved facts.</a:t>
            </a:r>
            <a:endParaRPr sz="1200"/>
          </a:p>
        </p:txBody>
      </p:sp>
      <p:sp>
        <p:nvSpPr>
          <p:cNvPr id="12" name="!!step2">
            <a:extLst xmlns:a="http://schemas.openxmlformats.org/drawingml/2006/main">
              <a:ext uri="{FF2B5EF4-FFF2-40B4-BE49-F238E27FC236}">
                <a16:creationId xmlns:a16="http://schemas.microsoft.com/office/drawing/2014/main" id="{89405D4E-3EE1-4FF0-A8FB-0D292A716CF3}"/>
              </a:ext>
            </a:extLst>
          </p:cNvPr>
          <p:cNvSpPr>
            <a:spLocks xmlns:a="http://schemas.openxmlformats.org/drawingml/2006/main" noGrp="1"/>
          </p:cNvSpPr>
          <p:nvPr/>
        </p:nvSpPr>
        <p:spPr>
          <a:xfrm xmlns:a="http://schemas.openxmlformats.org/drawingml/2006/main">
            <a:off x="352044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1F2735"/>
                </a:solidFill>
                <a:latin typeface="Arial"/>
                <a:ea typeface="Arial"/>
                <a:cs typeface="Arial"/>
              </a:rPr>
              <a:t>02</a:t>
            </a:r>
            <a:endParaRPr sz="5400"/>
          </a:p>
        </p:txBody>
      </p:sp>
      <p:sp>
        <p:nvSpPr>
          <p:cNvPr id="13" name="Text 10">
            <a:extLst xmlns:a="http://schemas.openxmlformats.org/drawingml/2006/main">
              <a:ext uri="{FF2B5EF4-FFF2-40B4-BE49-F238E27FC236}">
                <a16:creationId xmlns:a16="http://schemas.microsoft.com/office/drawing/2014/main" id="{D31BE8E0-8D18-478B-A0B8-04513390457F}"/>
              </a:ext>
            </a:extLst>
          </p:cNvPr>
          <p:cNvSpPr>
            <a:spLocks xmlns:a="http://schemas.openxmlformats.org/drawingml/2006/main" noGrp="1"/>
          </p:cNvSpPr>
          <p:nvPr/>
        </p:nvSpPr>
        <p:spPr>
          <a:xfrm xmlns:a="http://schemas.openxmlformats.org/drawingml/2006/main">
            <a:off x="352044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Encode in contracts</a:t>
            </a:r>
            <a:endParaRPr sz="1600"/>
          </a:p>
        </p:txBody>
      </p:sp>
      <p:sp>
        <p:nvSpPr>
          <p:cNvPr id="14" name="Text 11">
            <a:extLst xmlns:a="http://schemas.openxmlformats.org/drawingml/2006/main">
              <a:ext uri="{FF2B5EF4-FFF2-40B4-BE49-F238E27FC236}">
                <a16:creationId xmlns:a16="http://schemas.microsoft.com/office/drawing/2014/main" id="{98133F8F-3857-40AD-85A7-6D200DC62D9C}"/>
              </a:ext>
            </a:extLst>
          </p:cNvPr>
          <p:cNvSpPr>
            <a:spLocks xmlns:a="http://schemas.openxmlformats.org/drawingml/2006/main" noGrp="1"/>
          </p:cNvSpPr>
          <p:nvPr/>
        </p:nvSpPr>
        <p:spPr>
          <a:xfrm xmlns:a="http://schemas.openxmlformats.org/drawingml/2006/main">
            <a:off x="352044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FTA services, scoring and generated APIs.</a:t>
            </a:r>
            <a:endParaRPr sz="1200"/>
          </a:p>
        </p:txBody>
      </p:sp>
      <p:sp>
        <p:nvSpPr>
          <p:cNvPr id="15" name="!!step3">
            <a:extLst xmlns:a="http://schemas.openxmlformats.org/drawingml/2006/main">
              <a:ext uri="{FF2B5EF4-FFF2-40B4-BE49-F238E27FC236}">
                <a16:creationId xmlns:a16="http://schemas.microsoft.com/office/drawing/2014/main" id="{38C68388-A34C-4905-99FC-C75C060E0DAD}"/>
              </a:ext>
            </a:extLst>
          </p:cNvPr>
          <p:cNvSpPr>
            <a:spLocks xmlns:a="http://schemas.openxmlformats.org/drawingml/2006/main" noGrp="1"/>
          </p:cNvSpPr>
          <p:nvPr/>
        </p:nvSpPr>
        <p:spPr>
          <a:xfrm xmlns:a="http://schemas.openxmlformats.org/drawingml/2006/main">
            <a:off x="621792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1F2735"/>
                </a:solidFill>
                <a:latin typeface="Arial"/>
                <a:ea typeface="Arial"/>
                <a:cs typeface="Arial"/>
              </a:rPr>
              <a:t>03</a:t>
            </a:r>
            <a:endParaRPr sz="5400"/>
          </a:p>
        </p:txBody>
      </p:sp>
      <p:sp>
        <p:nvSpPr>
          <p:cNvPr id="16" name="Text 13">
            <a:extLst xmlns:a="http://schemas.openxmlformats.org/drawingml/2006/main">
              <a:ext uri="{FF2B5EF4-FFF2-40B4-BE49-F238E27FC236}">
                <a16:creationId xmlns:a16="http://schemas.microsoft.com/office/drawing/2014/main" id="{53844360-9805-47A8-89C7-64C96B4EE118}"/>
              </a:ext>
            </a:extLst>
          </p:cNvPr>
          <p:cNvSpPr>
            <a:spLocks xmlns:a="http://schemas.openxmlformats.org/drawingml/2006/main" noGrp="1"/>
          </p:cNvSpPr>
          <p:nvPr/>
        </p:nvSpPr>
        <p:spPr>
          <a:xfrm xmlns:a="http://schemas.openxmlformats.org/drawingml/2006/main">
            <a:off x="621792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Review by a human</a:t>
            </a:r>
            <a:endParaRPr sz="1600"/>
          </a:p>
        </p:txBody>
      </p:sp>
      <p:sp>
        <p:nvSpPr>
          <p:cNvPr id="17" name="Text 14">
            <a:extLst xmlns:a="http://schemas.openxmlformats.org/drawingml/2006/main">
              <a:ext uri="{FF2B5EF4-FFF2-40B4-BE49-F238E27FC236}">
                <a16:creationId xmlns:a16="http://schemas.microsoft.com/office/drawing/2014/main" id="{2C84E244-1182-4170-A523-28DF65646350}"/>
              </a:ext>
            </a:extLst>
          </p:cNvPr>
          <p:cNvSpPr>
            <a:spLocks xmlns:a="http://schemas.openxmlformats.org/drawingml/2006/main" noGrp="1"/>
          </p:cNvSpPr>
          <p:nvPr/>
        </p:nvSpPr>
        <p:spPr>
          <a:xfrm xmlns:a="http://schemas.openxmlformats.org/drawingml/2006/main">
            <a:off x="621792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Named approval, QA and refusal paths.</a:t>
            </a:r>
            <a:endParaRPr sz="1200"/>
          </a:p>
        </p:txBody>
      </p:sp>
      <p:sp>
        <p:nvSpPr>
          <p:cNvPr id="18" name="!!step4">
            <a:extLst xmlns:a="http://schemas.openxmlformats.org/drawingml/2006/main">
              <a:ext uri="{FF2B5EF4-FFF2-40B4-BE49-F238E27FC236}">
                <a16:creationId xmlns:a16="http://schemas.microsoft.com/office/drawing/2014/main" id="{5FBF9E63-E96D-4D25-A8F0-C5181DBBEC44}"/>
              </a:ext>
            </a:extLst>
          </p:cNvPr>
          <p:cNvSpPr>
            <a:spLocks xmlns:a="http://schemas.openxmlformats.org/drawingml/2006/main" noGrp="1"/>
          </p:cNvSpPr>
          <p:nvPr/>
        </p:nvSpPr>
        <p:spPr>
          <a:xfrm xmlns:a="http://schemas.openxmlformats.org/drawingml/2006/main">
            <a:off x="8915400" y="2286000"/>
            <a:ext cx="2432304"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5400" b="1" spc="-200">
                <a:solidFill>
                  <a:srgbClr val="1F2735"/>
                </a:solidFill>
                <a:latin typeface="Arial"/>
                <a:ea typeface="Arial"/>
                <a:cs typeface="Arial"/>
              </a:rPr>
              <a:t>04</a:t>
            </a:r>
            <a:endParaRPr sz="5400"/>
          </a:p>
        </p:txBody>
      </p:sp>
      <p:sp>
        <p:nvSpPr>
          <p:cNvPr id="19" name="Text 16">
            <a:extLst xmlns:a="http://schemas.openxmlformats.org/drawingml/2006/main">
              <a:ext uri="{FF2B5EF4-FFF2-40B4-BE49-F238E27FC236}">
                <a16:creationId xmlns:a16="http://schemas.microsoft.com/office/drawing/2014/main" id="{CAAE191E-03B3-432D-A5F1-8B5AB5B1FC28}"/>
              </a:ext>
            </a:extLst>
          </p:cNvPr>
          <p:cNvSpPr>
            <a:spLocks xmlns:a="http://schemas.openxmlformats.org/drawingml/2006/main" noGrp="1"/>
          </p:cNvSpPr>
          <p:nvPr/>
        </p:nvSpPr>
        <p:spPr>
          <a:xfrm xmlns:a="http://schemas.openxmlformats.org/drawingml/2006/main">
            <a:off x="8915400" y="3456432"/>
            <a:ext cx="2432304"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600" b="1">
                <a:solidFill>
                  <a:srgbClr val="EEF2F8"/>
                </a:solidFill>
                <a:latin typeface="Arial"/>
                <a:ea typeface="Arial"/>
                <a:cs typeface="Arial"/>
              </a:rPr>
              <a:t>Authorised release</a:t>
            </a:r>
            <a:endParaRPr sz="1600"/>
          </a:p>
        </p:txBody>
      </p:sp>
      <p:sp>
        <p:nvSpPr>
          <p:cNvPr id="20" name="Text 17">
            <a:extLst xmlns:a="http://schemas.openxmlformats.org/drawingml/2006/main">
              <a:ext uri="{FF2B5EF4-FFF2-40B4-BE49-F238E27FC236}">
                <a16:creationId xmlns:a16="http://schemas.microsoft.com/office/drawing/2014/main" id="{E6609B18-2918-451F-A754-7D6BE0EF5F6D}"/>
              </a:ext>
            </a:extLst>
          </p:cNvPr>
          <p:cNvSpPr>
            <a:spLocks xmlns:a="http://schemas.openxmlformats.org/drawingml/2006/main" noGrp="1"/>
          </p:cNvSpPr>
          <p:nvPr/>
        </p:nvSpPr>
        <p:spPr>
          <a:xfrm xmlns:a="http://schemas.openxmlformats.org/drawingml/2006/main">
            <a:off x="8915400" y="3840480"/>
            <a:ext cx="243230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200">
                <a:solidFill>
                  <a:srgbClr val="8A94A8"/>
                </a:solidFill>
                <a:latin typeface="Arial"/>
                <a:ea typeface="Arial"/>
                <a:cs typeface="Arial"/>
              </a:rPr>
              <a:t>Default is off. UAT and approval open it.</a:t>
            </a:r>
            <a:endParaRPr sz="1200"/>
          </a:p>
        </p:txBody>
      </p:sp>
    </p:spTree>
    <p:extLst>
      <p:ext uri="{BB962C8B-B14F-4D97-AF65-F5344CB8AC3E}">
        <p14:creationId xmlns:p14="http://schemas.microsoft.com/office/powerpoint/2010/main" val="187412510"/>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400">
        <p159:morph option="byObject"/>
      </p:transition>
    </mc:Choice>
    <mc:Fallback>
      <p:transition spd="slow" advClick="1" advTm="5000">
        <p:fade/>
      </p:transition>
    </mc:Fallback>
  </mc:AlternateContent>
</p:sld>
</file>

<file path=ppt/slides/slide13.xml><?xml version="1.0" encoding="utf-8"?>
<p:sld xmlns:p="http://schemas.openxmlformats.org/presentationml/2006/main">
  <p:cSld>
    <p:bg>
      <p:bgPr>
        <a:blipFill xmlns:a="http://schemas.openxmlformats.org/drawingml/2006/main" rotWithShape="1">
          <a:blip xmlns:r="http://schemas.openxmlformats.org/officeDocument/2006/relationships" r:embed="Rb6fa37172d394c0d">
            <a:lum/>
          </a:blip>
          <a:srcRect l="0" t="0" r="0" b="0"/>
          <a:stretch>
            <a:fillRect l="0" t="0" r="0" b="0"/>
          </a:stretch>
        </a:blipFill>
      </p:bgPr>
    </p:bg>
    <p:spTree>
      <p:nvGrpSpPr>
        <p:cNvPr id="1" name=""/>
        <p:cNvGrpSpPr/>
        <p:nvPr/>
      </p:nvGrpSpPr>
      <p:grpSpPr>
        <a:xfrm xmlns:a="http://schemas.openxmlformats.org/drawingml/2006/main"/>
      </p:grpSpPr>
      <p:pic>
        <p:nvPicPr>
          <p:cNvPr id="26" name="!!orb"/>
          <p:cNvPicPr>
            <a:picLocks xmlns:a="http://schemas.openxmlformats.org/drawingml/2006/main" noChangeAspect="1"/>
          </p:cNvPicPr>
          <p:nvPr/>
        </p:nvPicPr>
        <p:blipFill>
          <a:blip xmlns:r="http://schemas.openxmlformats.org/officeDocument/2006/relationships" xmlns:a="http://schemas.openxmlformats.org/drawingml/2006/main" r:embed="Rc0d31956d7624842"/>
          <a:stretch xmlns:a="http://schemas.openxmlformats.org/drawingml/2006/main">
            <a:fillRect l="0" t="0" r="0" b="0"/>
          </a:stretch>
        </p:blipFill>
        <p:spPr>
          <a:xfrm xmlns:a="http://schemas.openxmlformats.org/drawingml/2006/main">
            <a:off x="8046720" y="-1280160"/>
            <a:ext cx="5486400" cy="548640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F5C7E6C3-F43B-4E26-B704-8737112F506C}"/>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C8A39A1D-C31B-4CFE-8FFD-B769EEF502A4}"/>
              </a:ext>
            </a:extLst>
          </p:cNvPr>
          <p:cNvSpPr>
            <a:spLocks xmlns:a="http://schemas.openxmlformats.org/drawingml/2006/main" noGrp="1"/>
          </p:cNvSpPr>
          <p:nvPr/>
        </p:nvSpPr>
        <p:spPr>
          <a:xfrm xmlns:a="http://schemas.openxmlformats.org/drawingml/2006/main">
            <a:off x="822960" y="6446520"/>
            <a:ext cx="6801981"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CEB1ED6A-5562-4DDE-84FB-B2877CC851F1}"/>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16D4BC4B-B93C-4ED0-BAE8-30B61058A852}"/>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BEFORE AND AFTER</a:t>
            </a:r>
            <a:endParaRPr sz="900"/>
          </a:p>
        </p:txBody>
      </p:sp>
      <p:sp>
        <p:nvSpPr>
          <p:cNvPr id="7" name="pageno">
            <a:extLst xmlns:a="http://schemas.openxmlformats.org/drawingml/2006/main">
              <a:ext uri="{FF2B5EF4-FFF2-40B4-BE49-F238E27FC236}">
                <a16:creationId xmlns:a16="http://schemas.microsoft.com/office/drawing/2014/main" id="{B2D13A0B-10DD-4B1B-ABF9-C34084521260}"/>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13 / 20</a:t>
            </a:r>
            <a:endParaRPr sz="900"/>
          </a:p>
        </p:txBody>
      </p:sp>
      <p:sp>
        <p:nvSpPr>
          <p:cNvPr id="8" name="Text 5">
            <a:extLst xmlns:a="http://schemas.openxmlformats.org/drawingml/2006/main">
              <a:ext uri="{FF2B5EF4-FFF2-40B4-BE49-F238E27FC236}">
                <a16:creationId xmlns:a16="http://schemas.microsoft.com/office/drawing/2014/main" id="{3B662058-C149-4D0D-9D98-2B9BBFC2E909}"/>
              </a:ext>
            </a:extLst>
          </p:cNvPr>
          <p:cNvSpPr>
            <a:spLocks xmlns:a="http://schemas.openxmlformats.org/drawingml/2006/main" noGrp="1"/>
          </p:cNvSpPr>
          <p:nvPr/>
        </p:nvSpPr>
        <p:spPr>
          <a:xfrm xmlns:a="http://schemas.openxmlformats.org/drawingml/2006/main">
            <a:off x="822960" y="1115568"/>
            <a:ext cx="77724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Double-loop learning changed the rules</a:t>
            </a:r>
            <a:endParaRPr sz="2700"/>
          </a:p>
        </p:txBody>
      </p:sp>
      <p:sp>
        <p:nvSpPr>
          <p:cNvPr id="9" name="!!panelTODAY">
            <a:extLst xmlns:a="http://schemas.openxmlformats.org/drawingml/2006/main">
              <a:ext uri="{FF2B5EF4-FFF2-40B4-BE49-F238E27FC236}">
                <a16:creationId xmlns:a16="http://schemas.microsoft.com/office/drawing/2014/main" id="{FDCA0E0B-10F4-4666-860F-7BBF6B7DDE5F}"/>
              </a:ext>
            </a:extLst>
          </p:cNvPr>
          <p:cNvSpPr>
            <a:spLocks xmlns:a="http://schemas.openxmlformats.org/drawingml/2006/main" noGrp="1"/>
          </p:cNvSpPr>
          <p:nvPr/>
        </p:nvSpPr>
        <p:spPr>
          <a:xfrm xmlns:a="http://schemas.openxmlformats.org/drawingml/2006/main">
            <a:off x="822960" y="2148840"/>
            <a:ext cx="4937760" cy="3703320"/>
          </a:xfrm>
          <a:prstGeom xmlns:a="http://schemas.openxmlformats.org/drawingml/2006/main" prst="roundRect">
            <a:avLst>
              <a:gd name="adj" fmla="val 2963"/>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0" name="Text 7">
            <a:extLst xmlns:a="http://schemas.openxmlformats.org/drawingml/2006/main">
              <a:ext uri="{FF2B5EF4-FFF2-40B4-BE49-F238E27FC236}">
                <a16:creationId xmlns:a16="http://schemas.microsoft.com/office/drawing/2014/main" id="{C6D906B9-8FB0-43A8-B449-964EA5567E83}"/>
              </a:ext>
            </a:extLst>
          </p:cNvPr>
          <p:cNvSpPr>
            <a:spLocks xmlns:a="http://schemas.openxmlformats.org/drawingml/2006/main" noGrp="1"/>
          </p:cNvSpPr>
          <p:nvPr/>
        </p:nvSpPr>
        <p:spPr>
          <a:xfrm xmlns:a="http://schemas.openxmlformats.org/drawingml/2006/main">
            <a:off x="1207008" y="2487168"/>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500">
                <a:solidFill>
                  <a:srgbClr val="8A94A8"/>
                </a:solidFill>
                <a:latin typeface="Arial"/>
                <a:ea typeface="Arial"/>
                <a:cs typeface="Arial"/>
              </a:rPr>
              <a:t>STARTING POINT</a:t>
            </a:r>
            <a:endParaRPr sz="1000"/>
          </a:p>
        </p:txBody>
      </p:sp>
      <p:sp>
        <p:nvSpPr>
          <p:cNvPr id="11" name="Shape 8">
            <a:extLst xmlns:a="http://schemas.openxmlformats.org/drawingml/2006/main">
              <a:ext uri="{FF2B5EF4-FFF2-40B4-BE49-F238E27FC236}">
                <a16:creationId xmlns:a16="http://schemas.microsoft.com/office/drawing/2014/main" id="{6202C71F-A00A-4D36-985D-1E65C8C64638}"/>
              </a:ext>
            </a:extLst>
          </p:cNvPr>
          <p:cNvSpPr>
            <a:spLocks xmlns:a="http://schemas.openxmlformats.org/drawingml/2006/main" noGrp="1"/>
          </p:cNvSpPr>
          <p:nvPr/>
        </p:nvSpPr>
        <p:spPr>
          <a:xfrm xmlns:a="http://schemas.openxmlformats.org/drawingml/2006/main" rot="2700000">
            <a:off x="1207008" y="3255264"/>
            <a:ext cx="91440" cy="91440"/>
          </a:xfrm>
          <a:prstGeom xmlns:a="http://schemas.openxmlformats.org/drawingml/2006/main" prst="rect">
            <a:avLst/>
          </a:prstGeom>
          <a:solidFill xmlns:a="http://schemas.openxmlformats.org/drawingml/2006/main">
            <a:srgbClr val="3A455C"/>
          </a:solidFill>
          <a:ln xmlns:a="http://schemas.openxmlformats.org/drawingml/2006/main" w="12700">
            <a:solidFill>
              <a:srgbClr val="3A455C"/>
            </a:solidFill>
            <a:prstDash val="solid"/>
          </a:ln>
        </p:spPr>
      </p:sp>
      <p:sp>
        <p:nvSpPr>
          <p:cNvPr id="12" name="Text 9">
            <a:extLst xmlns:a="http://schemas.openxmlformats.org/drawingml/2006/main">
              <a:ext uri="{FF2B5EF4-FFF2-40B4-BE49-F238E27FC236}">
                <a16:creationId xmlns:a16="http://schemas.microsoft.com/office/drawing/2014/main" id="{956A5CBE-1B5B-4D57-8776-A48A48C3468E}"/>
              </a:ext>
            </a:extLst>
          </p:cNvPr>
          <p:cNvSpPr>
            <a:spLocks xmlns:a="http://schemas.openxmlformats.org/drawingml/2006/main" noGrp="1"/>
          </p:cNvSpPr>
          <p:nvPr/>
        </p:nvSpPr>
        <p:spPr>
          <a:xfrm xmlns:a="http://schemas.openxmlformats.org/drawingml/2006/main">
            <a:off x="1609344" y="3072384"/>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A94A8"/>
                </a:solidFill>
                <a:latin typeface="Arial"/>
                <a:ea typeface="Arial"/>
                <a:cs typeface="Arial"/>
              </a:rPr>
              <a:t>Separate specialist lanes</a:t>
            </a:r>
            <a:endParaRPr sz="1400"/>
          </a:p>
        </p:txBody>
      </p:sp>
      <p:sp>
        <p:nvSpPr>
          <p:cNvPr id="13" name="Shape 10">
            <a:extLst xmlns:a="http://schemas.openxmlformats.org/drawingml/2006/main">
              <a:ext uri="{FF2B5EF4-FFF2-40B4-BE49-F238E27FC236}">
                <a16:creationId xmlns:a16="http://schemas.microsoft.com/office/drawing/2014/main" id="{4DF38FAC-67DE-4DCD-9A62-DFEA6A8E863A}"/>
              </a:ext>
            </a:extLst>
          </p:cNvPr>
          <p:cNvSpPr>
            <a:spLocks xmlns:a="http://schemas.openxmlformats.org/drawingml/2006/main" noGrp="1"/>
          </p:cNvSpPr>
          <p:nvPr/>
        </p:nvSpPr>
        <p:spPr>
          <a:xfrm xmlns:a="http://schemas.openxmlformats.org/drawingml/2006/main" rot="2700000">
            <a:off x="1207008" y="4096512"/>
            <a:ext cx="91440" cy="91440"/>
          </a:xfrm>
          <a:prstGeom xmlns:a="http://schemas.openxmlformats.org/drawingml/2006/main" prst="rect">
            <a:avLst/>
          </a:prstGeom>
          <a:solidFill xmlns:a="http://schemas.openxmlformats.org/drawingml/2006/main">
            <a:srgbClr val="3A455C"/>
          </a:solidFill>
          <a:ln xmlns:a="http://schemas.openxmlformats.org/drawingml/2006/main" w="12700">
            <a:solidFill>
              <a:srgbClr val="3A455C"/>
            </a:solidFill>
            <a:prstDash val="solid"/>
          </a:ln>
        </p:spPr>
      </p:sp>
      <p:sp>
        <p:nvSpPr>
          <p:cNvPr id="14" name="Text 11">
            <a:extLst xmlns:a="http://schemas.openxmlformats.org/drawingml/2006/main">
              <a:ext uri="{FF2B5EF4-FFF2-40B4-BE49-F238E27FC236}">
                <a16:creationId xmlns:a16="http://schemas.microsoft.com/office/drawing/2014/main" id="{62D40980-BF07-4C63-BD5A-066232A2EAE2}"/>
              </a:ext>
            </a:extLst>
          </p:cNvPr>
          <p:cNvSpPr>
            <a:spLocks xmlns:a="http://schemas.openxmlformats.org/drawingml/2006/main" noGrp="1"/>
          </p:cNvSpPr>
          <p:nvPr/>
        </p:nvSpPr>
        <p:spPr>
          <a:xfrm xmlns:a="http://schemas.openxmlformats.org/drawingml/2006/main">
            <a:off x="1609344" y="3913632"/>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A94A8"/>
                </a:solidFill>
                <a:latin typeface="Arial"/>
                <a:ea typeface="Arial"/>
                <a:cs typeface="Arial"/>
              </a:rPr>
              <a:t>Hidden approval assumptions</a:t>
            </a:r>
            <a:endParaRPr sz="1400"/>
          </a:p>
        </p:txBody>
      </p:sp>
      <p:sp>
        <p:nvSpPr>
          <p:cNvPr id="15" name="Shape 12">
            <a:extLst xmlns:a="http://schemas.openxmlformats.org/drawingml/2006/main">
              <a:ext uri="{FF2B5EF4-FFF2-40B4-BE49-F238E27FC236}">
                <a16:creationId xmlns:a16="http://schemas.microsoft.com/office/drawing/2014/main" id="{52D5C7F7-0512-4711-B15E-AEBC142A2DF8}"/>
              </a:ext>
            </a:extLst>
          </p:cNvPr>
          <p:cNvSpPr>
            <a:spLocks xmlns:a="http://schemas.openxmlformats.org/drawingml/2006/main" noGrp="1"/>
          </p:cNvSpPr>
          <p:nvPr/>
        </p:nvSpPr>
        <p:spPr>
          <a:xfrm xmlns:a="http://schemas.openxmlformats.org/drawingml/2006/main" rot="2700000">
            <a:off x="1207008" y="4937760"/>
            <a:ext cx="91440" cy="91440"/>
          </a:xfrm>
          <a:prstGeom xmlns:a="http://schemas.openxmlformats.org/drawingml/2006/main" prst="rect">
            <a:avLst/>
          </a:prstGeom>
          <a:solidFill xmlns:a="http://schemas.openxmlformats.org/drawingml/2006/main">
            <a:srgbClr val="3A455C"/>
          </a:solidFill>
          <a:ln xmlns:a="http://schemas.openxmlformats.org/drawingml/2006/main" w="12700">
            <a:solidFill>
              <a:srgbClr val="3A455C"/>
            </a:solidFill>
            <a:prstDash val="solid"/>
          </a:ln>
        </p:spPr>
      </p:sp>
      <p:sp>
        <p:nvSpPr>
          <p:cNvPr id="16" name="Text 13">
            <a:extLst xmlns:a="http://schemas.openxmlformats.org/drawingml/2006/main">
              <a:ext uri="{FF2B5EF4-FFF2-40B4-BE49-F238E27FC236}">
                <a16:creationId xmlns:a16="http://schemas.microsoft.com/office/drawing/2014/main" id="{08907697-48C6-4FD7-BC2D-E7A41CC2CD91}"/>
              </a:ext>
            </a:extLst>
          </p:cNvPr>
          <p:cNvSpPr>
            <a:spLocks xmlns:a="http://schemas.openxmlformats.org/drawingml/2006/main" noGrp="1"/>
          </p:cNvSpPr>
          <p:nvPr/>
        </p:nvSpPr>
        <p:spPr>
          <a:xfrm xmlns:a="http://schemas.openxmlformats.org/drawingml/2006/main">
            <a:off x="1609344" y="475488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8A94A8"/>
                </a:solidFill>
                <a:latin typeface="Arial"/>
                <a:ea typeface="Arial"/>
                <a:cs typeface="Arial"/>
              </a:rPr>
              <a:t>Board state could drift</a:t>
            </a:r>
            <a:endParaRPr sz="1400"/>
          </a:p>
        </p:txBody>
      </p:sp>
      <p:sp>
        <p:nvSpPr>
          <p:cNvPr id="17" name="!!panelAFTER">
            <a:extLst xmlns:a="http://schemas.openxmlformats.org/drawingml/2006/main">
              <a:ext uri="{FF2B5EF4-FFF2-40B4-BE49-F238E27FC236}">
                <a16:creationId xmlns:a16="http://schemas.microsoft.com/office/drawing/2014/main" id="{3D2F11B7-13FF-4086-9E8C-BDD55FCE4150}"/>
              </a:ext>
            </a:extLst>
          </p:cNvPr>
          <p:cNvSpPr>
            <a:spLocks xmlns:a="http://schemas.openxmlformats.org/drawingml/2006/main" noGrp="1"/>
          </p:cNvSpPr>
          <p:nvPr/>
        </p:nvSpPr>
        <p:spPr>
          <a:xfrm xmlns:a="http://schemas.openxmlformats.org/drawingml/2006/main">
            <a:off x="6428232" y="2148840"/>
            <a:ext cx="4937760" cy="3703320"/>
          </a:xfrm>
          <a:prstGeom xmlns:a="http://schemas.openxmlformats.org/drawingml/2006/main" prst="roundRect">
            <a:avLst>
              <a:gd name="adj" fmla="val 2963"/>
            </a:avLst>
          </a:prstGeom>
          <a:solidFill xmlns:a="http://schemas.openxmlformats.org/drawingml/2006/main">
            <a:srgbClr val="151A24">
              <a:alpha val="88000"/>
            </a:srgbClr>
          </a:solidFill>
          <a:ln xmlns:a="http://schemas.openxmlformats.org/drawingml/2006/main" w="12700">
            <a:solidFill>
              <a:srgbClr val="FF6B35"/>
            </a:solidFill>
            <a:prstDash val="solid"/>
          </a:ln>
        </p:spPr>
      </p:sp>
      <p:sp>
        <p:nvSpPr>
          <p:cNvPr id="18" name="Text 15">
            <a:extLst xmlns:a="http://schemas.openxmlformats.org/drawingml/2006/main">
              <a:ext uri="{FF2B5EF4-FFF2-40B4-BE49-F238E27FC236}">
                <a16:creationId xmlns:a16="http://schemas.microsoft.com/office/drawing/2014/main" id="{BAD4DD2E-5E7A-4853-993F-80FA884F3287}"/>
              </a:ext>
            </a:extLst>
          </p:cNvPr>
          <p:cNvSpPr>
            <a:spLocks xmlns:a="http://schemas.openxmlformats.org/drawingml/2006/main" noGrp="1"/>
          </p:cNvSpPr>
          <p:nvPr/>
        </p:nvSpPr>
        <p:spPr>
          <a:xfrm xmlns:a="http://schemas.openxmlformats.org/drawingml/2006/main">
            <a:off x="6812280" y="2487168"/>
            <a:ext cx="29260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b="1" spc="500">
                <a:solidFill>
                  <a:srgbClr val="FF6B35"/>
                </a:solidFill>
                <a:latin typeface="Arial"/>
                <a:ea typeface="Arial"/>
                <a:cs typeface="Arial"/>
              </a:rPr>
              <a:t>LEARNING RESPONSE</a:t>
            </a:r>
            <a:endParaRPr sz="1000"/>
          </a:p>
        </p:txBody>
      </p:sp>
      <p:sp>
        <p:nvSpPr>
          <p:cNvPr id="19" name="Shape 16">
            <a:extLst xmlns:a="http://schemas.openxmlformats.org/drawingml/2006/main">
              <a:ext uri="{FF2B5EF4-FFF2-40B4-BE49-F238E27FC236}">
                <a16:creationId xmlns:a16="http://schemas.microsoft.com/office/drawing/2014/main" id="{F1BF0F9F-72EE-4187-916E-1A4242705892}"/>
              </a:ext>
            </a:extLst>
          </p:cNvPr>
          <p:cNvSpPr>
            <a:spLocks xmlns:a="http://schemas.openxmlformats.org/drawingml/2006/main" noGrp="1"/>
          </p:cNvSpPr>
          <p:nvPr/>
        </p:nvSpPr>
        <p:spPr>
          <a:xfrm xmlns:a="http://schemas.openxmlformats.org/drawingml/2006/main" rot="2700000">
            <a:off x="6812280" y="3255264"/>
            <a:ext cx="91440" cy="9144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20" name="Text 17">
            <a:extLst xmlns:a="http://schemas.openxmlformats.org/drawingml/2006/main">
              <a:ext uri="{FF2B5EF4-FFF2-40B4-BE49-F238E27FC236}">
                <a16:creationId xmlns:a16="http://schemas.microsoft.com/office/drawing/2014/main" id="{43992384-517B-4B07-A83B-EC665B52497D}"/>
              </a:ext>
            </a:extLst>
          </p:cNvPr>
          <p:cNvSpPr>
            <a:spLocks xmlns:a="http://schemas.openxmlformats.org/drawingml/2006/main" noGrp="1"/>
          </p:cNvSpPr>
          <p:nvPr/>
        </p:nvSpPr>
        <p:spPr>
          <a:xfrm xmlns:a="http://schemas.openxmlformats.org/drawingml/2006/main">
            <a:off x="7214616" y="3072384"/>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EEF2F8"/>
                </a:solidFill>
                <a:latin typeface="Arial"/>
                <a:ea typeface="Arial"/>
                <a:cs typeface="Arial"/>
              </a:rPr>
              <a:t>Shared contracts and APIs</a:t>
            </a:r>
            <a:endParaRPr sz="1400"/>
          </a:p>
        </p:txBody>
      </p:sp>
      <p:sp>
        <p:nvSpPr>
          <p:cNvPr id="21" name="Shape 18">
            <a:extLst xmlns:a="http://schemas.openxmlformats.org/drawingml/2006/main">
              <a:ext uri="{FF2B5EF4-FFF2-40B4-BE49-F238E27FC236}">
                <a16:creationId xmlns:a16="http://schemas.microsoft.com/office/drawing/2014/main" id="{3C2F338E-84F4-4069-8AFE-DE851B02E408}"/>
              </a:ext>
            </a:extLst>
          </p:cNvPr>
          <p:cNvSpPr>
            <a:spLocks xmlns:a="http://schemas.openxmlformats.org/drawingml/2006/main" noGrp="1"/>
          </p:cNvSpPr>
          <p:nvPr/>
        </p:nvSpPr>
        <p:spPr>
          <a:xfrm xmlns:a="http://schemas.openxmlformats.org/drawingml/2006/main" rot="2700000">
            <a:off x="6812280" y="4096512"/>
            <a:ext cx="91440" cy="9144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22" name="Text 19">
            <a:extLst xmlns:a="http://schemas.openxmlformats.org/drawingml/2006/main">
              <a:ext uri="{FF2B5EF4-FFF2-40B4-BE49-F238E27FC236}">
                <a16:creationId xmlns:a16="http://schemas.microsoft.com/office/drawing/2014/main" id="{015C9CDA-CCA1-497F-9E9E-543801CDFF8D}"/>
              </a:ext>
            </a:extLst>
          </p:cNvPr>
          <p:cNvSpPr>
            <a:spLocks xmlns:a="http://schemas.openxmlformats.org/drawingml/2006/main" noGrp="1"/>
          </p:cNvSpPr>
          <p:nvPr/>
        </p:nvSpPr>
        <p:spPr>
          <a:xfrm xmlns:a="http://schemas.openxmlformats.org/drawingml/2006/main">
            <a:off x="7214616" y="3913632"/>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EEF2F8"/>
                </a:solidFill>
                <a:latin typeface="Arial"/>
                <a:ea typeface="Arial"/>
                <a:cs typeface="Arial"/>
              </a:rPr>
              <a:t>Named review + audit trail</a:t>
            </a:r>
            <a:endParaRPr sz="1400"/>
          </a:p>
        </p:txBody>
      </p:sp>
      <p:sp>
        <p:nvSpPr>
          <p:cNvPr id="23" name="Shape 20">
            <a:extLst xmlns:a="http://schemas.openxmlformats.org/drawingml/2006/main">
              <a:ext uri="{FF2B5EF4-FFF2-40B4-BE49-F238E27FC236}">
                <a16:creationId xmlns:a16="http://schemas.microsoft.com/office/drawing/2014/main" id="{52B31602-3BF6-4DC0-8707-B0B77DA4B91C}"/>
              </a:ext>
            </a:extLst>
          </p:cNvPr>
          <p:cNvSpPr>
            <a:spLocks xmlns:a="http://schemas.openxmlformats.org/drawingml/2006/main" noGrp="1"/>
          </p:cNvSpPr>
          <p:nvPr/>
        </p:nvSpPr>
        <p:spPr>
          <a:xfrm xmlns:a="http://schemas.openxmlformats.org/drawingml/2006/main" rot="2700000">
            <a:off x="6812280" y="4937760"/>
            <a:ext cx="91440" cy="9144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24" name="Text 21">
            <a:extLst xmlns:a="http://schemas.openxmlformats.org/drawingml/2006/main">
              <a:ext uri="{FF2B5EF4-FFF2-40B4-BE49-F238E27FC236}">
                <a16:creationId xmlns:a16="http://schemas.microsoft.com/office/drawing/2014/main" id="{218CF745-280C-4AB3-88E6-0F49BEFEF038}"/>
              </a:ext>
            </a:extLst>
          </p:cNvPr>
          <p:cNvSpPr>
            <a:spLocks xmlns:a="http://schemas.openxmlformats.org/drawingml/2006/main" noGrp="1"/>
          </p:cNvSpPr>
          <p:nvPr/>
        </p:nvSpPr>
        <p:spPr>
          <a:xfrm xmlns:a="http://schemas.openxmlformats.org/drawingml/2006/main">
            <a:off x="7214616" y="4754880"/>
            <a:ext cx="374904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EEF2F8"/>
                </a:solidFill>
                <a:latin typeface="Arial"/>
                <a:ea typeface="Arial"/>
                <a:cs typeface="Arial"/>
              </a:rPr>
              <a:t>Gaps visible before release</a:t>
            </a:r>
            <a:endParaRPr sz="1400"/>
          </a:p>
        </p:txBody>
      </p:sp>
    </p:spTree>
    <p:extLst>
      <p:ext uri="{BB962C8B-B14F-4D97-AF65-F5344CB8AC3E}">
        <p14:creationId xmlns:p14="http://schemas.microsoft.com/office/powerpoint/2010/main" val="2086147213"/>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400">
        <p159:morph option="byObject"/>
      </p:transition>
    </mc:Choice>
    <mc:Fallback>
      <p:transition spd="slow" advClick="1" advTm="5000">
        <p:fade/>
      </p:transition>
    </mc:Fallback>
  </mc:AlternateContent>
</p:sld>
</file>

<file path=ppt/slides/slide14.xml><?xml version="1.0" encoding="utf-8"?>
<p:sld xmlns:p="http://schemas.openxmlformats.org/presentationml/2006/main">
  <p:cSld>
    <p:bg>
      <p:bgPr>
        <a:blipFill xmlns:a="http://schemas.openxmlformats.org/drawingml/2006/main" rotWithShape="1">
          <a:blip xmlns:r="http://schemas.openxmlformats.org/officeDocument/2006/relationships" r:embed="Rf8651a62fb124edb">
            <a:lum/>
          </a:blip>
          <a:srcRect l="0" t="0" r="0" b="0"/>
          <a:stretch>
            <a:fillRect l="0" t="0" r="0" b="0"/>
          </a:stretch>
        </a:blipFill>
      </p:bgPr>
    </p:bg>
    <p:spTree>
      <p:nvGrpSpPr>
        <p:cNvPr id="1" name=""/>
        <p:cNvGrpSpPr/>
        <p:nvPr/>
      </p:nvGrpSpPr>
      <p:grpSpPr>
        <a:xfrm xmlns:a="http://schemas.openxmlformats.org/drawingml/2006/main"/>
      </p:grpSpPr>
      <p:pic>
        <p:nvPicPr>
          <p:cNvPr id="24" name="!!orb"/>
          <p:cNvPicPr>
            <a:picLocks xmlns:a="http://schemas.openxmlformats.org/drawingml/2006/main" noChangeAspect="1"/>
          </p:cNvPicPr>
          <p:nvPr/>
        </p:nvPicPr>
        <p:blipFill>
          <a:blip xmlns:r="http://schemas.openxmlformats.org/officeDocument/2006/relationships" xmlns:a="http://schemas.openxmlformats.org/drawingml/2006/main" r:embed="R8761356c8b4f4ab1"/>
          <a:stretch xmlns:a="http://schemas.openxmlformats.org/drawingml/2006/main">
            <a:fillRect l="0" t="0" r="0" b="0"/>
          </a:stretch>
        </p:blipFill>
        <p:spPr>
          <a:xfrm xmlns:a="http://schemas.openxmlformats.org/drawingml/2006/main">
            <a:off x="-1645920" y="-1097280"/>
            <a:ext cx="4937760" cy="49377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22212FB4-1CDD-4502-ADB2-3A1A9A74AC10}"/>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FF543BBC-BD4E-46CD-AA95-792A7E1E88DD}"/>
              </a:ext>
            </a:extLst>
          </p:cNvPr>
          <p:cNvSpPr>
            <a:spLocks xmlns:a="http://schemas.openxmlformats.org/drawingml/2006/main" noGrp="1"/>
          </p:cNvSpPr>
          <p:nvPr/>
        </p:nvSpPr>
        <p:spPr>
          <a:xfrm xmlns:a="http://schemas.openxmlformats.org/drawingml/2006/main">
            <a:off x="822960" y="6446520"/>
            <a:ext cx="7336809"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DED7E457-B060-4154-949A-EC1C065EBA2C}"/>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262CC0A5-7FB2-4F01-B996-B0AC582386F0}"/>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INTEGRATION EVIDENCE</a:t>
            </a:r>
            <a:endParaRPr sz="900"/>
          </a:p>
        </p:txBody>
      </p:sp>
      <p:sp>
        <p:nvSpPr>
          <p:cNvPr id="7" name="pageno">
            <a:extLst xmlns:a="http://schemas.openxmlformats.org/drawingml/2006/main">
              <a:ext uri="{FF2B5EF4-FFF2-40B4-BE49-F238E27FC236}">
                <a16:creationId xmlns:a16="http://schemas.microsoft.com/office/drawing/2014/main" id="{2D4BB301-6408-4374-921A-DEEEB52189F4}"/>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14 / 20</a:t>
            </a:r>
            <a:endParaRPr sz="900"/>
          </a:p>
        </p:txBody>
      </p:sp>
      <p:sp>
        <p:nvSpPr>
          <p:cNvPr id="8" name="Text 5">
            <a:extLst xmlns:a="http://schemas.openxmlformats.org/drawingml/2006/main">
              <a:ext uri="{FF2B5EF4-FFF2-40B4-BE49-F238E27FC236}">
                <a16:creationId xmlns:a16="http://schemas.microsoft.com/office/drawing/2014/main" id="{EE534495-EF92-4B17-9643-E4C1FD1495EE}"/>
              </a:ext>
            </a:extLst>
          </p:cNvPr>
          <p:cNvSpPr>
            <a:spLocks xmlns:a="http://schemas.openxmlformats.org/drawingml/2006/main" noGrp="1"/>
          </p:cNvSpPr>
          <p:nvPr/>
        </p:nvSpPr>
        <p:spPr>
          <a:xfrm xmlns:a="http://schemas.openxmlformats.org/drawingml/2006/main">
            <a:off x="822960" y="1042416"/>
            <a:ext cx="6400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2964"/>
              </a:lnSpc>
              <a:buNone/>
            </a:pPr>
            <a:r>
              <a:rPr sz="2600" b="1">
                <a:solidFill>
                  <a:srgbClr val="EEF2F8"/>
                </a:solidFill>
                <a:latin typeface="Arial"/>
                <a:ea typeface="Arial"/>
                <a:cs typeface="Arial"/>
              </a:rPr>
              <a:t>CI made feedback the integration gate</a:t>
            </a:r>
            <a:endParaRPr sz="2600"/>
          </a:p>
        </p:txBody>
      </p:sp>
      <p:sp>
        <p:nvSpPr>
          <p:cNvPr id="9" name="!!num">
            <a:extLst xmlns:a="http://schemas.openxmlformats.org/drawingml/2006/main">
              <a:ext uri="{FF2B5EF4-FFF2-40B4-BE49-F238E27FC236}">
                <a16:creationId xmlns:a16="http://schemas.microsoft.com/office/drawing/2014/main" id="{6D3960B5-3D75-4FC3-9C1E-A17ADA2983D1}"/>
              </a:ext>
            </a:extLst>
          </p:cNvPr>
          <p:cNvSpPr>
            <a:spLocks xmlns:a="http://schemas.openxmlformats.org/drawingml/2006/main" noGrp="1"/>
          </p:cNvSpPr>
          <p:nvPr/>
        </p:nvSpPr>
        <p:spPr>
          <a:xfrm xmlns:a="http://schemas.openxmlformats.org/drawingml/2006/main">
            <a:off x="10607040" y="1060704"/>
            <a:ext cx="758952"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 b="1">
                <a:solidFill>
                  <a:srgbClr val="FF6B35"/>
                </a:solidFill>
                <a:latin typeface="Arial"/>
                <a:ea typeface="Arial"/>
                <a:cs typeface="Arial"/>
              </a:rPr>
              <a:t>02</a:t>
            </a:r>
            <a:endParaRPr sz="2000"/>
          </a:p>
        </p:txBody>
      </p:sp>
      <p:pic>
        <p:nvPicPr>
          <p:cNvPr id="32" name="!!art"/>
          <p:cNvPicPr>
            <a:picLocks xmlns:a="http://schemas.openxmlformats.org/drawingml/2006/main" noChangeAspect="1"/>
          </p:cNvPicPr>
          <p:nvPr/>
        </p:nvPicPr>
        <p:blipFill>
          <a:blip xmlns:r="http://schemas.openxmlformats.org/officeDocument/2006/relationships" xmlns:a="http://schemas.openxmlformats.org/drawingml/2006/main" r:embed="R3fa2d1cd9b934c58"/>
          <a:srcRect xmlns:a="http://schemas.openxmlformats.org/drawingml/2006/main" l="0" t="0" r="0" b="0"/>
          <a:stretch xmlns:a="http://schemas.openxmlformats.org/drawingml/2006/main"/>
        </p:blipFill>
        <p:spPr>
          <a:xfrm xmlns:a="http://schemas.openxmlformats.org/drawingml/2006/main">
            <a:off x="822960" y="1691640"/>
            <a:ext cx="5120640" cy="4297680"/>
          </a:xfrm>
          <a:prstGeom xmlns:a="http://schemas.openxmlformats.org/drawingml/2006/main" prst="rect">
            <a:avLst/>
          </a:prstGeom>
        </p:spPr>
      </p:pic>
      <p:sp>
        <p:nvSpPr>
          <p:cNvPr id="11" name="Text 7">
            <a:extLst xmlns:a="http://schemas.openxmlformats.org/drawingml/2006/main">
              <a:ext uri="{FF2B5EF4-FFF2-40B4-BE49-F238E27FC236}">
                <a16:creationId xmlns:a16="http://schemas.microsoft.com/office/drawing/2014/main" id="{83FB9A75-1DA4-49CA-88C7-6CC10F5999C2}"/>
              </a:ext>
            </a:extLst>
          </p:cNvPr>
          <p:cNvSpPr>
            <a:spLocks xmlns:a="http://schemas.openxmlformats.org/drawingml/2006/main" noGrp="1"/>
          </p:cNvSpPr>
          <p:nvPr/>
        </p:nvSpPr>
        <p:spPr>
          <a:xfrm xmlns:a="http://schemas.openxmlformats.org/drawingml/2006/main">
            <a:off x="1133856" y="5358384"/>
            <a:ext cx="448056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a:solidFill>
                  <a:srgbClr val="EEF2F8"/>
                </a:solidFill>
                <a:latin typeface="Arial"/>
                <a:ea typeface="Arial"/>
                <a:cs typeface="Arial"/>
              </a:rPr>
              <a:t>Issue → PR → CI → human review → merge</a:t>
            </a:r>
            <a:endParaRPr sz="1200"/>
          </a:p>
        </p:txBody>
      </p:sp>
      <p:sp>
        <p:nvSpPr>
          <p:cNvPr id="12" name="!!tileA">
            <a:extLst xmlns:a="http://schemas.openxmlformats.org/drawingml/2006/main">
              <a:ext uri="{FF2B5EF4-FFF2-40B4-BE49-F238E27FC236}">
                <a16:creationId xmlns:a16="http://schemas.microsoft.com/office/drawing/2014/main" id="{3EA02EC6-5E80-4CE2-8A29-E50DC3330540}"/>
              </a:ext>
            </a:extLst>
          </p:cNvPr>
          <p:cNvSpPr>
            <a:spLocks xmlns:a="http://schemas.openxmlformats.org/drawingml/2006/main" noGrp="1"/>
          </p:cNvSpPr>
          <p:nvPr/>
        </p:nvSpPr>
        <p:spPr>
          <a:xfrm xmlns:a="http://schemas.openxmlformats.org/drawingml/2006/main">
            <a:off x="6172200" y="1691640"/>
            <a:ext cx="5193792" cy="1965960"/>
          </a:xfrm>
          <a:prstGeom xmlns:a="http://schemas.openxmlformats.org/drawingml/2006/main" prst="roundRect">
            <a:avLst>
              <a:gd name="adj" fmla="val 5581"/>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3" name="Text 9">
            <a:extLst xmlns:a="http://schemas.openxmlformats.org/drawingml/2006/main">
              <a:ext uri="{FF2B5EF4-FFF2-40B4-BE49-F238E27FC236}">
                <a16:creationId xmlns:a16="http://schemas.microsoft.com/office/drawing/2014/main" id="{73D07293-88B9-4EBF-A68F-05FBD0DE74CC}"/>
              </a:ext>
            </a:extLst>
          </p:cNvPr>
          <p:cNvSpPr>
            <a:spLocks xmlns:a="http://schemas.openxmlformats.org/drawingml/2006/main" noGrp="1"/>
          </p:cNvSpPr>
          <p:nvPr/>
        </p:nvSpPr>
        <p:spPr>
          <a:xfrm xmlns:a="http://schemas.openxmlformats.org/drawingml/2006/main">
            <a:off x="6556248" y="1901952"/>
            <a:ext cx="2011680" cy="8229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4200" b="1">
                <a:solidFill>
                  <a:srgbClr val="FF6B35"/>
                </a:solidFill>
                <a:latin typeface="Arial"/>
                <a:ea typeface="Arial"/>
                <a:cs typeface="Arial"/>
              </a:rPr>
              <a:t>187</a:t>
            </a:r>
            <a:endParaRPr sz="4200"/>
          </a:p>
        </p:txBody>
      </p:sp>
      <p:sp>
        <p:nvSpPr>
          <p:cNvPr id="14" name="Text 10">
            <a:extLst xmlns:a="http://schemas.openxmlformats.org/drawingml/2006/main">
              <a:ext uri="{FF2B5EF4-FFF2-40B4-BE49-F238E27FC236}">
                <a16:creationId xmlns:a16="http://schemas.microsoft.com/office/drawing/2014/main" id="{2F5A7462-FFD3-414A-89EA-0358C3A1450E}"/>
              </a:ext>
            </a:extLst>
          </p:cNvPr>
          <p:cNvSpPr>
            <a:spLocks xmlns:a="http://schemas.openxmlformats.org/drawingml/2006/main" noGrp="1"/>
          </p:cNvSpPr>
          <p:nvPr/>
        </p:nvSpPr>
        <p:spPr>
          <a:xfrm xmlns:a="http://schemas.openxmlformats.org/drawingml/2006/main">
            <a:off x="6556248" y="2761488"/>
            <a:ext cx="4425696"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EF2F8"/>
                </a:solidFill>
                <a:latin typeface="Arial"/>
                <a:ea typeface="Arial"/>
                <a:cs typeface="Arial"/>
              </a:rPr>
              <a:t>Organisation merges</a:t>
            </a:r>
            <a:endParaRPr sz="1400"/>
          </a:p>
        </p:txBody>
      </p:sp>
      <p:sp>
        <p:nvSpPr>
          <p:cNvPr id="15" name="Text 11">
            <a:extLst xmlns:a="http://schemas.openxmlformats.org/drawingml/2006/main">
              <a:ext uri="{FF2B5EF4-FFF2-40B4-BE49-F238E27FC236}">
                <a16:creationId xmlns:a16="http://schemas.microsoft.com/office/drawing/2014/main" id="{27B0232A-864A-4E45-9F90-DEBC5DBE97E5}"/>
              </a:ext>
            </a:extLst>
          </p:cNvPr>
          <p:cNvSpPr>
            <a:spLocks xmlns:a="http://schemas.openxmlformats.org/drawingml/2006/main" noGrp="1"/>
          </p:cNvSpPr>
          <p:nvPr/>
        </p:nvSpPr>
        <p:spPr>
          <a:xfrm xmlns:a="http://schemas.openxmlformats.org/drawingml/2006/main">
            <a:off x="6556248" y="3072384"/>
            <a:ext cx="4425696"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50">
                <a:solidFill>
                  <a:srgbClr val="8A94A8"/>
                </a:solidFill>
                <a:latin typeface="Arial"/>
                <a:ea typeface="Arial"/>
                <a:cs typeface="Arial"/>
              </a:rPr>
              <a:t>of 189 total · stewarded by Bhanu</a:t>
            </a:r>
            <a:endParaRPr sz="1150"/>
          </a:p>
        </p:txBody>
      </p:sp>
      <p:sp>
        <p:nvSpPr>
          <p:cNvPr id="16" name="!!tileB">
            <a:extLst xmlns:a="http://schemas.openxmlformats.org/drawingml/2006/main">
              <a:ext uri="{FF2B5EF4-FFF2-40B4-BE49-F238E27FC236}">
                <a16:creationId xmlns:a16="http://schemas.microsoft.com/office/drawing/2014/main" id="{6A1FA22A-D6CF-418D-864F-87557CB31166}"/>
              </a:ext>
            </a:extLst>
          </p:cNvPr>
          <p:cNvSpPr>
            <a:spLocks xmlns:a="http://schemas.openxmlformats.org/drawingml/2006/main" noGrp="1"/>
          </p:cNvSpPr>
          <p:nvPr/>
        </p:nvSpPr>
        <p:spPr>
          <a:xfrm xmlns:a="http://schemas.openxmlformats.org/drawingml/2006/main">
            <a:off x="6172200" y="3931920"/>
            <a:ext cx="2468880" cy="2057400"/>
          </a:xfrm>
          <a:prstGeom xmlns:a="http://schemas.openxmlformats.org/drawingml/2006/main" prst="roundRect">
            <a:avLst>
              <a:gd name="adj" fmla="val 5333"/>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7" name="Text 13">
            <a:extLst xmlns:a="http://schemas.openxmlformats.org/drawingml/2006/main">
              <a:ext uri="{FF2B5EF4-FFF2-40B4-BE49-F238E27FC236}">
                <a16:creationId xmlns:a16="http://schemas.microsoft.com/office/drawing/2014/main" id="{93BA2D27-1B23-4696-BA4B-3578E02B6C5C}"/>
              </a:ext>
            </a:extLst>
          </p:cNvPr>
          <p:cNvSpPr>
            <a:spLocks xmlns:a="http://schemas.openxmlformats.org/drawingml/2006/main" noGrp="1"/>
          </p:cNvSpPr>
          <p:nvPr/>
        </p:nvSpPr>
        <p:spPr>
          <a:xfrm xmlns:a="http://schemas.openxmlformats.org/drawingml/2006/main">
            <a:off x="6556248" y="4206240"/>
            <a:ext cx="1737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EEF2F8"/>
                </a:solidFill>
                <a:latin typeface="Arial"/>
                <a:ea typeface="Arial"/>
                <a:cs typeface="Arial"/>
              </a:rPr>
              <a:t>60 review events</a:t>
            </a:r>
            <a:endParaRPr sz="1400"/>
          </a:p>
        </p:txBody>
      </p:sp>
      <p:sp>
        <p:nvSpPr>
          <p:cNvPr id="18" name="Text 14">
            <a:extLst xmlns:a="http://schemas.openxmlformats.org/drawingml/2006/main">
              <a:ext uri="{FF2B5EF4-FFF2-40B4-BE49-F238E27FC236}">
                <a16:creationId xmlns:a16="http://schemas.microsoft.com/office/drawing/2014/main" id="{FA1FCF18-F2E0-4AE8-A47F-129CC673E8B4}"/>
              </a:ext>
            </a:extLst>
          </p:cNvPr>
          <p:cNvSpPr>
            <a:spLocks xmlns:a="http://schemas.openxmlformats.org/drawingml/2006/main" noGrp="1"/>
          </p:cNvSpPr>
          <p:nvPr/>
        </p:nvSpPr>
        <p:spPr>
          <a:xfrm xmlns:a="http://schemas.openxmlformats.org/drawingml/2006/main">
            <a:off x="6556248" y="4572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150">
                <a:solidFill>
                  <a:srgbClr val="8A94A8"/>
                </a:solidFill>
                <a:latin typeface="Arial"/>
                <a:ea typeface="Arial"/>
                <a:cs typeface="Arial"/>
              </a:rPr>
              <a:t>Across 45 pull requests and multiple revision rounds.</a:t>
            </a:r>
            <a:endParaRPr sz="1150"/>
          </a:p>
        </p:txBody>
      </p:sp>
      <p:sp>
        <p:nvSpPr>
          <p:cNvPr id="19" name="!!tileC">
            <a:extLst xmlns:a="http://schemas.openxmlformats.org/drawingml/2006/main">
              <a:ext uri="{FF2B5EF4-FFF2-40B4-BE49-F238E27FC236}">
                <a16:creationId xmlns:a16="http://schemas.microsoft.com/office/drawing/2014/main" id="{4761440A-0D32-4BD1-9C7F-F8D0F8D87923}"/>
              </a:ext>
            </a:extLst>
          </p:cNvPr>
          <p:cNvSpPr>
            <a:spLocks xmlns:a="http://schemas.openxmlformats.org/drawingml/2006/main" noGrp="1"/>
          </p:cNvSpPr>
          <p:nvPr/>
        </p:nvSpPr>
        <p:spPr>
          <a:xfrm xmlns:a="http://schemas.openxmlformats.org/drawingml/2006/main">
            <a:off x="8897112" y="3931920"/>
            <a:ext cx="2468880" cy="2057400"/>
          </a:xfrm>
          <a:prstGeom xmlns:a="http://schemas.openxmlformats.org/drawingml/2006/main" prst="roundRect">
            <a:avLst>
              <a:gd name="adj" fmla="val 5333"/>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20" name="Text 16">
            <a:extLst xmlns:a="http://schemas.openxmlformats.org/drawingml/2006/main">
              <a:ext uri="{FF2B5EF4-FFF2-40B4-BE49-F238E27FC236}">
                <a16:creationId xmlns:a16="http://schemas.microsoft.com/office/drawing/2014/main" id="{80E47B5A-23B1-4E07-AF3F-D21D4E2B1586}"/>
              </a:ext>
            </a:extLst>
          </p:cNvPr>
          <p:cNvSpPr>
            <a:spLocks xmlns:a="http://schemas.openxmlformats.org/drawingml/2006/main" noGrp="1"/>
          </p:cNvSpPr>
          <p:nvPr/>
        </p:nvSpPr>
        <p:spPr>
          <a:xfrm xmlns:a="http://schemas.openxmlformats.org/drawingml/2006/main">
            <a:off x="9281160" y="4206240"/>
            <a:ext cx="1737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b="1">
                <a:solidFill>
                  <a:srgbClr val="3DDC97"/>
                </a:solidFill>
                <a:latin typeface="Arial"/>
                <a:ea typeface="Arial"/>
                <a:cs typeface="Arial"/>
              </a:rPr>
              <a:t>Strong ×6</a:t>
            </a:r>
            <a:endParaRPr sz="1400"/>
          </a:p>
        </p:txBody>
      </p:sp>
      <p:sp>
        <p:nvSpPr>
          <p:cNvPr id="21" name="Text 17">
            <a:extLst xmlns:a="http://schemas.openxmlformats.org/drawingml/2006/main">
              <a:ext uri="{FF2B5EF4-FFF2-40B4-BE49-F238E27FC236}">
                <a16:creationId xmlns:a16="http://schemas.microsoft.com/office/drawing/2014/main" id="{FD2DDA3C-A2A1-4F31-85B1-19B8AE49E396}"/>
              </a:ext>
            </a:extLst>
          </p:cNvPr>
          <p:cNvSpPr>
            <a:spLocks xmlns:a="http://schemas.openxmlformats.org/drawingml/2006/main" noGrp="1"/>
          </p:cNvSpPr>
          <p:nvPr/>
        </p:nvSpPr>
        <p:spPr>
          <a:xfrm xmlns:a="http://schemas.openxmlformats.org/drawingml/2006/main">
            <a:off x="9281160" y="4572000"/>
            <a:ext cx="1783080" cy="11430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700"/>
              </a:lnSpc>
              <a:buNone/>
            </a:pPr>
            <a:r>
              <a:rPr sz="1150">
                <a:solidFill>
                  <a:srgbClr val="8A94A8"/>
                </a:solidFill>
                <a:latin typeface="Arial"/>
                <a:ea typeface="Arial"/>
                <a:cs typeface="Arial"/>
              </a:rPr>
              <a:t>Bhanu's PDR objectives are fully demonstrated.</a:t>
            </a:r>
            <a:endParaRPr sz="1150"/>
          </a:p>
        </p:txBody>
      </p:sp>
    </p:spTree>
    <p:extLst>
      <p:ext uri="{BB962C8B-B14F-4D97-AF65-F5344CB8AC3E}">
        <p14:creationId xmlns:p14="http://schemas.microsoft.com/office/powerpoint/2010/main" val="1292688756"/>
      </p:ext>
    </p:extLst>
  </p:cSld>
  <mc:AlternateContent xmlns:mc="http://schemas.openxmlformats.org/markup-compatibility/2006">
    <mc:Choice xmlns:p159="http://schemas.microsoft.com/office/powerpoint/2015/09/main" Requires="p159">
      <p:transition xmlns:p14="http://schemas.microsoft.com/office/powerpoint/2010/main" spd="slow" advClick="1" advTm="5500" p14:dur="1500">
        <p159:morph option="byObject"/>
      </p:transition>
    </mc:Choice>
    <mc:Fallback>
      <p:transition spd="slow" advClick="1" advTm="5500">
        <p:fade/>
      </p:transition>
    </mc:Fallback>
  </mc:AlternateContent>
</p:sld>
</file>

<file path=ppt/slides/slide15.xml><?xml version="1.0" encoding="utf-8"?>
<p:sld xmlns:p="http://schemas.openxmlformats.org/presentationml/2006/main">
  <p:cSld>
    <p:bg>
      <p:bgPr>
        <a:blipFill xmlns:a="http://schemas.openxmlformats.org/drawingml/2006/main" rotWithShape="1">
          <a:blip xmlns:r="http://schemas.openxmlformats.org/officeDocument/2006/relationships" r:embed="R67d29a6b656a439b">
            <a:lum/>
          </a:blip>
          <a:srcRect l="0" t="0" r="0" b="0"/>
          <a:stretch>
            <a:fillRect l="0" t="0" r="0" b="0"/>
          </a:stretch>
        </a:blipFill>
      </p:bgPr>
    </p:bg>
    <p:spTree>
      <p:nvGrpSpPr>
        <p:cNvPr id="1" name=""/>
        <p:cNvGrpSpPr/>
        <p:nvPr/>
      </p:nvGrpSpPr>
      <p:grpSpPr>
        <a:xfrm xmlns:a="http://schemas.openxmlformats.org/drawingml/2006/main"/>
      </p:grpSpPr>
      <p:pic>
        <p:nvPicPr>
          <p:cNvPr id="12" name="!!orb"/>
          <p:cNvPicPr>
            <a:picLocks xmlns:a="http://schemas.openxmlformats.org/drawingml/2006/main" noChangeAspect="1"/>
          </p:cNvPicPr>
          <p:nvPr/>
        </p:nvPicPr>
        <p:blipFill>
          <a:blip xmlns:r="http://schemas.openxmlformats.org/officeDocument/2006/relationships" xmlns:a="http://schemas.openxmlformats.org/drawingml/2006/main" r:embed="R9dd45c86ac0c4dc0"/>
          <a:stretch xmlns:a="http://schemas.openxmlformats.org/drawingml/2006/main">
            <a:fillRect l="0" t="0" r="0" b="0"/>
          </a:stretch>
        </p:blipFill>
        <p:spPr>
          <a:xfrm xmlns:a="http://schemas.openxmlformats.org/drawingml/2006/main">
            <a:off x="-2194560" y="1463040"/>
            <a:ext cx="6766560" cy="67665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F95A3EDD-7A28-4CF9-A99E-D5DAC7900C3D}"/>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AD6AB4CC-0DFD-45BC-82E0-49E6AEBACB44}"/>
              </a:ext>
            </a:extLst>
          </p:cNvPr>
          <p:cNvSpPr>
            <a:spLocks xmlns:a="http://schemas.openxmlformats.org/drawingml/2006/main" noGrp="1"/>
          </p:cNvSpPr>
          <p:nvPr/>
        </p:nvSpPr>
        <p:spPr>
          <a:xfrm xmlns:a="http://schemas.openxmlformats.org/drawingml/2006/main">
            <a:off x="822960" y="6446520"/>
            <a:ext cx="7871636"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2992EDBA-68E1-4589-A9F8-B63C1BD24BEC}"/>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740D7801-450B-4DAE-998F-FB065F7737FD}"/>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CHAPTER 03</a:t>
            </a:r>
            <a:endParaRPr sz="900"/>
          </a:p>
        </p:txBody>
      </p:sp>
      <p:sp>
        <p:nvSpPr>
          <p:cNvPr id="7" name="pageno">
            <a:extLst xmlns:a="http://schemas.openxmlformats.org/drawingml/2006/main">
              <a:ext uri="{FF2B5EF4-FFF2-40B4-BE49-F238E27FC236}">
                <a16:creationId xmlns:a16="http://schemas.microsoft.com/office/drawing/2014/main" id="{7B79180E-9FBA-4EE6-90BF-ABC7EF91991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15 / 20</a:t>
            </a:r>
            <a:endParaRPr sz="900"/>
          </a:p>
        </p:txBody>
      </p:sp>
      <p:sp>
        <p:nvSpPr>
          <p:cNvPr id="8" name="!!num">
            <a:extLst xmlns:a="http://schemas.openxmlformats.org/drawingml/2006/main">
              <a:ext uri="{FF2B5EF4-FFF2-40B4-BE49-F238E27FC236}">
                <a16:creationId xmlns:a16="http://schemas.microsoft.com/office/drawing/2014/main" id="{085852AC-AF6C-4F60-B9A3-E7650A7A1D57}"/>
              </a:ext>
            </a:extLst>
          </p:cNvPr>
          <p:cNvSpPr>
            <a:spLocks xmlns:a="http://schemas.openxmlformats.org/drawingml/2006/main" noGrp="1"/>
          </p:cNvSpPr>
          <p:nvPr/>
        </p:nvSpPr>
        <p:spPr>
          <a:xfrm xmlns:a="http://schemas.openxmlformats.org/drawingml/2006/main">
            <a:off x="5394960" y="685800"/>
            <a:ext cx="5971032" cy="5120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1000" b="1" spc="-800">
                <a:solidFill>
                  <a:srgbClr val="1F2735"/>
                </a:solidFill>
                <a:latin typeface="Arial"/>
                <a:ea typeface="Arial"/>
                <a:cs typeface="Arial"/>
              </a:rPr>
              <a:t>03</a:t>
            </a:r>
            <a:endParaRPr sz="21000"/>
          </a:p>
        </p:txBody>
      </p:sp>
      <p:sp>
        <p:nvSpPr>
          <p:cNvPr id="9" name="Text 6">
            <a:extLst xmlns:a="http://schemas.openxmlformats.org/drawingml/2006/main">
              <a:ext uri="{FF2B5EF4-FFF2-40B4-BE49-F238E27FC236}">
                <a16:creationId xmlns:a16="http://schemas.microsoft.com/office/drawing/2014/main" id="{71EE9254-806F-4EB5-B948-7CA4E889C907}"/>
              </a:ext>
            </a:extLst>
          </p:cNvPr>
          <p:cNvSpPr>
            <a:spLocks xmlns:a="http://schemas.openxmlformats.org/drawingml/2006/main" noGrp="1"/>
          </p:cNvSpPr>
          <p:nvPr/>
        </p:nvSpPr>
        <p:spPr>
          <a:xfrm xmlns:a="http://schemas.openxmlformats.org/drawingml/2006/main">
            <a:off x="822960" y="2514600"/>
            <a:ext cx="6035040" cy="192024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nSpc>
                <a:spcPts val="5000"/>
              </a:lnSpc>
              <a:buNone/>
            </a:pPr>
            <a:r>
              <a:rPr sz="4400" b="1">
                <a:solidFill>
                  <a:srgbClr val="EEF2F8"/>
                </a:solidFill>
                <a:latin typeface="Arial"/>
                <a:ea typeface="Arial"/>
                <a:cs typeface="Arial"/>
              </a:rPr>
              <a:t>Psychological safety made</a:t>
            </a:r>
            <a:endParaRPr sz="4400"/>
          </a:p>
          <a:p xmlns:a="http://schemas.openxmlformats.org/drawingml/2006/main">
            <a:pPr marL="0" indent="0">
              <a:lnSpc>
                <a:spcPts val="5000"/>
              </a:lnSpc>
              <a:buNone/>
            </a:pPr>
            <a:r>
              <a:rPr sz="4400" b="1">
                <a:solidFill>
                  <a:srgbClr val="EEF2F8"/>
                </a:solidFill>
                <a:latin typeface="Arial"/>
                <a:ea typeface="Arial"/>
                <a:cs typeface="Arial"/>
              </a:rPr>
              <a:t>teamwork stronger</a:t>
            </a:r>
            <a:endParaRPr sz="4400"/>
          </a:p>
        </p:txBody>
      </p:sp>
      <p:sp>
        <p:nvSpPr>
          <p:cNvPr id="10" name="Text 7">
            <a:extLst xmlns:a="http://schemas.openxmlformats.org/drawingml/2006/main">
              <a:ext uri="{FF2B5EF4-FFF2-40B4-BE49-F238E27FC236}">
                <a16:creationId xmlns:a16="http://schemas.microsoft.com/office/drawing/2014/main" id="{9E9E8D5F-4572-4A38-AD73-F1DA16E55638}"/>
              </a:ext>
            </a:extLst>
          </p:cNvPr>
          <p:cNvSpPr>
            <a:spLocks xmlns:a="http://schemas.openxmlformats.org/drawingml/2006/main" noGrp="1"/>
          </p:cNvSpPr>
          <p:nvPr/>
        </p:nvSpPr>
        <p:spPr>
          <a:xfrm xmlns:a="http://schemas.openxmlformats.org/drawingml/2006/main">
            <a:off x="822960" y="4572000"/>
            <a:ext cx="5394960"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ts val="2025"/>
              </a:lnSpc>
              <a:buNone/>
            </a:pPr>
            <a:r>
              <a:rPr sz="1350">
                <a:solidFill>
                  <a:srgbClr val="8A94A8"/>
                </a:solidFill>
                <a:latin typeface="Arial"/>
                <a:ea typeface="Arial"/>
                <a:cs typeface="Arial"/>
              </a:rPr>
              <a:t>Risks, review requests and unknown facts were surfaced instead of hidden, allowing the team to learn safely.</a:t>
            </a:r>
            <a:endParaRPr sz="1350"/>
          </a:p>
        </p:txBody>
      </p:sp>
    </p:spTree>
    <p:extLst>
      <p:ext uri="{BB962C8B-B14F-4D97-AF65-F5344CB8AC3E}">
        <p14:creationId xmlns:p14="http://schemas.microsoft.com/office/powerpoint/2010/main" val="220582264"/>
      </p:ext>
    </p:extLst>
  </p:cSld>
  <mc:AlternateContent xmlns:mc="http://schemas.openxmlformats.org/markup-compatibility/2006">
    <mc:Choice xmlns:p159="http://schemas.microsoft.com/office/powerpoint/2015/09/main" Requires="p159">
      <p:transition xmlns:p14="http://schemas.microsoft.com/office/powerpoint/2010/main" spd="slow" advClick="1" advTm="3500" p14:dur="2000">
        <p159:morph option="byObject"/>
      </p:transition>
    </mc:Choice>
    <mc:Fallback>
      <p:transition spd="slow" advClick="1" advTm="3500">
        <p:fade/>
      </p:transition>
    </mc:Fallback>
  </mc:AlternateContent>
</p:sld>
</file>

<file path=ppt/slides/slide16.xml><?xml version="1.0" encoding="utf-8"?>
<p:sld xmlns:p="http://schemas.openxmlformats.org/presentationml/2006/main">
  <p:cSld>
    <p:bg>
      <p:bgPr>
        <a:blipFill xmlns:a="http://schemas.openxmlformats.org/drawingml/2006/main" rotWithShape="1">
          <a:blip xmlns:r="http://schemas.openxmlformats.org/officeDocument/2006/relationships" r:embed="Ra5ef3295746c4c08">
            <a:lum/>
          </a:blip>
          <a:srcRect l="0" t="0" r="0" b="0"/>
          <a:stretch>
            <a:fillRect l="0" t="0" r="0" b="0"/>
          </a:stretch>
        </a:blipFill>
      </p:bgPr>
    </p:bg>
    <p:spTree>
      <p:nvGrpSpPr>
        <p:cNvPr id="1" name=""/>
        <p:cNvGrpSpPr/>
        <p:nvPr/>
      </p:nvGrpSpPr>
      <p:grpSpPr>
        <a:xfrm xmlns:a="http://schemas.openxmlformats.org/drawingml/2006/main"/>
      </p:grpSpPr>
      <p:pic>
        <p:nvPicPr>
          <p:cNvPr id="16" name="!!orb"/>
          <p:cNvPicPr>
            <a:picLocks xmlns:a="http://schemas.openxmlformats.org/drawingml/2006/main" noChangeAspect="1"/>
          </p:cNvPicPr>
          <p:nvPr/>
        </p:nvPicPr>
        <p:blipFill>
          <a:blip xmlns:r="http://schemas.openxmlformats.org/officeDocument/2006/relationships" xmlns:a="http://schemas.openxmlformats.org/drawingml/2006/main" r:embed="Rd77d7021159949ce"/>
          <a:stretch xmlns:a="http://schemas.openxmlformats.org/drawingml/2006/main">
            <a:fillRect l="0" t="0" r="0" b="0"/>
          </a:stretch>
        </p:blipFill>
        <p:spPr>
          <a:xfrm xmlns:a="http://schemas.openxmlformats.org/drawingml/2006/main">
            <a:off x="7498080" y="2377440"/>
            <a:ext cx="5852160" cy="585216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7F7BE5ED-BCB5-4A5C-8450-89549D61DAE4}"/>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D01DFC96-D14D-410F-B261-834EF79CB93A}"/>
              </a:ext>
            </a:extLst>
          </p:cNvPr>
          <p:cNvSpPr>
            <a:spLocks xmlns:a="http://schemas.openxmlformats.org/drawingml/2006/main" noGrp="1"/>
          </p:cNvSpPr>
          <p:nvPr/>
        </p:nvSpPr>
        <p:spPr>
          <a:xfrm xmlns:a="http://schemas.openxmlformats.org/drawingml/2006/main">
            <a:off x="822960" y="6446520"/>
            <a:ext cx="8406464"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061DA1E2-FDEB-41EC-A361-2094495B0389}"/>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6ABB0DB3-1166-4778-8F0E-6B6D9CB40CB8}"/>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TEAM REFLECTION</a:t>
            </a:r>
            <a:endParaRPr sz="900"/>
          </a:p>
        </p:txBody>
      </p:sp>
      <p:sp>
        <p:nvSpPr>
          <p:cNvPr id="7" name="pageno">
            <a:extLst xmlns:a="http://schemas.openxmlformats.org/drawingml/2006/main">
              <a:ext uri="{FF2B5EF4-FFF2-40B4-BE49-F238E27FC236}">
                <a16:creationId xmlns:a16="http://schemas.microsoft.com/office/drawing/2014/main" id="{C68F95BB-ECA8-40C5-9177-1AA48D97A45E}"/>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16 / 20</a:t>
            </a:r>
            <a:endParaRPr sz="900"/>
          </a:p>
        </p:txBody>
      </p:sp>
      <p:sp>
        <p:nvSpPr>
          <p:cNvPr id="8" name="Text 5">
            <a:extLst xmlns:a="http://schemas.openxmlformats.org/drawingml/2006/main">
              <a:ext uri="{FF2B5EF4-FFF2-40B4-BE49-F238E27FC236}">
                <a16:creationId xmlns:a16="http://schemas.microsoft.com/office/drawing/2014/main" id="{E2CD982D-ADD0-4B61-BB99-930D58C7BDBC}"/>
              </a:ext>
            </a:extLst>
          </p:cNvPr>
          <p:cNvSpPr>
            <a:spLocks xmlns:a="http://schemas.openxmlformats.org/drawingml/2006/main" noGrp="1"/>
          </p:cNvSpPr>
          <p:nvPr/>
        </p:nvSpPr>
        <p:spPr>
          <a:xfrm xmlns:a="http://schemas.openxmlformats.org/drawingml/2006/main">
            <a:off x="9052560" y="457200"/>
            <a:ext cx="2377440" cy="2743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20000" b="1">
                <a:solidFill>
                  <a:srgbClr val="1F2735"/>
                </a:solidFill>
                <a:latin typeface="Georgia"/>
                <a:ea typeface="Georgia"/>
                <a:cs typeface="Georgia"/>
              </a:rPr>
              <a:t>”</a:t>
            </a:r>
            <a:endParaRPr sz="20000"/>
          </a:p>
        </p:txBody>
      </p:sp>
      <p:sp>
        <p:nvSpPr>
          <p:cNvPr id="9" name="!!num">
            <a:extLst xmlns:a="http://schemas.openxmlformats.org/drawingml/2006/main">
              <a:ext uri="{FF2B5EF4-FFF2-40B4-BE49-F238E27FC236}">
                <a16:creationId xmlns:a16="http://schemas.microsoft.com/office/drawing/2014/main" id="{151B86D4-1D78-423C-8E49-E48BB7539944}"/>
              </a:ext>
            </a:extLst>
          </p:cNvPr>
          <p:cNvSpPr>
            <a:spLocks xmlns:a="http://schemas.openxmlformats.org/drawingml/2006/main" noGrp="1"/>
          </p:cNvSpPr>
          <p:nvPr/>
        </p:nvSpPr>
        <p:spPr>
          <a:xfrm xmlns:a="http://schemas.openxmlformats.org/drawingml/2006/main">
            <a:off x="822960" y="1133856"/>
            <a:ext cx="914400" cy="4114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000" b="1">
                <a:solidFill>
                  <a:srgbClr val="FF6B35"/>
                </a:solidFill>
                <a:latin typeface="Arial"/>
                <a:ea typeface="Arial"/>
                <a:cs typeface="Arial"/>
              </a:rPr>
              <a:t>03</a:t>
            </a:r>
            <a:endParaRPr sz="2000"/>
          </a:p>
        </p:txBody>
      </p:sp>
      <p:sp>
        <p:nvSpPr>
          <p:cNvPr id="10" name="Text 7">
            <a:extLst xmlns:a="http://schemas.openxmlformats.org/drawingml/2006/main">
              <a:ext uri="{FF2B5EF4-FFF2-40B4-BE49-F238E27FC236}">
                <a16:creationId xmlns:a16="http://schemas.microsoft.com/office/drawing/2014/main" id="{C89DFD59-621B-47C9-8EBD-37016B70E98A}"/>
              </a:ext>
            </a:extLst>
          </p:cNvPr>
          <p:cNvSpPr>
            <a:spLocks xmlns:a="http://schemas.openxmlformats.org/drawingml/2006/main" noGrp="1"/>
          </p:cNvSpPr>
          <p:nvPr/>
        </p:nvSpPr>
        <p:spPr>
          <a:xfrm xmlns:a="http://schemas.openxmlformats.org/drawingml/2006/main">
            <a:off x="822960" y="1874520"/>
            <a:ext cx="822960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marL="0" indent="0">
              <a:lnSpc>
                <a:spcPts val="4400"/>
              </a:lnSpc>
              <a:buNone/>
            </a:pPr>
            <a:r>
              <a:rPr sz="3200" i="1">
                <a:solidFill>
                  <a:srgbClr val="EEF2F8"/>
                </a:solidFill>
                <a:latin typeface="Arial"/>
                <a:ea typeface="Arial"/>
                <a:cs typeface="Arial"/>
              </a:rPr>
              <a:t>Double-loop learning changes the rule that produced an error, not only the error itself.</a:t>
            </a:r>
            <a:endParaRPr sz="3200"/>
          </a:p>
        </p:txBody>
      </p:sp>
      <p:pic>
        <p:nvPicPr>
          <p:cNvPr id="25" name="!!avatar"/>
          <p:cNvPicPr>
            <a:picLocks xmlns:a="http://schemas.openxmlformats.org/drawingml/2006/main" noChangeAspect="1"/>
          </p:cNvPicPr>
          <p:nvPr/>
        </p:nvPicPr>
        <p:blipFill>
          <a:blip xmlns:r="http://schemas.openxmlformats.org/officeDocument/2006/relationships" xmlns:a="http://schemas.openxmlformats.org/drawingml/2006/main" r:embed="Rb15c2ea52efa4655"/>
          <a:srcRect xmlns:a="http://schemas.openxmlformats.org/drawingml/2006/main" l="0" t="0" r="0" b="0"/>
          <a:stretch xmlns:a="http://schemas.openxmlformats.org/drawingml/2006/main"/>
        </p:blipFill>
        <p:spPr>
          <a:xfrm xmlns:a="http://schemas.openxmlformats.org/drawingml/2006/main">
            <a:off x="822960" y="4828032"/>
            <a:ext cx="822960" cy="822960"/>
          </a:xfrm>
          <a:prstGeom xmlns:a="http://schemas.openxmlformats.org/drawingml/2006/main" prst="ellipse">
            <a:avLst/>
          </a:prstGeom>
        </p:spPr>
      </p:pic>
      <p:sp>
        <p:nvSpPr>
          <p:cNvPr id="12" name="Text 8">
            <a:extLst xmlns:a="http://schemas.openxmlformats.org/drawingml/2006/main">
              <a:ext uri="{FF2B5EF4-FFF2-40B4-BE49-F238E27FC236}">
                <a16:creationId xmlns:a16="http://schemas.microsoft.com/office/drawing/2014/main" id="{20F12B69-035C-4A20-A79D-475A64033189}"/>
              </a:ext>
            </a:extLst>
          </p:cNvPr>
          <p:cNvSpPr>
            <a:spLocks xmlns:a="http://schemas.openxmlformats.org/drawingml/2006/main" noGrp="1"/>
          </p:cNvSpPr>
          <p:nvPr/>
        </p:nvSpPr>
        <p:spPr>
          <a:xfrm xmlns:a="http://schemas.openxmlformats.org/drawingml/2006/main">
            <a:off x="1847088" y="4937760"/>
            <a:ext cx="4572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50" b="1">
                <a:solidFill>
                  <a:srgbClr val="EEF2F8"/>
                </a:solidFill>
                <a:latin typeface="Arial"/>
                <a:ea typeface="Arial"/>
                <a:cs typeface="Arial"/>
              </a:rPr>
              <a:t>Applied reflection</a:t>
            </a:r>
            <a:endParaRPr sz="1450"/>
          </a:p>
        </p:txBody>
      </p:sp>
      <p:sp>
        <p:nvSpPr>
          <p:cNvPr id="13" name="Text 9">
            <a:extLst xmlns:a="http://schemas.openxmlformats.org/drawingml/2006/main">
              <a:ext uri="{FF2B5EF4-FFF2-40B4-BE49-F238E27FC236}">
                <a16:creationId xmlns:a16="http://schemas.microsoft.com/office/drawing/2014/main" id="{DA8D9ECB-42BC-4ACB-BE73-FF97EFEF1C44}"/>
              </a:ext>
            </a:extLst>
          </p:cNvPr>
          <p:cNvSpPr>
            <a:spLocks xmlns:a="http://schemas.openxmlformats.org/drawingml/2006/main" noGrp="1"/>
          </p:cNvSpPr>
          <p:nvPr/>
        </p:nvSpPr>
        <p:spPr>
          <a:xfrm xmlns:a="http://schemas.openxmlformats.org/drawingml/2006/main">
            <a:off x="1847088" y="5266944"/>
            <a:ext cx="457200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a:solidFill>
                  <a:srgbClr val="8A94A8"/>
                </a:solidFill>
                <a:latin typeface="Arial"/>
                <a:ea typeface="Arial"/>
                <a:cs typeface="Arial"/>
              </a:rPr>
              <a:t>Team evidence + Argyris (1977)</a:t>
            </a:r>
            <a:endParaRPr sz="1200"/>
          </a:p>
        </p:txBody>
      </p:sp>
    </p:spTree>
    <p:extLst>
      <p:ext uri="{BB962C8B-B14F-4D97-AF65-F5344CB8AC3E}">
        <p14:creationId xmlns:p14="http://schemas.microsoft.com/office/powerpoint/2010/main" val="1267683294"/>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700">
        <p159:morph option="byWord"/>
      </p:transition>
    </mc:Choice>
    <mc:Fallback>
      <p:transition spd="slow" advClick="1" advTm="5000">
        <p:fade/>
      </p:transition>
    </mc:Fallback>
  </mc:AlternateContent>
</p:sld>
</file>

<file path=ppt/slides/slide17.xml><?xml version="1.0" encoding="utf-8"?>
<p:sld xmlns:p="http://schemas.openxmlformats.org/presentationml/2006/main">
  <p:cSld>
    <p:bg>
      <p:bgPr>
        <a:blipFill xmlns:a="http://schemas.openxmlformats.org/drawingml/2006/main" rotWithShape="1">
          <a:blip xmlns:r="http://schemas.openxmlformats.org/officeDocument/2006/relationships" r:embed="R848c32bb68154bd1">
            <a:lum/>
          </a:blip>
          <a:srcRect l="0" t="0" r="0" b="0"/>
          <a:stretch>
            <a:fillRect l="0" t="0" r="0" b="0"/>
          </a:stretch>
        </a:blipFill>
      </p:bgPr>
    </p:bg>
    <p:spTree>
      <p:nvGrpSpPr>
        <p:cNvPr id="1" name=""/>
        <p:cNvGrpSpPr/>
        <p:nvPr/>
      </p:nvGrpSpPr>
      <p:grpSpPr>
        <a:xfrm xmlns:a="http://schemas.openxmlformats.org/drawingml/2006/main"/>
      </p:grpSpPr>
      <p:pic>
        <p:nvPicPr>
          <p:cNvPr id="35" name="!!orb"/>
          <p:cNvPicPr>
            <a:picLocks xmlns:a="http://schemas.openxmlformats.org/drawingml/2006/main" noChangeAspect="1"/>
          </p:cNvPicPr>
          <p:nvPr/>
        </p:nvPicPr>
        <p:blipFill>
          <a:blip xmlns:r="http://schemas.openxmlformats.org/officeDocument/2006/relationships" xmlns:a="http://schemas.openxmlformats.org/drawingml/2006/main" r:embed="R4499870dc43842c7"/>
          <a:stretch xmlns:a="http://schemas.openxmlformats.org/drawingml/2006/main">
            <a:fillRect l="0" t="0" r="0" b="0"/>
          </a:stretch>
        </p:blipFill>
        <p:spPr>
          <a:xfrm xmlns:a="http://schemas.openxmlformats.org/drawingml/2006/main">
            <a:off x="3291840" y="4206240"/>
            <a:ext cx="6035040" cy="603504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70833295-CDA0-496E-9496-20C1B2624750}"/>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4447A5FD-A92D-49DC-9593-B29BB420B58C}"/>
              </a:ext>
            </a:extLst>
          </p:cNvPr>
          <p:cNvSpPr>
            <a:spLocks xmlns:a="http://schemas.openxmlformats.org/drawingml/2006/main" noGrp="1"/>
          </p:cNvSpPr>
          <p:nvPr/>
        </p:nvSpPr>
        <p:spPr>
          <a:xfrm xmlns:a="http://schemas.openxmlformats.org/drawingml/2006/main">
            <a:off x="822960" y="6446520"/>
            <a:ext cx="8941292"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3BD1B15B-5E49-4C48-8CD8-762135AAB7BB}"/>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4D6D39A1-1CBB-4C6E-8EAE-99ED6B885FB5}"/>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HOW THE TEAM WORKED</a:t>
            </a:r>
            <a:endParaRPr sz="900"/>
          </a:p>
        </p:txBody>
      </p:sp>
      <p:sp>
        <p:nvSpPr>
          <p:cNvPr id="7" name="pageno">
            <a:extLst xmlns:a="http://schemas.openxmlformats.org/drawingml/2006/main">
              <a:ext uri="{FF2B5EF4-FFF2-40B4-BE49-F238E27FC236}">
                <a16:creationId xmlns:a16="http://schemas.microsoft.com/office/drawing/2014/main" id="{3D09709E-0634-49DA-9B7A-CB7594530FD1}"/>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17 / 20</a:t>
            </a:r>
            <a:endParaRPr sz="900"/>
          </a:p>
        </p:txBody>
      </p:sp>
      <p:sp>
        <p:nvSpPr>
          <p:cNvPr id="8" name="Text 5">
            <a:extLst xmlns:a="http://schemas.openxmlformats.org/drawingml/2006/main">
              <a:ext uri="{FF2B5EF4-FFF2-40B4-BE49-F238E27FC236}">
                <a16:creationId xmlns:a16="http://schemas.microsoft.com/office/drawing/2014/main" id="{841049FB-E788-44F6-BAD7-F4EEFFF44671}"/>
              </a:ext>
            </a:extLst>
          </p:cNvPr>
          <p:cNvSpPr>
            <a:spLocks xmlns:a="http://schemas.openxmlformats.org/drawingml/2006/main" noGrp="1"/>
          </p:cNvSpPr>
          <p:nvPr/>
        </p:nvSpPr>
        <p:spPr>
          <a:xfrm xmlns:a="http://schemas.openxmlformats.org/drawingml/2006/main">
            <a:off x="822960" y="1115568"/>
            <a:ext cx="82296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Communication created a learning system</a:t>
            </a:r>
            <a:endParaRPr sz="2700"/>
          </a:p>
        </p:txBody>
      </p:sp>
      <p:pic>
        <p:nvPicPr>
          <p:cNvPr id="42" name="!!avatar1"/>
          <p:cNvPicPr>
            <a:picLocks xmlns:a="http://schemas.openxmlformats.org/drawingml/2006/main" noChangeAspect="1"/>
          </p:cNvPicPr>
          <p:nvPr/>
        </p:nvPicPr>
        <p:blipFill>
          <a:blip xmlns:r="http://schemas.openxmlformats.org/officeDocument/2006/relationships" xmlns:a="http://schemas.openxmlformats.org/drawingml/2006/main" r:embed="R494d326495964e9c"/>
          <a:srcRect xmlns:a="http://schemas.openxmlformats.org/drawingml/2006/main" l="0" t="0" r="0" b="0"/>
          <a:stretch xmlns:a="http://schemas.openxmlformats.org/drawingml/2006/main"/>
        </p:blipFill>
        <p:spPr>
          <a:xfrm xmlns:a="http://schemas.openxmlformats.org/drawingml/2006/main">
            <a:off x="822960" y="2514600"/>
            <a:ext cx="1234440" cy="1234440"/>
          </a:xfrm>
          <a:prstGeom xmlns:a="http://schemas.openxmlformats.org/drawingml/2006/main" prst="ellipse">
            <a:avLst/>
          </a:prstGeom>
        </p:spPr>
      </p:pic>
      <p:sp>
        <p:nvSpPr>
          <p:cNvPr id="10" name="Text 6">
            <a:extLst xmlns:a="http://schemas.openxmlformats.org/drawingml/2006/main">
              <a:ext uri="{FF2B5EF4-FFF2-40B4-BE49-F238E27FC236}">
                <a16:creationId xmlns:a16="http://schemas.microsoft.com/office/drawing/2014/main" id="{8E68DC7D-AA2F-462D-B8E0-A686984462ED}"/>
              </a:ext>
            </a:extLst>
          </p:cNvPr>
          <p:cNvSpPr>
            <a:spLocks xmlns:a="http://schemas.openxmlformats.org/drawingml/2006/main" noGrp="1"/>
          </p:cNvSpPr>
          <p:nvPr/>
        </p:nvSpPr>
        <p:spPr>
          <a:xfrm xmlns:a="http://schemas.openxmlformats.org/drawingml/2006/main">
            <a:off x="5486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Focused PRs</a:t>
            </a:r>
            <a:endParaRPr sz="1250"/>
          </a:p>
        </p:txBody>
      </p:sp>
      <p:sp>
        <p:nvSpPr>
          <p:cNvPr id="11" name="Text 7">
            <a:extLst xmlns:a="http://schemas.openxmlformats.org/drawingml/2006/main">
              <a:ext uri="{FF2B5EF4-FFF2-40B4-BE49-F238E27FC236}">
                <a16:creationId xmlns:a16="http://schemas.microsoft.com/office/drawing/2014/main" id="{AB63A42D-357E-4EEC-83C4-D4B4B017D7F2}"/>
              </a:ext>
            </a:extLst>
          </p:cNvPr>
          <p:cNvSpPr>
            <a:spLocks xmlns:a="http://schemas.openxmlformats.org/drawingml/2006/main" noGrp="1"/>
          </p:cNvSpPr>
          <p:nvPr/>
        </p:nvSpPr>
        <p:spPr>
          <a:xfrm xmlns:a="http://schemas.openxmlformats.org/drawingml/2006/main">
            <a:off x="5486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Fast feedback</a:t>
            </a:r>
            <a:endParaRPr sz="1100"/>
          </a:p>
        </p:txBody>
      </p:sp>
      <p:pic>
        <p:nvPicPr>
          <p:cNvPr id="45" name="!!avatar2"/>
          <p:cNvPicPr>
            <a:picLocks xmlns:a="http://schemas.openxmlformats.org/drawingml/2006/main" noChangeAspect="1"/>
          </p:cNvPicPr>
          <p:nvPr/>
        </p:nvPicPr>
        <p:blipFill>
          <a:blip xmlns:r="http://schemas.openxmlformats.org/officeDocument/2006/relationships" xmlns:a="http://schemas.openxmlformats.org/drawingml/2006/main" r:embed="R494d326495964e9c"/>
          <a:srcRect xmlns:a="http://schemas.openxmlformats.org/drawingml/2006/main" l="0" t="0" r="0" b="0"/>
          <a:stretch xmlns:a="http://schemas.openxmlformats.org/drawingml/2006/main"/>
        </p:blipFill>
        <p:spPr>
          <a:xfrm xmlns:a="http://schemas.openxmlformats.org/drawingml/2006/main">
            <a:off x="2651760" y="2514600"/>
            <a:ext cx="1234440" cy="1234440"/>
          </a:xfrm>
          <a:prstGeom xmlns:a="http://schemas.openxmlformats.org/drawingml/2006/main" prst="ellipse">
            <a:avLst/>
          </a:prstGeom>
        </p:spPr>
      </p:pic>
      <p:sp>
        <p:nvSpPr>
          <p:cNvPr id="13" name="Text 8">
            <a:extLst xmlns:a="http://schemas.openxmlformats.org/drawingml/2006/main">
              <a:ext uri="{FF2B5EF4-FFF2-40B4-BE49-F238E27FC236}">
                <a16:creationId xmlns:a16="http://schemas.microsoft.com/office/drawing/2014/main" id="{BAA6570B-5A09-4320-BF80-A75BDA9BABC2}"/>
              </a:ext>
            </a:extLst>
          </p:cNvPr>
          <p:cNvSpPr>
            <a:spLocks xmlns:a="http://schemas.openxmlformats.org/drawingml/2006/main" noGrp="1"/>
          </p:cNvSpPr>
          <p:nvPr/>
        </p:nvSpPr>
        <p:spPr>
          <a:xfrm xmlns:a="http://schemas.openxmlformats.org/drawingml/2006/main">
            <a:off x="23774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Clear ownership</a:t>
            </a:r>
            <a:endParaRPr sz="1250"/>
          </a:p>
        </p:txBody>
      </p:sp>
      <p:sp>
        <p:nvSpPr>
          <p:cNvPr id="14" name="Text 9">
            <a:extLst xmlns:a="http://schemas.openxmlformats.org/drawingml/2006/main">
              <a:ext uri="{FF2B5EF4-FFF2-40B4-BE49-F238E27FC236}">
                <a16:creationId xmlns:a16="http://schemas.microsoft.com/office/drawing/2014/main" id="{71A8129D-8E1B-4735-95A1-6FC1DF38A0C2}"/>
              </a:ext>
            </a:extLst>
          </p:cNvPr>
          <p:cNvSpPr>
            <a:spLocks xmlns:a="http://schemas.openxmlformats.org/drawingml/2006/main" noGrp="1"/>
          </p:cNvSpPr>
          <p:nvPr/>
        </p:nvSpPr>
        <p:spPr>
          <a:xfrm xmlns:a="http://schemas.openxmlformats.org/drawingml/2006/main">
            <a:off x="23774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Lower coordination cost</a:t>
            </a:r>
            <a:endParaRPr sz="1100"/>
          </a:p>
        </p:txBody>
      </p:sp>
      <p:pic>
        <p:nvPicPr>
          <p:cNvPr id="48" name="!!avatar3"/>
          <p:cNvPicPr>
            <a:picLocks xmlns:a="http://schemas.openxmlformats.org/drawingml/2006/main" noChangeAspect="1"/>
          </p:cNvPicPr>
          <p:nvPr/>
        </p:nvPicPr>
        <p:blipFill>
          <a:blip xmlns:r="http://schemas.openxmlformats.org/officeDocument/2006/relationships" xmlns:a="http://schemas.openxmlformats.org/drawingml/2006/main" r:embed="R494d326495964e9c"/>
          <a:srcRect xmlns:a="http://schemas.openxmlformats.org/drawingml/2006/main" l="0" t="0" r="0" b="0"/>
          <a:stretch xmlns:a="http://schemas.openxmlformats.org/drawingml/2006/main"/>
        </p:blipFill>
        <p:spPr>
          <a:xfrm xmlns:a="http://schemas.openxmlformats.org/drawingml/2006/main">
            <a:off x="4480560" y="2514600"/>
            <a:ext cx="1234440" cy="1234440"/>
          </a:xfrm>
          <a:prstGeom xmlns:a="http://schemas.openxmlformats.org/drawingml/2006/main" prst="ellipse">
            <a:avLst/>
          </a:prstGeom>
        </p:spPr>
      </p:pic>
      <p:sp>
        <p:nvSpPr>
          <p:cNvPr id="16" name="Text 10">
            <a:extLst xmlns:a="http://schemas.openxmlformats.org/drawingml/2006/main">
              <a:ext uri="{FF2B5EF4-FFF2-40B4-BE49-F238E27FC236}">
                <a16:creationId xmlns:a16="http://schemas.microsoft.com/office/drawing/2014/main" id="{14B02A11-2AFE-4627-8E84-30833A7DCE0F}"/>
              </a:ext>
            </a:extLst>
          </p:cNvPr>
          <p:cNvSpPr>
            <a:spLocks xmlns:a="http://schemas.openxmlformats.org/drawingml/2006/main" noGrp="1"/>
          </p:cNvSpPr>
          <p:nvPr/>
        </p:nvSpPr>
        <p:spPr>
          <a:xfrm xmlns:a="http://schemas.openxmlformats.org/drawingml/2006/main">
            <a:off x="42062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Safe challenge</a:t>
            </a:r>
            <a:endParaRPr sz="1250"/>
          </a:p>
        </p:txBody>
      </p:sp>
      <p:sp>
        <p:nvSpPr>
          <p:cNvPr id="17" name="Text 11">
            <a:extLst xmlns:a="http://schemas.openxmlformats.org/drawingml/2006/main">
              <a:ext uri="{FF2B5EF4-FFF2-40B4-BE49-F238E27FC236}">
                <a16:creationId xmlns:a16="http://schemas.microsoft.com/office/drawing/2014/main" id="{70AAE976-5DC0-4774-950C-A7898FF1966E}"/>
              </a:ext>
            </a:extLst>
          </p:cNvPr>
          <p:cNvSpPr>
            <a:spLocks xmlns:a="http://schemas.openxmlformats.org/drawingml/2006/main" noGrp="1"/>
          </p:cNvSpPr>
          <p:nvPr/>
        </p:nvSpPr>
        <p:spPr>
          <a:xfrm xmlns:a="http://schemas.openxmlformats.org/drawingml/2006/main">
            <a:off x="42062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Review + mutation tests</a:t>
            </a:r>
            <a:endParaRPr sz="1100"/>
          </a:p>
        </p:txBody>
      </p:sp>
      <p:pic>
        <p:nvPicPr>
          <p:cNvPr id="51" name="!!avatar4"/>
          <p:cNvPicPr>
            <a:picLocks xmlns:a="http://schemas.openxmlformats.org/drawingml/2006/main" noChangeAspect="1"/>
          </p:cNvPicPr>
          <p:nvPr/>
        </p:nvPicPr>
        <p:blipFill>
          <a:blip xmlns:r="http://schemas.openxmlformats.org/officeDocument/2006/relationships" xmlns:a="http://schemas.openxmlformats.org/drawingml/2006/main" r:embed="R494d326495964e9c"/>
          <a:srcRect xmlns:a="http://schemas.openxmlformats.org/drawingml/2006/main" l="0" t="0" r="0" b="0"/>
          <a:stretch xmlns:a="http://schemas.openxmlformats.org/drawingml/2006/main"/>
        </p:blipFill>
        <p:spPr>
          <a:xfrm xmlns:a="http://schemas.openxmlformats.org/drawingml/2006/main">
            <a:off x="6309360" y="2514600"/>
            <a:ext cx="1234440" cy="1234440"/>
          </a:xfrm>
          <a:prstGeom xmlns:a="http://schemas.openxmlformats.org/drawingml/2006/main" prst="ellipse">
            <a:avLst/>
          </a:prstGeom>
        </p:spPr>
      </p:pic>
      <p:sp>
        <p:nvSpPr>
          <p:cNvPr id="19" name="Text 12">
            <a:extLst xmlns:a="http://schemas.openxmlformats.org/drawingml/2006/main">
              <a:ext uri="{FF2B5EF4-FFF2-40B4-BE49-F238E27FC236}">
                <a16:creationId xmlns:a16="http://schemas.microsoft.com/office/drawing/2014/main" id="{3AB1A7CA-C2B6-409C-A250-0517619CF8F2}"/>
              </a:ext>
            </a:extLst>
          </p:cNvPr>
          <p:cNvSpPr>
            <a:spLocks xmlns:a="http://schemas.openxmlformats.org/drawingml/2006/main" noGrp="1"/>
          </p:cNvSpPr>
          <p:nvPr/>
        </p:nvSpPr>
        <p:spPr>
          <a:xfrm xmlns:a="http://schemas.openxmlformats.org/drawingml/2006/main">
            <a:off x="60350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Real systems</a:t>
            </a:r>
            <a:endParaRPr sz="1250"/>
          </a:p>
        </p:txBody>
      </p:sp>
      <p:sp>
        <p:nvSpPr>
          <p:cNvPr id="20" name="Text 13">
            <a:extLst xmlns:a="http://schemas.openxmlformats.org/drawingml/2006/main">
              <a:ext uri="{FF2B5EF4-FFF2-40B4-BE49-F238E27FC236}">
                <a16:creationId xmlns:a16="http://schemas.microsoft.com/office/drawing/2014/main" id="{E8AF2E52-DF00-452D-977F-306F5E75532F}"/>
              </a:ext>
            </a:extLst>
          </p:cNvPr>
          <p:cNvSpPr>
            <a:spLocks xmlns:a="http://schemas.openxmlformats.org/drawingml/2006/main" noGrp="1"/>
          </p:cNvSpPr>
          <p:nvPr/>
        </p:nvSpPr>
        <p:spPr>
          <a:xfrm xmlns:a="http://schemas.openxmlformats.org/drawingml/2006/main">
            <a:off x="60350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Evidence over assumptions</a:t>
            </a:r>
            <a:endParaRPr sz="1100"/>
          </a:p>
        </p:txBody>
      </p:sp>
      <p:pic>
        <p:nvPicPr>
          <p:cNvPr id="54" name="!!avatar5"/>
          <p:cNvPicPr>
            <a:picLocks xmlns:a="http://schemas.openxmlformats.org/drawingml/2006/main" noChangeAspect="1"/>
          </p:cNvPicPr>
          <p:nvPr/>
        </p:nvPicPr>
        <p:blipFill>
          <a:blip xmlns:r="http://schemas.openxmlformats.org/officeDocument/2006/relationships" xmlns:a="http://schemas.openxmlformats.org/drawingml/2006/main" r:embed="R494d326495964e9c"/>
          <a:srcRect xmlns:a="http://schemas.openxmlformats.org/drawingml/2006/main" l="0" t="0" r="0" b="0"/>
          <a:stretch xmlns:a="http://schemas.openxmlformats.org/drawingml/2006/main"/>
        </p:blipFill>
        <p:spPr>
          <a:xfrm xmlns:a="http://schemas.openxmlformats.org/drawingml/2006/main">
            <a:off x="8138160" y="2514600"/>
            <a:ext cx="1234440" cy="1234440"/>
          </a:xfrm>
          <a:prstGeom xmlns:a="http://schemas.openxmlformats.org/drawingml/2006/main" prst="ellipse">
            <a:avLst/>
          </a:prstGeom>
        </p:spPr>
      </p:pic>
      <p:sp>
        <p:nvSpPr>
          <p:cNvPr id="22" name="Text 14">
            <a:extLst xmlns:a="http://schemas.openxmlformats.org/drawingml/2006/main">
              <a:ext uri="{FF2B5EF4-FFF2-40B4-BE49-F238E27FC236}">
                <a16:creationId xmlns:a16="http://schemas.microsoft.com/office/drawing/2014/main" id="{89DEF0C3-1B07-4032-88E3-82485D505683}"/>
              </a:ext>
            </a:extLst>
          </p:cNvPr>
          <p:cNvSpPr>
            <a:spLocks xmlns:a="http://schemas.openxmlformats.org/drawingml/2006/main" noGrp="1"/>
          </p:cNvSpPr>
          <p:nvPr/>
        </p:nvSpPr>
        <p:spPr>
          <a:xfrm xmlns:a="http://schemas.openxmlformats.org/drawingml/2006/main">
            <a:off x="78638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Client escalation</a:t>
            </a:r>
            <a:endParaRPr sz="1250"/>
          </a:p>
        </p:txBody>
      </p:sp>
      <p:sp>
        <p:nvSpPr>
          <p:cNvPr id="23" name="Text 15">
            <a:extLst xmlns:a="http://schemas.openxmlformats.org/drawingml/2006/main">
              <a:ext uri="{FF2B5EF4-FFF2-40B4-BE49-F238E27FC236}">
                <a16:creationId xmlns:a16="http://schemas.microsoft.com/office/drawing/2014/main" id="{6762F76E-EDAB-4111-A2CF-1E30E3B7CD4C}"/>
              </a:ext>
            </a:extLst>
          </p:cNvPr>
          <p:cNvSpPr>
            <a:spLocks xmlns:a="http://schemas.openxmlformats.org/drawingml/2006/main" noGrp="1"/>
          </p:cNvSpPr>
          <p:nvPr/>
        </p:nvSpPr>
        <p:spPr>
          <a:xfrm xmlns:a="http://schemas.openxmlformats.org/drawingml/2006/main">
            <a:off x="78638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Unknowns made visible</a:t>
            </a:r>
            <a:endParaRPr sz="1100"/>
          </a:p>
        </p:txBody>
      </p:sp>
      <p:pic>
        <p:nvPicPr>
          <p:cNvPr id="57" name="!!avatar6"/>
          <p:cNvPicPr>
            <a:picLocks xmlns:a="http://schemas.openxmlformats.org/drawingml/2006/main" noChangeAspect="1"/>
          </p:cNvPicPr>
          <p:nvPr/>
        </p:nvPicPr>
        <p:blipFill>
          <a:blip xmlns:r="http://schemas.openxmlformats.org/officeDocument/2006/relationships" xmlns:a="http://schemas.openxmlformats.org/drawingml/2006/main" r:embed="R494d326495964e9c"/>
          <a:srcRect xmlns:a="http://schemas.openxmlformats.org/drawingml/2006/main" l="0" t="0" r="0" b="0"/>
          <a:stretch xmlns:a="http://schemas.openxmlformats.org/drawingml/2006/main"/>
        </p:blipFill>
        <p:spPr>
          <a:xfrm xmlns:a="http://schemas.openxmlformats.org/drawingml/2006/main">
            <a:off x="9966960" y="2514600"/>
            <a:ext cx="1234440" cy="1234440"/>
          </a:xfrm>
          <a:prstGeom xmlns:a="http://schemas.openxmlformats.org/drawingml/2006/main" prst="ellipse">
            <a:avLst/>
          </a:prstGeom>
        </p:spPr>
      </p:pic>
      <p:sp>
        <p:nvSpPr>
          <p:cNvPr id="25" name="Text 16">
            <a:extLst xmlns:a="http://schemas.openxmlformats.org/drawingml/2006/main">
              <a:ext uri="{FF2B5EF4-FFF2-40B4-BE49-F238E27FC236}">
                <a16:creationId xmlns:a16="http://schemas.microsoft.com/office/drawing/2014/main" id="{7EC89DB5-917D-42D4-9B18-90AF29BB6D3D}"/>
              </a:ext>
            </a:extLst>
          </p:cNvPr>
          <p:cNvSpPr>
            <a:spLocks xmlns:a="http://schemas.openxmlformats.org/drawingml/2006/main" noGrp="1"/>
          </p:cNvSpPr>
          <p:nvPr/>
        </p:nvSpPr>
        <p:spPr>
          <a:xfrm xmlns:a="http://schemas.openxmlformats.org/drawingml/2006/main">
            <a:off x="9692640" y="3950208"/>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250" b="1">
                <a:solidFill>
                  <a:srgbClr val="EEF2F8"/>
                </a:solidFill>
                <a:latin typeface="Arial"/>
                <a:ea typeface="Arial"/>
                <a:cs typeface="Arial"/>
              </a:rPr>
              <a:t>Readiness</a:t>
            </a:r>
            <a:endParaRPr sz="1250"/>
          </a:p>
        </p:txBody>
      </p:sp>
      <p:sp>
        <p:nvSpPr>
          <p:cNvPr id="26" name="Text 17">
            <a:extLst xmlns:a="http://schemas.openxmlformats.org/drawingml/2006/main">
              <a:ext uri="{FF2B5EF4-FFF2-40B4-BE49-F238E27FC236}">
                <a16:creationId xmlns:a16="http://schemas.microsoft.com/office/drawing/2014/main" id="{5A04EA0A-6EF5-4774-A505-CEF22EF2B94F}"/>
              </a:ext>
            </a:extLst>
          </p:cNvPr>
          <p:cNvSpPr>
            <a:spLocks xmlns:a="http://schemas.openxmlformats.org/drawingml/2006/main" noGrp="1"/>
          </p:cNvSpPr>
          <p:nvPr/>
        </p:nvSpPr>
        <p:spPr>
          <a:xfrm xmlns:a="http://schemas.openxmlformats.org/drawingml/2006/main">
            <a:off x="9692640" y="4242816"/>
            <a:ext cx="178308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100">
                <a:solidFill>
                  <a:srgbClr val="8A94A8"/>
                </a:solidFill>
                <a:latin typeface="Arial"/>
                <a:ea typeface="Arial"/>
                <a:cs typeface="Arial"/>
              </a:rPr>
              <a:t>UAT + runbooks</a:t>
            </a:r>
            <a:endParaRPr sz="1100"/>
          </a:p>
        </p:txBody>
      </p:sp>
      <p:sp>
        <p:nvSpPr>
          <p:cNvPr id="27" name="Text 18">
            <a:extLst xmlns:a="http://schemas.openxmlformats.org/drawingml/2006/main">
              <a:ext uri="{FF2B5EF4-FFF2-40B4-BE49-F238E27FC236}">
                <a16:creationId xmlns:a16="http://schemas.microsoft.com/office/drawing/2014/main" id="{9051640A-6C59-477D-84BC-ADE84000549B}"/>
              </a:ext>
            </a:extLst>
          </p:cNvPr>
          <p:cNvSpPr>
            <a:spLocks xmlns:a="http://schemas.openxmlformats.org/drawingml/2006/main" noGrp="1"/>
          </p:cNvSpPr>
          <p:nvPr/>
        </p:nvSpPr>
        <p:spPr>
          <a:xfrm xmlns:a="http://schemas.openxmlformats.org/drawingml/2006/main">
            <a:off x="822960" y="5138928"/>
            <a:ext cx="8686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00">
                <a:solidFill>
                  <a:srgbClr val="8A94A8"/>
                </a:solidFill>
                <a:latin typeface="Arial"/>
                <a:ea typeface="Arial"/>
                <a:cs typeface="Arial"/>
              </a:rPr>
              <a:t>Conway explains the boundary design; psychological safety explains how risks and mistakes became visible and correctable.</a:t>
            </a:r>
            <a:endParaRPr sz="1300"/>
          </a:p>
        </p:txBody>
      </p:sp>
    </p:spTree>
    <p:extLst>
      <p:ext uri="{BB962C8B-B14F-4D97-AF65-F5344CB8AC3E}">
        <p14:creationId xmlns:p14="http://schemas.microsoft.com/office/powerpoint/2010/main" val="1682624827"/>
      </p:ext>
    </p:extLst>
  </p:cSld>
  <mc:AlternateContent xmlns:mc="http://schemas.openxmlformats.org/markup-compatibility/2006">
    <mc:Choice xmlns:p159="http://schemas.microsoft.com/office/powerpoint/2015/09/main" Requires="p159">
      <p:transition xmlns:p14="http://schemas.microsoft.com/office/powerpoint/2010/main" spd="slow" advClick="1" advTm="5000" p14:dur="1400">
        <p159:morph option="byObject"/>
      </p:transition>
    </mc:Choice>
    <mc:Fallback>
      <p:transition spd="slow" advClick="1" advTm="5000">
        <p:fade/>
      </p:transition>
    </mc:Fallback>
  </mc:AlternateContent>
</p:sld>
</file>

<file path=ppt/slides/slide18.xml><?xml version="1.0" encoding="utf-8"?>
<p:sld xmlns:p="http://schemas.openxmlformats.org/presentationml/2006/main">
  <p:cSld>
    <p:bg>
      <p:bgPr>
        <a:blipFill xmlns:a="http://schemas.openxmlformats.org/drawingml/2006/main" rotWithShape="1">
          <a:blip xmlns:r="http://schemas.openxmlformats.org/officeDocument/2006/relationships" r:embed="R564dea5b99b94d62">
            <a:lum/>
          </a:blip>
          <a:srcRect l="0" t="0" r="0" b="0"/>
          <a:stretch>
            <a:fillRect l="0" t="0" r="0" b="0"/>
          </a:stretch>
        </a:blipFill>
      </p:bgPr>
    </p:bg>
    <p:spTree>
      <p:nvGrpSpPr>
        <p:cNvPr id="1" name=""/>
        <p:cNvGrpSpPr/>
        <p:nvPr/>
      </p:nvGrpSpPr>
      <p:grpSpPr>
        <a:xfrm xmlns:a="http://schemas.openxmlformats.org/drawingml/2006/main"/>
      </p:grpSpPr>
      <p:pic>
        <p:nvPicPr>
          <p:cNvPr id="26" name="!!orb"/>
          <p:cNvPicPr>
            <a:picLocks xmlns:a="http://schemas.openxmlformats.org/drawingml/2006/main" noChangeAspect="1"/>
          </p:cNvPicPr>
          <p:nvPr/>
        </p:nvPicPr>
        <p:blipFill>
          <a:blip xmlns:r="http://schemas.openxmlformats.org/officeDocument/2006/relationships" xmlns:a="http://schemas.openxmlformats.org/drawingml/2006/main" r:embed="R5e2109b9a04e445f"/>
          <a:stretch xmlns:a="http://schemas.openxmlformats.org/drawingml/2006/main">
            <a:fillRect l="0" t="0" r="0" b="0"/>
          </a:stretch>
        </p:blipFill>
        <p:spPr>
          <a:xfrm xmlns:a="http://schemas.openxmlformats.org/drawingml/2006/main">
            <a:off x="7863840" y="3108960"/>
            <a:ext cx="5669280" cy="5669280"/>
          </a:xfrm>
          <a:prstGeom xmlns:a="http://schemas.openxmlformats.org/drawingml/2006/main" prst="rect">
            <a:avLst/>
          </a:prstGeom>
        </p:spPr>
      </p:pic>
      <p:sp>
        <p:nvSpPr>
          <p:cNvPr id="3" name="track">
            <a:extLst xmlns:a="http://schemas.openxmlformats.org/drawingml/2006/main">
              <a:ext uri="{FF2B5EF4-FFF2-40B4-BE49-F238E27FC236}">
                <a16:creationId xmlns:a16="http://schemas.microsoft.com/office/drawing/2014/main" id="{49CA7B59-CEA0-4317-BB63-675DFA59B2B6}"/>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4" name="!!bar">
            <a:extLst xmlns:a="http://schemas.openxmlformats.org/drawingml/2006/main">
              <a:ext uri="{FF2B5EF4-FFF2-40B4-BE49-F238E27FC236}">
                <a16:creationId xmlns:a16="http://schemas.microsoft.com/office/drawing/2014/main" id="{8A1E95D9-3A2E-40F3-BA00-353D61AD2F0E}"/>
              </a:ext>
            </a:extLst>
          </p:cNvPr>
          <p:cNvSpPr>
            <a:spLocks xmlns:a="http://schemas.openxmlformats.org/drawingml/2006/main" noGrp="1"/>
          </p:cNvSpPr>
          <p:nvPr/>
        </p:nvSpPr>
        <p:spPr>
          <a:xfrm xmlns:a="http://schemas.openxmlformats.org/drawingml/2006/main">
            <a:off x="822960" y="6446520"/>
            <a:ext cx="9476120"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5" name="!!mark">
            <a:extLst xmlns:a="http://schemas.openxmlformats.org/drawingml/2006/main">
              <a:ext uri="{FF2B5EF4-FFF2-40B4-BE49-F238E27FC236}">
                <a16:creationId xmlns:a16="http://schemas.microsoft.com/office/drawing/2014/main" id="{1028EA4E-45A5-46AB-BDA3-120ED941A21D}"/>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kicker">
            <a:extLst xmlns:a="http://schemas.openxmlformats.org/drawingml/2006/main">
              <a:ext uri="{FF2B5EF4-FFF2-40B4-BE49-F238E27FC236}">
                <a16:creationId xmlns:a16="http://schemas.microsoft.com/office/drawing/2014/main" id="{F4ACCC7B-F6AE-44F6-B489-33959FCDF039}"/>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NEXT PHASE</a:t>
            </a:r>
            <a:endParaRPr sz="900"/>
          </a:p>
        </p:txBody>
      </p:sp>
      <p:sp>
        <p:nvSpPr>
          <p:cNvPr id="7" name="pageno">
            <a:extLst xmlns:a="http://schemas.openxmlformats.org/drawingml/2006/main">
              <a:ext uri="{FF2B5EF4-FFF2-40B4-BE49-F238E27FC236}">
                <a16:creationId xmlns:a16="http://schemas.microsoft.com/office/drawing/2014/main" id="{4CF0F2FD-CD4E-4E93-9E72-E83824B6F45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18 / 20</a:t>
            </a:r>
            <a:endParaRPr sz="900"/>
          </a:p>
        </p:txBody>
      </p:sp>
      <p:sp>
        <p:nvSpPr>
          <p:cNvPr id="8" name="Text 5">
            <a:extLst xmlns:a="http://schemas.openxmlformats.org/drawingml/2006/main">
              <a:ext uri="{FF2B5EF4-FFF2-40B4-BE49-F238E27FC236}">
                <a16:creationId xmlns:a16="http://schemas.microsoft.com/office/drawing/2014/main" id="{A2AFA5A1-0F8A-4C17-8FD4-C18D1087A777}"/>
              </a:ext>
            </a:extLst>
          </p:cNvPr>
          <p:cNvSpPr>
            <a:spLocks xmlns:a="http://schemas.openxmlformats.org/drawingml/2006/main" noGrp="1"/>
          </p:cNvSpPr>
          <p:nvPr/>
        </p:nvSpPr>
        <p:spPr>
          <a:xfrm xmlns:a="http://schemas.openxmlformats.org/drawingml/2006/main">
            <a:off x="822960" y="1097280"/>
            <a:ext cx="8686800" cy="868680"/>
          </a:xfrm>
          <a:prstGeom xmlns:a="http://schemas.openxmlformats.org/drawingml/2006/main" prst="rect">
            <a:avLst/>
          </a:prstGeom>
          <a:noFill xmlns:a="http://schemas.openxmlformats.org/drawingml/2006/mai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0" indent="0">
              <a:lnSpc>
                <a:spcPts val="3078"/>
              </a:lnSpc>
              <a:buNone/>
            </a:pPr>
            <a:r>
              <a:rPr sz="2700" b="1">
                <a:solidFill>
                  <a:srgbClr val="EEF2F8"/>
                </a:solidFill>
                <a:latin typeface="Arial"/>
                <a:ea typeface="Arial"/>
                <a:cs typeface="Arial"/>
              </a:rPr>
              <a:t>Three dependencies before production readiness</a:t>
            </a:r>
            <a:endParaRPr sz="2700"/>
          </a:p>
        </p:txBody>
      </p:sp>
      <p:sp>
        <p:nvSpPr>
          <p:cNvPr id="9" name="!!ask1">
            <a:extLst xmlns:a="http://schemas.openxmlformats.org/drawingml/2006/main">
              <a:ext uri="{FF2B5EF4-FFF2-40B4-BE49-F238E27FC236}">
                <a16:creationId xmlns:a16="http://schemas.microsoft.com/office/drawing/2014/main" id="{61B3EC33-C24E-4A1A-BFBC-6B7DACE75252}"/>
              </a:ext>
            </a:extLst>
          </p:cNvPr>
          <p:cNvSpPr>
            <a:spLocks xmlns:a="http://schemas.openxmlformats.org/drawingml/2006/main" noGrp="1"/>
          </p:cNvSpPr>
          <p:nvPr/>
        </p:nvSpPr>
        <p:spPr>
          <a:xfrm xmlns:a="http://schemas.openxmlformats.org/drawingml/2006/main">
            <a:off x="822960" y="2286000"/>
            <a:ext cx="3200400"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FF6B35"/>
            </a:solidFill>
            <a:prstDash val="solid"/>
          </a:ln>
        </p:spPr>
      </p:sp>
      <p:sp>
        <p:nvSpPr>
          <p:cNvPr id="10" name="Text 7">
            <a:extLst xmlns:a="http://schemas.openxmlformats.org/drawingml/2006/main">
              <a:ext uri="{FF2B5EF4-FFF2-40B4-BE49-F238E27FC236}">
                <a16:creationId xmlns:a16="http://schemas.microsoft.com/office/drawing/2014/main" id="{1E6DBB54-894C-4700-B774-AE83E45A29EA}"/>
              </a:ext>
            </a:extLst>
          </p:cNvPr>
          <p:cNvSpPr>
            <a:spLocks xmlns:a="http://schemas.openxmlformats.org/drawingml/2006/main" noGrp="1"/>
          </p:cNvSpPr>
          <p:nvPr/>
        </p:nvSpPr>
        <p:spPr>
          <a:xfrm xmlns:a="http://schemas.openxmlformats.org/drawingml/2006/main">
            <a:off x="1188720" y="2615184"/>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FF6B35"/>
                </a:solidFill>
                <a:latin typeface="Arial"/>
                <a:ea typeface="Arial"/>
                <a:cs typeface="Arial"/>
              </a:rPr>
              <a:t>DEPENDENCY 01</a:t>
            </a:r>
            <a:endParaRPr sz="900"/>
          </a:p>
        </p:txBody>
      </p:sp>
      <p:sp>
        <p:nvSpPr>
          <p:cNvPr id="11" name="Text 8">
            <a:extLst xmlns:a="http://schemas.openxmlformats.org/drawingml/2006/main">
              <a:ext uri="{FF2B5EF4-FFF2-40B4-BE49-F238E27FC236}">
                <a16:creationId xmlns:a16="http://schemas.microsoft.com/office/drawing/2014/main" id="{D4D407F4-2B27-41E9-861C-4FE929E51E00}"/>
              </a:ext>
            </a:extLst>
          </p:cNvPr>
          <p:cNvSpPr>
            <a:spLocks xmlns:a="http://schemas.openxmlformats.org/drawingml/2006/main" noGrp="1"/>
          </p:cNvSpPr>
          <p:nvPr/>
        </p:nvSpPr>
        <p:spPr>
          <a:xfrm xmlns:a="http://schemas.openxmlformats.org/drawingml/2006/main">
            <a:off x="1188720" y="3035808"/>
            <a:ext cx="2468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Identity boundary</a:t>
            </a:r>
            <a:endParaRPr sz="1700"/>
          </a:p>
        </p:txBody>
      </p:sp>
      <p:sp>
        <p:nvSpPr>
          <p:cNvPr id="12" name="Text 9">
            <a:extLst xmlns:a="http://schemas.openxmlformats.org/drawingml/2006/main">
              <a:ext uri="{FF2B5EF4-FFF2-40B4-BE49-F238E27FC236}">
                <a16:creationId xmlns:a16="http://schemas.microsoft.com/office/drawing/2014/main" id="{EC791DDE-E9AE-48DE-860D-378D93F364FB}"/>
              </a:ext>
            </a:extLst>
          </p:cNvPr>
          <p:cNvSpPr>
            <a:spLocks xmlns:a="http://schemas.openxmlformats.org/drawingml/2006/main" noGrp="1"/>
          </p:cNvSpPr>
          <p:nvPr/>
        </p:nvSpPr>
        <p:spPr>
          <a:xfrm xmlns:a="http://schemas.openxmlformats.org/drawingml/2006/main">
            <a:off x="1188720" y="3529584"/>
            <a:ext cx="2468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250">
                <a:solidFill>
                  <a:srgbClr val="8A94A8"/>
                </a:solidFill>
                <a:latin typeface="Arial"/>
                <a:ea typeface="Arial"/>
                <a:cs typeface="Arial"/>
              </a:rPr>
              <a:t>Confirm login ownership and the Member Jungle boundary.</a:t>
            </a:r>
            <a:endParaRPr sz="1250"/>
          </a:p>
        </p:txBody>
      </p:sp>
      <p:sp>
        <p:nvSpPr>
          <p:cNvPr id="13" name="Text 10">
            <a:extLst xmlns:a="http://schemas.openxmlformats.org/drawingml/2006/main">
              <a:ext uri="{FF2B5EF4-FFF2-40B4-BE49-F238E27FC236}">
                <a16:creationId xmlns:a16="http://schemas.microsoft.com/office/drawing/2014/main" id="{4ADA4035-0F78-4C2F-BCA2-AF355D9D16D0}"/>
              </a:ext>
            </a:extLst>
          </p:cNvPr>
          <p:cNvSpPr>
            <a:spLocks xmlns:a="http://schemas.openxmlformats.org/drawingml/2006/main" noGrp="1"/>
          </p:cNvSpPr>
          <p:nvPr/>
        </p:nvSpPr>
        <p:spPr>
          <a:xfrm xmlns:a="http://schemas.openxmlformats.org/drawingml/2006/main">
            <a:off x="1188720" y="4718304"/>
            <a:ext cx="2468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100">
                <a:solidFill>
                  <a:srgbClr val="EEF2F8"/>
                </a:solidFill>
                <a:latin typeface="Arial"/>
                <a:ea typeface="Arial"/>
                <a:cs typeface="Arial"/>
              </a:rPr>
              <a:t>CLIENT · BEFORE UAT</a:t>
            </a:r>
            <a:endParaRPr sz="1100"/>
          </a:p>
        </p:txBody>
      </p:sp>
      <p:sp>
        <p:nvSpPr>
          <p:cNvPr id="14" name="!!ask2">
            <a:extLst xmlns:a="http://schemas.openxmlformats.org/drawingml/2006/main">
              <a:ext uri="{FF2B5EF4-FFF2-40B4-BE49-F238E27FC236}">
                <a16:creationId xmlns:a16="http://schemas.microsoft.com/office/drawing/2014/main" id="{2074D570-46E4-4C0C-8CC4-F06771B92D5F}"/>
              </a:ext>
            </a:extLst>
          </p:cNvPr>
          <p:cNvSpPr>
            <a:spLocks xmlns:a="http://schemas.openxmlformats.org/drawingml/2006/main" noGrp="1"/>
          </p:cNvSpPr>
          <p:nvPr/>
        </p:nvSpPr>
        <p:spPr>
          <a:xfrm xmlns:a="http://schemas.openxmlformats.org/drawingml/2006/main">
            <a:off x="4494276" y="2286000"/>
            <a:ext cx="3200400"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5" name="Text 12">
            <a:extLst xmlns:a="http://schemas.openxmlformats.org/drawingml/2006/main">
              <a:ext uri="{FF2B5EF4-FFF2-40B4-BE49-F238E27FC236}">
                <a16:creationId xmlns:a16="http://schemas.microsoft.com/office/drawing/2014/main" id="{29919285-E13D-43EF-9155-EDFF1F72A077}"/>
              </a:ext>
            </a:extLst>
          </p:cNvPr>
          <p:cNvSpPr>
            <a:spLocks xmlns:a="http://schemas.openxmlformats.org/drawingml/2006/main" noGrp="1"/>
          </p:cNvSpPr>
          <p:nvPr/>
        </p:nvSpPr>
        <p:spPr>
          <a:xfrm xmlns:a="http://schemas.openxmlformats.org/drawingml/2006/main">
            <a:off x="4860036" y="2615184"/>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DEPENDENCY 02</a:t>
            </a:r>
            <a:endParaRPr sz="900"/>
          </a:p>
        </p:txBody>
      </p:sp>
      <p:sp>
        <p:nvSpPr>
          <p:cNvPr id="16" name="Text 13">
            <a:extLst xmlns:a="http://schemas.openxmlformats.org/drawingml/2006/main">
              <a:ext uri="{FF2B5EF4-FFF2-40B4-BE49-F238E27FC236}">
                <a16:creationId xmlns:a16="http://schemas.microsoft.com/office/drawing/2014/main" id="{94EFB951-D14D-44BE-B454-C5B20845C816}"/>
              </a:ext>
            </a:extLst>
          </p:cNvPr>
          <p:cNvSpPr>
            <a:spLocks xmlns:a="http://schemas.openxmlformats.org/drawingml/2006/main" noGrp="1"/>
          </p:cNvSpPr>
          <p:nvPr/>
        </p:nvSpPr>
        <p:spPr>
          <a:xfrm xmlns:a="http://schemas.openxmlformats.org/drawingml/2006/main">
            <a:off x="4860036" y="3035808"/>
            <a:ext cx="2468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Reviewer + secrets</a:t>
            </a:r>
            <a:endParaRPr sz="1700"/>
          </a:p>
        </p:txBody>
      </p:sp>
      <p:sp>
        <p:nvSpPr>
          <p:cNvPr id="17" name="Text 14">
            <a:extLst xmlns:a="http://schemas.openxmlformats.org/drawingml/2006/main">
              <a:ext uri="{FF2B5EF4-FFF2-40B4-BE49-F238E27FC236}">
                <a16:creationId xmlns:a16="http://schemas.microsoft.com/office/drawing/2014/main" id="{AD945DFC-40D6-4161-8605-28E48131F4BA}"/>
              </a:ext>
            </a:extLst>
          </p:cNvPr>
          <p:cNvSpPr>
            <a:spLocks xmlns:a="http://schemas.openxmlformats.org/drawingml/2006/main" noGrp="1"/>
          </p:cNvSpPr>
          <p:nvPr/>
        </p:nvSpPr>
        <p:spPr>
          <a:xfrm xmlns:a="http://schemas.openxmlformats.org/drawingml/2006/main">
            <a:off x="4860036" y="3529584"/>
            <a:ext cx="2468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250">
                <a:solidFill>
                  <a:srgbClr val="8A94A8"/>
                </a:solidFill>
                <a:latin typeface="Arial"/>
                <a:ea typeface="Arial"/>
                <a:cs typeface="Arial"/>
              </a:rPr>
              <a:t>Name the reviewer; provide OAuth secrets and a rotation policy.</a:t>
            </a:r>
            <a:endParaRPr sz="1250"/>
          </a:p>
        </p:txBody>
      </p:sp>
      <p:sp>
        <p:nvSpPr>
          <p:cNvPr id="18" name="Text 15">
            <a:extLst xmlns:a="http://schemas.openxmlformats.org/drawingml/2006/main">
              <a:ext uri="{FF2B5EF4-FFF2-40B4-BE49-F238E27FC236}">
                <a16:creationId xmlns:a16="http://schemas.microsoft.com/office/drawing/2014/main" id="{9EA118A0-19F0-4EC0-A815-AE4341EB42DA}"/>
              </a:ext>
            </a:extLst>
          </p:cNvPr>
          <p:cNvSpPr>
            <a:spLocks xmlns:a="http://schemas.openxmlformats.org/drawingml/2006/main" noGrp="1"/>
          </p:cNvSpPr>
          <p:nvPr/>
        </p:nvSpPr>
        <p:spPr>
          <a:xfrm xmlns:a="http://schemas.openxmlformats.org/drawingml/2006/main">
            <a:off x="4860036" y="4718304"/>
            <a:ext cx="2468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100">
                <a:solidFill>
                  <a:srgbClr val="EEF2F8"/>
                </a:solidFill>
                <a:latin typeface="Arial"/>
                <a:ea typeface="Arial"/>
                <a:cs typeface="Arial"/>
              </a:rPr>
              <a:t>CLIENT · BEFORE UAT</a:t>
            </a:r>
            <a:endParaRPr sz="1100"/>
          </a:p>
        </p:txBody>
      </p:sp>
      <p:sp>
        <p:nvSpPr>
          <p:cNvPr id="19" name="!!ask3">
            <a:extLst xmlns:a="http://schemas.openxmlformats.org/drawingml/2006/main">
              <a:ext uri="{FF2B5EF4-FFF2-40B4-BE49-F238E27FC236}">
                <a16:creationId xmlns:a16="http://schemas.microsoft.com/office/drawing/2014/main" id="{F066C0FD-0E76-4255-A561-EFC3C48D236C}"/>
              </a:ext>
            </a:extLst>
          </p:cNvPr>
          <p:cNvSpPr>
            <a:spLocks xmlns:a="http://schemas.openxmlformats.org/drawingml/2006/main" noGrp="1"/>
          </p:cNvSpPr>
          <p:nvPr/>
        </p:nvSpPr>
        <p:spPr>
          <a:xfrm xmlns:a="http://schemas.openxmlformats.org/drawingml/2006/main">
            <a:off x="8165592" y="2286000"/>
            <a:ext cx="3200400"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20" name="Text 17">
            <a:extLst xmlns:a="http://schemas.openxmlformats.org/drawingml/2006/main">
              <a:ext uri="{FF2B5EF4-FFF2-40B4-BE49-F238E27FC236}">
                <a16:creationId xmlns:a16="http://schemas.microsoft.com/office/drawing/2014/main" id="{0C08AC4E-D38E-421C-8675-AD1DB0CC71B2}"/>
              </a:ext>
            </a:extLst>
          </p:cNvPr>
          <p:cNvSpPr>
            <a:spLocks xmlns:a="http://schemas.openxmlformats.org/drawingml/2006/main" noGrp="1"/>
          </p:cNvSpPr>
          <p:nvPr/>
        </p:nvSpPr>
        <p:spPr>
          <a:xfrm xmlns:a="http://schemas.openxmlformats.org/drawingml/2006/main">
            <a:off x="8531352" y="2615184"/>
            <a:ext cx="246888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DEPENDENCY 03</a:t>
            </a:r>
            <a:endParaRPr sz="900"/>
          </a:p>
        </p:txBody>
      </p:sp>
      <p:sp>
        <p:nvSpPr>
          <p:cNvPr id="21" name="Text 18">
            <a:extLst xmlns:a="http://schemas.openxmlformats.org/drawingml/2006/main">
              <a:ext uri="{FF2B5EF4-FFF2-40B4-BE49-F238E27FC236}">
                <a16:creationId xmlns:a16="http://schemas.microsoft.com/office/drawing/2014/main" id="{C27DA205-26E8-4A1E-900E-D9813705F1CF}"/>
              </a:ext>
            </a:extLst>
          </p:cNvPr>
          <p:cNvSpPr>
            <a:spLocks xmlns:a="http://schemas.openxmlformats.org/drawingml/2006/main" noGrp="1"/>
          </p:cNvSpPr>
          <p:nvPr/>
        </p:nvSpPr>
        <p:spPr>
          <a:xfrm xmlns:a="http://schemas.openxmlformats.org/drawingml/2006/main">
            <a:off x="8531352" y="3035808"/>
            <a:ext cx="246888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700" b="1">
                <a:solidFill>
                  <a:srgbClr val="EEF2F8"/>
                </a:solidFill>
                <a:latin typeface="Arial"/>
                <a:ea typeface="Arial"/>
                <a:cs typeface="Arial"/>
              </a:rPr>
              <a:t>Operating model</a:t>
            </a:r>
            <a:endParaRPr sz="1700"/>
          </a:p>
        </p:txBody>
      </p:sp>
      <p:sp>
        <p:nvSpPr>
          <p:cNvPr id="22" name="Text 19">
            <a:extLst xmlns:a="http://schemas.openxmlformats.org/drawingml/2006/main">
              <a:ext uri="{FF2B5EF4-FFF2-40B4-BE49-F238E27FC236}">
                <a16:creationId xmlns:a16="http://schemas.microsoft.com/office/drawing/2014/main" id="{AD04B193-A184-43CF-AF78-6B823A3A3900}"/>
              </a:ext>
            </a:extLst>
          </p:cNvPr>
          <p:cNvSpPr>
            <a:spLocks xmlns:a="http://schemas.openxmlformats.org/drawingml/2006/main" noGrp="1"/>
          </p:cNvSpPr>
          <p:nvPr/>
        </p:nvSpPr>
        <p:spPr>
          <a:xfrm xmlns:a="http://schemas.openxmlformats.org/drawingml/2006/main">
            <a:off x="8531352" y="3529584"/>
            <a:ext cx="246888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nSpc>
                <a:spcPts val="1900"/>
              </a:lnSpc>
              <a:buNone/>
            </a:pPr>
            <a:r>
              <a:rPr sz="1250">
                <a:solidFill>
                  <a:srgbClr val="8A94A8"/>
                </a:solidFill>
                <a:latin typeface="Arial"/>
                <a:ea typeface="Arial"/>
                <a:cs typeface="Arial"/>
              </a:rPr>
              <a:t>Define UAT ownership, deployment support and board reconciliation.</a:t>
            </a:r>
            <a:endParaRPr sz="1250"/>
          </a:p>
        </p:txBody>
      </p:sp>
      <p:sp>
        <p:nvSpPr>
          <p:cNvPr id="23" name="Text 20">
            <a:extLst xmlns:a="http://schemas.openxmlformats.org/drawingml/2006/main">
              <a:ext uri="{FF2B5EF4-FFF2-40B4-BE49-F238E27FC236}">
                <a16:creationId xmlns:a16="http://schemas.microsoft.com/office/drawing/2014/main" id="{1084782E-E1A8-41DA-852B-8F5C3AD42A80}"/>
              </a:ext>
            </a:extLst>
          </p:cNvPr>
          <p:cNvSpPr>
            <a:spLocks xmlns:a="http://schemas.openxmlformats.org/drawingml/2006/main" noGrp="1"/>
          </p:cNvSpPr>
          <p:nvPr/>
        </p:nvSpPr>
        <p:spPr>
          <a:xfrm xmlns:a="http://schemas.openxmlformats.org/drawingml/2006/main">
            <a:off x="8531352" y="4718304"/>
            <a:ext cx="24688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spc="100">
                <a:solidFill>
                  <a:srgbClr val="EEF2F8"/>
                </a:solidFill>
                <a:latin typeface="Arial"/>
                <a:ea typeface="Arial"/>
                <a:cs typeface="Arial"/>
              </a:rPr>
              <a:t>TEAM + INZBC · VALIDATE</a:t>
            </a:r>
            <a:endParaRPr sz="1100"/>
          </a:p>
        </p:txBody>
      </p:sp>
      <p:sp>
        <p:nvSpPr>
          <p:cNvPr id="24" name="!!close">
            <a:extLst xmlns:a="http://schemas.openxmlformats.org/drawingml/2006/main">
              <a:ext uri="{FF2B5EF4-FFF2-40B4-BE49-F238E27FC236}">
                <a16:creationId xmlns:a16="http://schemas.microsoft.com/office/drawing/2014/main" id="{6DA2D342-CDE5-46AD-9912-92964340E0D8}"/>
              </a:ext>
            </a:extLst>
          </p:cNvPr>
          <p:cNvSpPr>
            <a:spLocks xmlns:a="http://schemas.openxmlformats.org/drawingml/2006/main" noGrp="1"/>
          </p:cNvSpPr>
          <p:nvPr/>
        </p:nvSpPr>
        <p:spPr>
          <a:xfrm xmlns:a="http://schemas.openxmlformats.org/drawingml/2006/main">
            <a:off x="822960" y="5705856"/>
            <a:ext cx="4572000" cy="38404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8A94A8"/>
                </a:solidFill>
                <a:latin typeface="Arial"/>
                <a:ea typeface="Arial"/>
                <a:cs typeface="Arial"/>
              </a:rPr>
              <a:t>These are readiness conditions—not a declaration of handover.</a:t>
            </a:r>
            <a:endParaRPr sz="1500"/>
          </a:p>
        </p:txBody>
      </p:sp>
    </p:spTree>
    <p:extLst>
      <p:ext uri="{BB962C8B-B14F-4D97-AF65-F5344CB8AC3E}">
        <p14:creationId xmlns:p14="http://schemas.microsoft.com/office/powerpoint/2010/main" val="587758105"/>
      </p:ext>
    </p:extLst>
  </p:cSld>
  <mc:AlternateContent xmlns:mc="http://schemas.openxmlformats.org/markup-compatibility/2006">
    <mc:Choice xmlns:p159="http://schemas.microsoft.com/office/powerpoint/2015/09/main" Requires="p159">
      <p:transition xmlns:p14="http://schemas.microsoft.com/office/powerpoint/2010/main" spd="slow" advClick="1" advTm="5500" p14:dur="1400">
        <p159:morph option="byObject"/>
      </p:transition>
    </mc:Choice>
    <mc:Fallback>
      <p:transition spd="slow" advClick="1" advTm="5500">
        <p:fade/>
      </p:transition>
    </mc:Fallback>
  </mc:AlternateContent>
</p:sld>
</file>

<file path=ppt/slides/slide19.xml><?xml version="1.0" encoding="utf-8"?>
<p:sld xmlns:p="http://schemas.openxmlformats.org/presentationml/2006/main">
  <p:cSld>
    <p:bg>
      <p:bgPr>
        <a:blipFill xmlns:a="http://schemas.openxmlformats.org/drawingml/2006/main" rotWithShape="1">
          <a:blip xmlns:r="http://schemas.openxmlformats.org/officeDocument/2006/relationships" r:embed="R7adb65adf1e542df">
            <a:lum/>
          </a:blip>
          <a:srcRect l="0" t="0" r="0" b="0"/>
          <a:stretch>
            <a:fillRect l="0" t="0" r="0" b="0"/>
          </a:stretch>
        </a:blipFill>
      </p:bgPr>
    </p:bg>
    <p:spTree>
      <p:nvGrpSpPr>
        <p:cNvPr id="1" name=""/>
        <p:cNvGrpSpPr/>
        <p:nvPr/>
      </p:nvGrpSpPr>
      <p:grpSpPr>
        <a:xfrm xmlns:a="http://schemas.openxmlformats.org/drawingml/2006/main"/>
      </p:grpSpPr>
      <p:pic>
        <p:nvPicPr>
          <p:cNvPr id="14" name="!!orb"/>
          <p:cNvPicPr>
            <a:picLocks xmlns:a="http://schemas.openxmlformats.org/drawingml/2006/main" noChangeAspect="1"/>
          </p:cNvPicPr>
          <p:nvPr/>
        </p:nvPicPr>
        <p:blipFill>
          <a:blip xmlns:r="http://schemas.openxmlformats.org/officeDocument/2006/relationships" xmlns:a="http://schemas.openxmlformats.org/drawingml/2006/main" r:embed="Ra7d00d18d0c84e09"/>
          <a:stretch xmlns:a="http://schemas.openxmlformats.org/drawingml/2006/main">
            <a:fillRect l="0" t="0" r="0" b="0"/>
          </a:stretch>
        </p:blipFill>
        <p:spPr>
          <a:xfrm xmlns:a="http://schemas.openxmlformats.org/drawingml/2006/main">
            <a:off x="2286000" y="-822960"/>
            <a:ext cx="7680960" cy="7680960"/>
          </a:xfrm>
          <a:prstGeom xmlns:a="http://schemas.openxmlformats.org/drawingml/2006/main" prst="rect">
            <a:avLst/>
          </a:prstGeom>
        </p:spPr>
      </p:pic>
      <p:pic>
        <p:nvPicPr>
          <p:cNvPr id="15" name="!!orb2"/>
          <p:cNvPicPr>
            <a:picLocks xmlns:a="http://schemas.openxmlformats.org/drawingml/2006/main" noChangeAspect="1"/>
          </p:cNvPicPr>
          <p:nvPr/>
        </p:nvPicPr>
        <p:blipFill>
          <a:blip xmlns:r="http://schemas.openxmlformats.org/officeDocument/2006/relationships" xmlns:a="http://schemas.openxmlformats.org/drawingml/2006/main" r:embed="Rc02893ff0ce14d7f"/>
          <a:stretch xmlns:a="http://schemas.openxmlformats.org/drawingml/2006/main">
            <a:fillRect l="0" t="0" r="0" b="0"/>
          </a:stretch>
        </p:blipFill>
        <p:spPr>
          <a:xfrm xmlns:a="http://schemas.openxmlformats.org/drawingml/2006/main">
            <a:off x="7132320" y="3657600"/>
            <a:ext cx="5120640" cy="512064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F41E1225-FEA7-4AD5-94C1-01C5CBD72520}"/>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95685463-9E80-4896-9046-63B8DBC92F90}"/>
              </a:ext>
            </a:extLst>
          </p:cNvPr>
          <p:cNvSpPr>
            <a:spLocks xmlns:a="http://schemas.openxmlformats.org/drawingml/2006/main" noGrp="1"/>
          </p:cNvSpPr>
          <p:nvPr/>
        </p:nvSpPr>
        <p:spPr>
          <a:xfrm xmlns:a="http://schemas.openxmlformats.org/drawingml/2006/main">
            <a:off x="822960" y="6446520"/>
            <a:ext cx="10010947"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7A523FDC-319C-4D84-BCBB-2193255C038B}"/>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C0552F71-9B3C-43F7-896D-5938CDF2DD9B}"/>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CLOSING</a:t>
            </a:r>
            <a:endParaRPr sz="900"/>
          </a:p>
        </p:txBody>
      </p:sp>
      <p:sp>
        <p:nvSpPr>
          <p:cNvPr id="8" name="pageno">
            <a:extLst xmlns:a="http://schemas.openxmlformats.org/drawingml/2006/main">
              <a:ext uri="{FF2B5EF4-FFF2-40B4-BE49-F238E27FC236}">
                <a16:creationId xmlns:a16="http://schemas.microsoft.com/office/drawing/2014/main" id="{0A5890FC-0168-4A86-A8C3-A561FBCD064D}"/>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19 / 20</a:t>
            </a:r>
            <a:endParaRPr sz="900"/>
          </a:p>
        </p:txBody>
      </p:sp>
      <p:sp>
        <p:nvSpPr>
          <p:cNvPr id="9" name="!!close">
            <a:extLst xmlns:a="http://schemas.openxmlformats.org/drawingml/2006/main">
              <a:ext uri="{FF2B5EF4-FFF2-40B4-BE49-F238E27FC236}">
                <a16:creationId xmlns:a16="http://schemas.microsoft.com/office/drawing/2014/main" id="{4C134F14-4BD4-4A2A-87A4-3E60ADC56407}"/>
              </a:ext>
            </a:extLst>
          </p:cNvPr>
          <p:cNvSpPr>
            <a:spLocks xmlns:a="http://schemas.openxmlformats.org/drawingml/2006/main" noGrp="1"/>
          </p:cNvSpPr>
          <p:nvPr/>
        </p:nvSpPr>
        <p:spPr>
          <a:xfrm xmlns:a="http://schemas.openxmlformats.org/drawingml/2006/main">
            <a:off x="822960" y="2331720"/>
            <a:ext cx="10545775"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9200" b="1" spc="-200">
                <a:solidFill>
                  <a:srgbClr val="EEF2F8"/>
                </a:solidFill>
                <a:latin typeface="Arial"/>
                <a:ea typeface="Arial"/>
                <a:cs typeface="Arial"/>
              </a:rPr>
              <a:t>Continue validation</a:t>
            </a:r>
            <a:endParaRPr sz="9200"/>
          </a:p>
        </p:txBody>
      </p:sp>
      <p:sp>
        <p:nvSpPr>
          <p:cNvPr id="10" name="Text 6">
            <a:extLst xmlns:a="http://schemas.openxmlformats.org/drawingml/2006/main">
              <a:ext uri="{FF2B5EF4-FFF2-40B4-BE49-F238E27FC236}">
                <a16:creationId xmlns:a16="http://schemas.microsoft.com/office/drawing/2014/main" id="{A47E9321-B26E-4E3F-8F53-7C08AE6A94CE}"/>
              </a:ext>
            </a:extLst>
          </p:cNvPr>
          <p:cNvSpPr>
            <a:spLocks xmlns:a="http://schemas.openxmlformats.org/drawingml/2006/main" noGrp="1"/>
          </p:cNvSpPr>
          <p:nvPr/>
        </p:nvSpPr>
        <p:spPr>
          <a:xfrm xmlns:a="http://schemas.openxmlformats.org/drawingml/2006/main">
            <a:off x="2194560" y="4224528"/>
            <a:ext cx="7799832" cy="7315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300"/>
              </a:lnSpc>
              <a:buNone/>
            </a:pPr>
            <a:r>
              <a:rPr sz="1500">
                <a:solidFill>
                  <a:srgbClr val="8A94A8"/>
                </a:solidFill>
                <a:latin typeface="Arial"/>
                <a:ea typeface="Arial"/>
                <a:cs typeface="Arial"/>
              </a:rPr>
              <a:t>The implementation is strong; UAT, client decisions, board reconciliation and operating-model definition come before any handover.</a:t>
            </a:r>
            <a:endParaRPr sz="1500"/>
          </a:p>
        </p:txBody>
      </p:sp>
      <p:sp>
        <p:nvSpPr>
          <p:cNvPr id="11" name="Text 7">
            <a:extLst xmlns:a="http://schemas.openxmlformats.org/drawingml/2006/main">
              <a:ext uri="{FF2B5EF4-FFF2-40B4-BE49-F238E27FC236}">
                <a16:creationId xmlns:a16="http://schemas.microsoft.com/office/drawing/2014/main" id="{AFE89EA1-350C-4B2F-8D3F-D6537FD1EB46}"/>
              </a:ext>
            </a:extLst>
          </p:cNvPr>
          <p:cNvSpPr>
            <a:spLocks xmlns:a="http://schemas.openxmlformats.org/drawingml/2006/main" noGrp="1"/>
          </p:cNvSpPr>
          <p:nvPr/>
        </p:nvSpPr>
        <p:spPr>
          <a:xfrm xmlns:a="http://schemas.openxmlformats.org/drawingml/2006/main">
            <a:off x="822960" y="5212080"/>
            <a:ext cx="10545775" cy="329184"/>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buNone/>
            </a:pPr>
            <a:r>
              <a:rPr sz="1000" b="1" spc="600">
                <a:solidFill>
                  <a:srgbClr val="FF6B35"/>
                </a:solidFill>
                <a:latin typeface="Arial"/>
                <a:ea typeface="Arial"/>
                <a:cs typeface="Arial"/>
              </a:rPr>
              <a:t>INDIA NEW ZEALAND BUSINESS COUNCIL</a:t>
            </a:r>
            <a:endParaRPr sz="1000"/>
          </a:p>
        </p:txBody>
      </p:sp>
    </p:spTree>
    <p:extLst>
      <p:ext uri="{BB962C8B-B14F-4D97-AF65-F5344CB8AC3E}">
        <p14:creationId xmlns:p14="http://schemas.microsoft.com/office/powerpoint/2010/main" val="551147982"/>
      </p:ext>
    </p:extLst>
  </p:cSld>
  <mc:AlternateContent xmlns:mc="http://schemas.openxmlformats.org/markup-compatibility/2006">
    <mc:Choice xmlns:p159="http://schemas.microsoft.com/office/powerpoint/2015/09/main" Requires="p159">
      <p:transition xmlns:p14="http://schemas.microsoft.com/office/powerpoint/2010/main" spd="slow" advClick="1" advTm="4500" p14:dur="2200">
        <p159:morph option="byWord"/>
      </p:transition>
    </mc:Choice>
    <mc:Fallback>
      <p:transition spd="slow" advClick="1" advTm="4500">
        <p:fade/>
      </p:transition>
    </mc:Fallback>
  </mc:AlternateContent>
</p:sld>
</file>

<file path=ppt/slides/slide20.xml><?xml version="1.0" encoding="utf-8"?>
<p:sld xmlns:p="http://schemas.openxmlformats.org/presentationml/2006/main">
  <p:cSld>
    <p:bg>
      <p:bgPr>
        <a:blipFill xmlns:a="http://schemas.openxmlformats.org/drawingml/2006/main" rotWithShape="1">
          <a:blip xmlns:r="http://schemas.openxmlformats.org/officeDocument/2006/relationships" r:embed="Raf43b02132494cbf">
            <a:lum/>
          </a:blip>
          <a:srcRect l="0" t="0" r="0" b="0"/>
          <a:stretch>
            <a:fillRect l="0" t="0" r="0" b="0"/>
          </a:stretch>
        </a:blipFill>
      </p:bgPr>
    </p:bg>
    <p:spTree>
      <p:nvGrpSpPr>
        <p:cNvPr id="1" name=""/>
        <p:cNvGrpSpPr/>
        <p:nvPr/>
      </p:nvGrpSpPr>
      <p:grpSpPr>
        <a:xfrm xmlns:a="http://schemas.openxmlformats.org/drawingml/2006/main"/>
      </p:grpSpPr>
      <p:pic>
        <p:nvPicPr>
          <p:cNvPr id="23" name="!!orb"/>
          <p:cNvPicPr>
            <a:picLocks xmlns:a="http://schemas.openxmlformats.org/drawingml/2006/main" noChangeAspect="1"/>
          </p:cNvPicPr>
          <p:nvPr/>
        </p:nvPicPr>
        <p:blipFill>
          <a:blip xmlns:r="http://schemas.openxmlformats.org/officeDocument/2006/relationships" xmlns:a="http://schemas.openxmlformats.org/drawingml/2006/main" r:embed="R687d155bb06242d3"/>
          <a:stretch xmlns:a="http://schemas.openxmlformats.org/drawingml/2006/main">
            <a:fillRect l="0" t="0" r="0" b="0"/>
          </a:stretch>
        </p:blipFill>
        <p:spPr>
          <a:xfrm xmlns:a="http://schemas.openxmlformats.org/drawingml/2006/main">
            <a:off x="6949440" y="-1645920"/>
            <a:ext cx="6035040" cy="6035040"/>
          </a:xfrm>
          <a:prstGeom xmlns:a="http://schemas.openxmlformats.org/drawingml/2006/main" prst="rect">
            <a:avLst/>
          </a:prstGeom>
        </p:spPr>
      </p:pic>
      <p:pic>
        <p:nvPicPr>
          <p:cNvPr id="24" name="!!orb2"/>
          <p:cNvPicPr>
            <a:picLocks xmlns:a="http://schemas.openxmlformats.org/drawingml/2006/main" noChangeAspect="1"/>
          </p:cNvPicPr>
          <p:nvPr/>
        </p:nvPicPr>
        <p:blipFill>
          <a:blip xmlns:r="http://schemas.openxmlformats.org/officeDocument/2006/relationships" xmlns:a="http://schemas.openxmlformats.org/drawingml/2006/main" r:embed="Rf0eb191823a34f57"/>
          <a:stretch xmlns:a="http://schemas.openxmlformats.org/drawingml/2006/main">
            <a:fillRect l="0" t="0" r="0" b="0"/>
          </a:stretch>
        </p:blipFill>
        <p:spPr>
          <a:xfrm xmlns:a="http://schemas.openxmlformats.org/drawingml/2006/main">
            <a:off x="-2011680" y="4389120"/>
            <a:ext cx="4754880" cy="4754880"/>
          </a:xfrm>
          <a:prstGeom xmlns:a="http://schemas.openxmlformats.org/drawingml/2006/main" prst="rect">
            <a:avLst/>
          </a:prstGeom>
        </p:spPr>
      </p:pic>
      <p:sp>
        <p:nvSpPr>
          <p:cNvPr id="4" name="track">
            <a:extLst xmlns:a="http://schemas.openxmlformats.org/drawingml/2006/main">
              <a:ext uri="{FF2B5EF4-FFF2-40B4-BE49-F238E27FC236}">
                <a16:creationId xmlns:a16="http://schemas.microsoft.com/office/drawing/2014/main" id="{5645D8E5-DC1E-479C-A8DD-9724B704B754}"/>
              </a:ext>
            </a:extLst>
          </p:cNvPr>
          <p:cNvSpPr>
            <a:spLocks xmlns:a="http://schemas.openxmlformats.org/drawingml/2006/main" noGrp="1"/>
          </p:cNvSpPr>
          <p:nvPr/>
        </p:nvSpPr>
        <p:spPr>
          <a:xfrm xmlns:a="http://schemas.openxmlformats.org/drawingml/2006/main">
            <a:off x="822960" y="6451092"/>
            <a:ext cx="10545775" cy="16459"/>
          </a:xfrm>
          <a:prstGeom xmlns:a="http://schemas.openxmlformats.org/drawingml/2006/main" prst="rect">
            <a:avLst/>
          </a:prstGeom>
          <a:solidFill xmlns:a="http://schemas.openxmlformats.org/drawingml/2006/main">
            <a:srgbClr val="242C3B"/>
          </a:solidFill>
          <a:ln xmlns:a="http://schemas.openxmlformats.org/drawingml/2006/main" w="12700">
            <a:solidFill>
              <a:srgbClr val="242C3B"/>
            </a:solidFill>
            <a:prstDash val="solid"/>
          </a:ln>
        </p:spPr>
      </p:sp>
      <p:sp>
        <p:nvSpPr>
          <p:cNvPr id="5" name="!!bar">
            <a:extLst xmlns:a="http://schemas.openxmlformats.org/drawingml/2006/main">
              <a:ext uri="{FF2B5EF4-FFF2-40B4-BE49-F238E27FC236}">
                <a16:creationId xmlns:a16="http://schemas.microsoft.com/office/drawing/2014/main" id="{9CA4D514-F6A8-4327-B4FF-ECDDFE47E6CF}"/>
              </a:ext>
            </a:extLst>
          </p:cNvPr>
          <p:cNvSpPr>
            <a:spLocks xmlns:a="http://schemas.openxmlformats.org/drawingml/2006/main" noGrp="1"/>
          </p:cNvSpPr>
          <p:nvPr/>
        </p:nvSpPr>
        <p:spPr>
          <a:xfrm xmlns:a="http://schemas.openxmlformats.org/drawingml/2006/main">
            <a:off x="822960" y="6446520"/>
            <a:ext cx="10545775" cy="27432"/>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6" name="!!mark">
            <a:extLst xmlns:a="http://schemas.openxmlformats.org/drawingml/2006/main">
              <a:ext uri="{FF2B5EF4-FFF2-40B4-BE49-F238E27FC236}">
                <a16:creationId xmlns:a16="http://schemas.microsoft.com/office/drawing/2014/main" id="{E9A63097-719C-4FF8-BFDA-F5A45B138170}"/>
              </a:ext>
            </a:extLst>
          </p:cNvPr>
          <p:cNvSpPr>
            <a:spLocks xmlns:a="http://schemas.openxmlformats.org/drawingml/2006/main" noGrp="1"/>
          </p:cNvSpPr>
          <p:nvPr/>
        </p:nvSpPr>
        <p:spPr>
          <a:xfrm xmlns:a="http://schemas.openxmlformats.org/drawingml/2006/main" rot="2700000">
            <a:off x="822960" y="548640"/>
            <a:ext cx="137160" cy="137160"/>
          </a:xfrm>
          <a:prstGeom xmlns:a="http://schemas.openxmlformats.org/drawingml/2006/main" prst="rect">
            <a:avLst/>
          </a:prstGeom>
          <a:solidFill xmlns:a="http://schemas.openxmlformats.org/drawingml/2006/main">
            <a:srgbClr val="FF6B35"/>
          </a:solidFill>
          <a:ln xmlns:a="http://schemas.openxmlformats.org/drawingml/2006/main" w="12700">
            <a:solidFill>
              <a:srgbClr val="FF6B35"/>
            </a:solidFill>
            <a:prstDash val="solid"/>
          </a:ln>
        </p:spPr>
      </p:sp>
      <p:sp>
        <p:nvSpPr>
          <p:cNvPr id="7" name="!!kicker">
            <a:extLst xmlns:a="http://schemas.openxmlformats.org/drawingml/2006/main">
              <a:ext uri="{FF2B5EF4-FFF2-40B4-BE49-F238E27FC236}">
                <a16:creationId xmlns:a16="http://schemas.microsoft.com/office/drawing/2014/main" id="{AE9DC88D-AD13-4A21-B1A6-0E92B6651C60}"/>
              </a:ext>
            </a:extLst>
          </p:cNvPr>
          <p:cNvSpPr>
            <a:spLocks xmlns:a="http://schemas.openxmlformats.org/drawingml/2006/main" noGrp="1"/>
          </p:cNvSpPr>
          <p:nvPr/>
        </p:nvSpPr>
        <p:spPr>
          <a:xfrm xmlns:a="http://schemas.openxmlformats.org/drawingml/2006/main">
            <a:off x="1133856" y="457200"/>
            <a:ext cx="6400800"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400">
                <a:solidFill>
                  <a:srgbClr val="8A94A8"/>
                </a:solidFill>
                <a:latin typeface="Arial"/>
                <a:ea typeface="Arial"/>
                <a:cs typeface="Arial"/>
              </a:rPr>
              <a:t>EVIDENCE TRAIL</a:t>
            </a:r>
            <a:endParaRPr sz="900"/>
          </a:p>
        </p:txBody>
      </p:sp>
      <p:sp>
        <p:nvSpPr>
          <p:cNvPr id="8" name="pageno">
            <a:extLst xmlns:a="http://schemas.openxmlformats.org/drawingml/2006/main">
              <a:ext uri="{FF2B5EF4-FFF2-40B4-BE49-F238E27FC236}">
                <a16:creationId xmlns:a16="http://schemas.microsoft.com/office/drawing/2014/main" id="{A281A675-3116-4BA5-A6F2-E8D2D2FE74EC}"/>
              </a:ext>
            </a:extLst>
          </p:cNvPr>
          <p:cNvSpPr>
            <a:spLocks xmlns:a="http://schemas.openxmlformats.org/drawingml/2006/main" noGrp="1"/>
          </p:cNvSpPr>
          <p:nvPr/>
        </p:nvSpPr>
        <p:spPr>
          <a:xfrm xmlns:a="http://schemas.openxmlformats.org/drawingml/2006/main">
            <a:off x="9966960" y="457200"/>
            <a:ext cx="1399032" cy="292608"/>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900" spc="200">
                <a:solidFill>
                  <a:srgbClr val="8A94A8"/>
                </a:solidFill>
                <a:latin typeface="Arial"/>
                <a:ea typeface="Arial"/>
                <a:cs typeface="Arial"/>
              </a:rPr>
              <a:t>20 / 20</a:t>
            </a:r>
            <a:endParaRPr sz="900"/>
          </a:p>
        </p:txBody>
      </p:sp>
      <p:sp>
        <p:nvSpPr>
          <p:cNvPr id="9" name="!!close">
            <a:extLst xmlns:a="http://schemas.openxmlformats.org/drawingml/2006/main">
              <a:ext uri="{FF2B5EF4-FFF2-40B4-BE49-F238E27FC236}">
                <a16:creationId xmlns:a16="http://schemas.microsoft.com/office/drawing/2014/main" id="{0C44578C-FF03-436E-85FA-BA6A0543EDD7}"/>
              </a:ext>
            </a:extLst>
          </p:cNvPr>
          <p:cNvSpPr>
            <a:spLocks xmlns:a="http://schemas.openxmlformats.org/drawingml/2006/main" noGrp="1"/>
          </p:cNvSpPr>
          <p:nvPr/>
        </p:nvSpPr>
        <p:spPr>
          <a:xfrm xmlns:a="http://schemas.openxmlformats.org/drawingml/2006/main">
            <a:off x="822960" y="1078992"/>
            <a:ext cx="548640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400" b="1">
                <a:solidFill>
                  <a:srgbClr val="EEF2F8"/>
                </a:solidFill>
                <a:latin typeface="Arial"/>
                <a:ea typeface="Arial"/>
                <a:cs typeface="Arial"/>
              </a:rPr>
              <a:t>Evidence guides the next phase</a:t>
            </a:r>
            <a:endParaRPr sz="2400"/>
          </a:p>
        </p:txBody>
      </p:sp>
      <p:sp>
        <p:nvSpPr>
          <p:cNvPr id="10" name="Text 6">
            <a:extLst xmlns:a="http://schemas.openxmlformats.org/drawingml/2006/main">
              <a:ext uri="{FF2B5EF4-FFF2-40B4-BE49-F238E27FC236}">
                <a16:creationId xmlns:a16="http://schemas.microsoft.com/office/drawing/2014/main" id="{6E067D65-9387-48DB-81CA-BFDB3C58EEDC}"/>
              </a:ext>
            </a:extLst>
          </p:cNvPr>
          <p:cNvSpPr>
            <a:spLocks xmlns:a="http://schemas.openxmlformats.org/drawingml/2006/main" noGrp="1"/>
          </p:cNvSpPr>
          <p:nvPr/>
        </p:nvSpPr>
        <p:spPr>
          <a:xfrm xmlns:a="http://schemas.openxmlformats.org/drawingml/2006/main">
            <a:off x="822960" y="2103120"/>
            <a:ext cx="54864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rgbClr val="EEF2F8"/>
                </a:solidFill>
                <a:latin typeface="Arial"/>
                <a:ea typeface="Arial"/>
                <a:cs typeface="Arial"/>
              </a:rPr>
              <a:t>Bhanu · Roshan · Paras</a:t>
            </a:r>
            <a:endParaRPr sz="2200"/>
          </a:p>
        </p:txBody>
      </p:sp>
      <p:sp>
        <p:nvSpPr>
          <p:cNvPr id="11" name="Text 7">
            <a:extLst xmlns:a="http://schemas.openxmlformats.org/drawingml/2006/main">
              <a:ext uri="{FF2B5EF4-FFF2-40B4-BE49-F238E27FC236}">
                <a16:creationId xmlns:a16="http://schemas.microsoft.com/office/drawing/2014/main" id="{6817121A-5D52-47B5-8869-A4446173951E}"/>
              </a:ext>
            </a:extLst>
          </p:cNvPr>
          <p:cNvSpPr>
            <a:spLocks xmlns:a="http://schemas.openxmlformats.org/drawingml/2006/main" noGrp="1"/>
          </p:cNvSpPr>
          <p:nvPr/>
        </p:nvSpPr>
        <p:spPr>
          <a:xfrm xmlns:a="http://schemas.openxmlformats.org/drawingml/2006/main">
            <a:off x="822960" y="2578608"/>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8A94A8"/>
                </a:solidFill>
                <a:latin typeface="Arial"/>
                <a:ea typeface="Arial"/>
                <a:cs typeface="Arial"/>
              </a:rPr>
              <a:t>Studio 5 delivery team · INZBC</a:t>
            </a:r>
            <a:endParaRPr sz="1350"/>
          </a:p>
        </p:txBody>
      </p:sp>
      <p:sp>
        <p:nvSpPr>
          <p:cNvPr id="12" name="Text 8">
            <a:extLst xmlns:a="http://schemas.openxmlformats.org/drawingml/2006/main">
              <a:ext uri="{FF2B5EF4-FFF2-40B4-BE49-F238E27FC236}">
                <a16:creationId xmlns:a16="http://schemas.microsoft.com/office/drawing/2014/main" id="{16EFB47E-5405-4E78-A3BC-2750DAD05E5E}"/>
              </a:ext>
            </a:extLst>
          </p:cNvPr>
          <p:cNvSpPr>
            <a:spLocks xmlns:a="http://schemas.openxmlformats.org/drawingml/2006/main" noGrp="1"/>
          </p:cNvSpPr>
          <p:nvPr/>
        </p:nvSpPr>
        <p:spPr>
          <a:xfrm xmlns:a="http://schemas.openxmlformats.org/drawingml/2006/main">
            <a:off x="822960" y="3310128"/>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FF6B35"/>
                </a:solidFill>
                <a:latin typeface="Arial"/>
                <a:ea typeface="Arial"/>
                <a:cs typeface="Arial"/>
              </a:rPr>
              <a:t>GITHUB</a:t>
            </a:r>
            <a:endParaRPr sz="900"/>
          </a:p>
        </p:txBody>
      </p:sp>
      <p:sp>
        <p:nvSpPr>
          <p:cNvPr id="13" name="Text 9">
            <a:extLst xmlns:a="http://schemas.openxmlformats.org/drawingml/2006/main">
              <a:ext uri="{FF2B5EF4-FFF2-40B4-BE49-F238E27FC236}">
                <a16:creationId xmlns:a16="http://schemas.microsoft.com/office/drawing/2014/main" id="{87D88CAB-8EFB-4659-BA92-02EE7410AFAF}"/>
              </a:ext>
            </a:extLst>
          </p:cNvPr>
          <p:cNvSpPr>
            <a:spLocks xmlns:a="http://schemas.openxmlformats.org/drawingml/2006/main" noGrp="1"/>
          </p:cNvSpPr>
          <p:nvPr/>
        </p:nvSpPr>
        <p:spPr>
          <a:xfrm xmlns:a="http://schemas.openxmlformats.org/drawingml/2006/main">
            <a:off x="2057400" y="3310128"/>
            <a:ext cx="4023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EF2F8"/>
                </a:solidFill>
                <a:latin typeface="Arial"/>
                <a:ea typeface="Arial"/>
                <a:cs typeface="Arial"/>
              </a:rPr>
              <a:t>India-New-Zealand-Business-Council</a:t>
            </a:r>
            <a:endParaRPr sz="1350"/>
          </a:p>
        </p:txBody>
      </p:sp>
      <p:sp>
        <p:nvSpPr>
          <p:cNvPr id="14" name="Text 10">
            <a:extLst xmlns:a="http://schemas.openxmlformats.org/drawingml/2006/main">
              <a:ext uri="{FF2B5EF4-FFF2-40B4-BE49-F238E27FC236}">
                <a16:creationId xmlns:a16="http://schemas.microsoft.com/office/drawing/2014/main" id="{AD51EFB3-4C9D-49DA-8D08-2AB1B55FA672}"/>
              </a:ext>
            </a:extLst>
          </p:cNvPr>
          <p:cNvSpPr>
            <a:spLocks xmlns:a="http://schemas.openxmlformats.org/drawingml/2006/main" noGrp="1"/>
          </p:cNvSpPr>
          <p:nvPr/>
        </p:nvSpPr>
        <p:spPr>
          <a:xfrm xmlns:a="http://schemas.openxmlformats.org/drawingml/2006/main">
            <a:off x="822960" y="3877056"/>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FF6B35"/>
                </a:solidFill>
                <a:latin typeface="Arial"/>
                <a:ea typeface="Arial"/>
                <a:cs typeface="Arial"/>
              </a:rPr>
              <a:t>BOARD</a:t>
            </a:r>
            <a:endParaRPr sz="900"/>
          </a:p>
        </p:txBody>
      </p:sp>
      <p:sp>
        <p:nvSpPr>
          <p:cNvPr id="15" name="Text 11">
            <a:extLst xmlns:a="http://schemas.openxmlformats.org/drawingml/2006/main">
              <a:ext uri="{FF2B5EF4-FFF2-40B4-BE49-F238E27FC236}">
                <a16:creationId xmlns:a16="http://schemas.microsoft.com/office/drawing/2014/main" id="{50C6077B-F6B7-4B75-A977-86A8A8E33FEB}"/>
              </a:ext>
            </a:extLst>
          </p:cNvPr>
          <p:cNvSpPr>
            <a:spLocks xmlns:a="http://schemas.openxmlformats.org/drawingml/2006/main" noGrp="1"/>
          </p:cNvSpPr>
          <p:nvPr/>
        </p:nvSpPr>
        <p:spPr>
          <a:xfrm xmlns:a="http://schemas.openxmlformats.org/drawingml/2006/main">
            <a:off x="2057400" y="3877056"/>
            <a:ext cx="4023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EF2F8"/>
                </a:solidFill>
                <a:latin typeface="Arial"/>
                <a:ea typeface="Arial"/>
                <a:cs typeface="Arial"/>
              </a:rPr>
              <a:t>INZBC SIP Platform · ProjectV2 #1</a:t>
            </a:r>
            <a:endParaRPr sz="1350"/>
          </a:p>
        </p:txBody>
      </p:sp>
      <p:sp>
        <p:nvSpPr>
          <p:cNvPr id="16" name="Text 12">
            <a:extLst xmlns:a="http://schemas.openxmlformats.org/drawingml/2006/main">
              <a:ext uri="{FF2B5EF4-FFF2-40B4-BE49-F238E27FC236}">
                <a16:creationId xmlns:a16="http://schemas.microsoft.com/office/drawing/2014/main" id="{7572E1B9-AA24-4EFA-84C5-AB10694D97D8}"/>
              </a:ext>
            </a:extLst>
          </p:cNvPr>
          <p:cNvSpPr>
            <a:spLocks xmlns:a="http://schemas.openxmlformats.org/drawingml/2006/main" noGrp="1"/>
          </p:cNvSpPr>
          <p:nvPr/>
        </p:nvSpPr>
        <p:spPr>
          <a:xfrm xmlns:a="http://schemas.openxmlformats.org/drawingml/2006/main">
            <a:off x="822960" y="4443984"/>
            <a:ext cx="109728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00" b="1" spc="300">
                <a:solidFill>
                  <a:srgbClr val="FF6B35"/>
                </a:solidFill>
                <a:latin typeface="Arial"/>
                <a:ea typeface="Arial"/>
                <a:cs typeface="Arial"/>
              </a:rPr>
              <a:t>REPORT</a:t>
            </a:r>
            <a:endParaRPr sz="900"/>
          </a:p>
        </p:txBody>
      </p:sp>
      <p:sp>
        <p:nvSpPr>
          <p:cNvPr id="17" name="Text 13">
            <a:extLst xmlns:a="http://schemas.openxmlformats.org/drawingml/2006/main">
              <a:ext uri="{FF2B5EF4-FFF2-40B4-BE49-F238E27FC236}">
                <a16:creationId xmlns:a16="http://schemas.microsoft.com/office/drawing/2014/main" id="{D4676CA1-1F34-4B4F-9A57-D0D20E1CDD8B}"/>
              </a:ext>
            </a:extLst>
          </p:cNvPr>
          <p:cNvSpPr>
            <a:spLocks xmlns:a="http://schemas.openxmlformats.org/drawingml/2006/main" noGrp="1"/>
          </p:cNvSpPr>
          <p:nvPr/>
        </p:nvSpPr>
        <p:spPr>
          <a:xfrm xmlns:a="http://schemas.openxmlformats.org/drawingml/2006/main">
            <a:off x="2057400" y="4443984"/>
            <a:ext cx="4023360" cy="310896"/>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350">
                <a:solidFill>
                  <a:srgbClr val="EEF2F8"/>
                </a:solidFill>
                <a:latin typeface="Arial"/>
                <a:ea typeface="Arial"/>
                <a:cs typeface="Arial"/>
              </a:rPr>
              <a:t>Refreshed 20 August 2026</a:t>
            </a:r>
            <a:endParaRPr sz="1350"/>
          </a:p>
        </p:txBody>
      </p:sp>
      <p:sp>
        <p:nvSpPr>
          <p:cNvPr id="18" name="!!tileA">
            <a:extLst xmlns:a="http://schemas.openxmlformats.org/drawingml/2006/main">
              <a:ext uri="{FF2B5EF4-FFF2-40B4-BE49-F238E27FC236}">
                <a16:creationId xmlns:a16="http://schemas.microsoft.com/office/drawing/2014/main" id="{C18FEC0D-A0F0-4872-928C-26E80AAAFA41}"/>
              </a:ext>
            </a:extLst>
          </p:cNvPr>
          <p:cNvSpPr>
            <a:spLocks xmlns:a="http://schemas.openxmlformats.org/drawingml/2006/main" noGrp="1"/>
          </p:cNvSpPr>
          <p:nvPr/>
        </p:nvSpPr>
        <p:spPr>
          <a:xfrm xmlns:a="http://schemas.openxmlformats.org/drawingml/2006/main">
            <a:off x="6766560" y="2103120"/>
            <a:ext cx="4599432" cy="3017520"/>
          </a:xfrm>
          <a:prstGeom xmlns:a="http://schemas.openxmlformats.org/drawingml/2006/main" prst="roundRect">
            <a:avLst>
              <a:gd name="adj" fmla="val 3636"/>
            </a:avLst>
          </a:prstGeom>
          <a:solidFill xmlns:a="http://schemas.openxmlformats.org/drawingml/2006/main">
            <a:srgbClr val="151A24">
              <a:alpha val="88000"/>
            </a:srgbClr>
          </a:solidFill>
          <a:ln xmlns:a="http://schemas.openxmlformats.org/drawingml/2006/main" w="12700">
            <a:solidFill>
              <a:srgbClr val="242C3B"/>
            </a:solidFill>
            <a:prstDash val="solid"/>
          </a:ln>
        </p:spPr>
      </p:sp>
      <p:sp>
        <p:nvSpPr>
          <p:cNvPr id="19" name="Text 15">
            <a:extLst xmlns:a="http://schemas.openxmlformats.org/drawingml/2006/main">
              <a:ext uri="{FF2B5EF4-FFF2-40B4-BE49-F238E27FC236}">
                <a16:creationId xmlns:a16="http://schemas.microsoft.com/office/drawing/2014/main" id="{89C39FC2-C6B5-40DD-B520-95C590391432}"/>
              </a:ext>
            </a:extLst>
          </p:cNvPr>
          <p:cNvSpPr>
            <a:spLocks xmlns:a="http://schemas.openxmlformats.org/drawingml/2006/main" noGrp="1"/>
          </p:cNvSpPr>
          <p:nvPr/>
        </p:nvSpPr>
        <p:spPr>
          <a:xfrm xmlns:a="http://schemas.openxmlformats.org/drawingml/2006/main">
            <a:off x="7150608" y="3063240"/>
            <a:ext cx="3831336" cy="10972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ctr">
              <a:lnSpc>
                <a:spcPts val="2100"/>
              </a:lnSpc>
              <a:buNone/>
            </a:pPr>
            <a:r>
              <a:rPr sz="1300">
                <a:solidFill>
                  <a:srgbClr val="8A94A8"/>
                </a:solidFill>
                <a:latin typeface="Arial"/>
                <a:ea typeface="Arial"/>
                <a:cs typeface="Arial"/>
              </a:rPr>
              <a:t>Validate in UAT.</a:t>
            </a:r>
            <a:endParaRPr sz="1300"/>
          </a:p>
          <a:p xmlns:a="http://schemas.openxmlformats.org/drawingml/2006/main">
            <a:pPr marL="0" indent="0" algn="ctr">
              <a:lnSpc>
                <a:spcPts val="2100"/>
              </a:lnSpc>
              <a:buNone/>
            </a:pPr>
            <a:r>
              <a:rPr sz="1300">
                <a:solidFill>
                  <a:srgbClr val="8A94A8"/>
                </a:solidFill>
                <a:latin typeface="Arial"/>
                <a:ea typeface="Arial"/>
                <a:cs typeface="Arial"/>
              </a:rPr>
              <a:t>Close client decisions.</a:t>
            </a:r>
            <a:endParaRPr sz="1300"/>
          </a:p>
        </p:txBody>
      </p:sp>
      <p:sp>
        <p:nvSpPr>
          <p:cNvPr id="20" name="anim_cta">
            <a:extLst xmlns:a="http://schemas.openxmlformats.org/drawingml/2006/main">
              <a:ext uri="{FF2B5EF4-FFF2-40B4-BE49-F238E27FC236}">
                <a16:creationId xmlns:a16="http://schemas.microsoft.com/office/drawing/2014/main" id="{F90ED3AC-CDE1-4757-9B78-B2CDD429CA45}"/>
              </a:ext>
            </a:extLst>
          </p:cNvPr>
          <p:cNvSpPr>
            <a:spLocks xmlns:a="http://schemas.openxmlformats.org/drawingml/2006/main" noGrp="1"/>
          </p:cNvSpPr>
          <p:nvPr/>
        </p:nvSpPr>
        <p:spPr>
          <a:xfrm xmlns:a="http://schemas.openxmlformats.org/drawingml/2006/main">
            <a:off x="822960" y="5486400"/>
            <a:ext cx="86868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rgbClr val="FF6B35"/>
                </a:solidFill>
                <a:latin typeface="Arial"/>
                <a:ea typeface="Arial"/>
                <a:cs typeface="Arial"/>
              </a:rPr>
              <a:t>Next: UAT, client decisions and board reconciliation—then plan handover.</a:t>
            </a:r>
            <a:endParaRPr sz="1500"/>
          </a:p>
        </p:txBody>
      </p:sp>
    </p:spTree>
    <p:extLst>
      <p:ext uri="{BB962C8B-B14F-4D97-AF65-F5344CB8AC3E}">
        <p14:creationId xmlns:p14="http://schemas.microsoft.com/office/powerpoint/2010/main" val="1819137758"/>
      </p:ext>
    </p:extLst>
  </p:cSld>
  <mc:AlternateContent xmlns:mc="http://schemas.openxmlformats.org/markup-compatibility/2006">
    <mc:Choice xmlns:p159="http://schemas.microsoft.com/office/powerpoint/2015/09/main" Requires="p159">
      <p:transition xmlns:p14="http://schemas.microsoft.com/office/powerpoint/2010/main" spd="slow" advClick="1" advTm="8000" p14:dur="1600">
        <p159:morph option="byObject"/>
      </p:transition>
    </mc:Choice>
    <mc:Fallback>
      <p:transition spd="slow" advClick="1" advTm="8000">
        <p:fade/>
      </p:transition>
    </mc:Fallback>
  </mc:AlternateContent>
  <p:timing>
    <p:tnLst>
      <p:par>
        <p:cTn id="1" dur="indefinite" restart="never" nodeType="tmRoot">
          <p:childTnLst>
            <p:seq concurrent="1" nextAc="seek">
              <p:cTn id="2" dur="indefinite" nodeType="mainSeq">
                <p:childTnLst>
                  <p:par>
                    <p:cTn id="3" fill="hold">
                      <p:stCondLst>
                        <p:cond delay="0"/>
                      </p:stCondLst>
                      <p:childTnLst>
                        <p:par>
                          <p:cTn id="4" fill="hold">
                            <p:stCondLst>
                              <p:cond delay="0"/>
                            </p:stCondLst>
                            <p:childTnLst>
                              <p:par>
                                <p:cTn id="5" presetID="10" presetClass="entr" presetSubtype="0" fill="hold" grpId="0" nodeType="withEffect">
                                  <p:stCondLst>
                                    <p:cond delay="70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900"/>
                                        <p:tgtEl>
                                          <p:spTgt spid="20"/>
                                        </p:tgtEl>
                                      </p:cBhvr>
                                    </p:animEffect>
                                    <p:anim calcmode="lin" valueType="num">
                                      <p:cBhvr additive="base">
                                        <p:cTn id="8" dur="900" fill="hold"/>
                                        <p:tgtEl>
                                          <p:spTgt spid="20"/>
                                        </p:tgtEl>
                                        <p:attrNameLst>
                                          <p:attrName>ppt_y</p:attrName>
                                        </p:attrNameLst>
                                      </p:cBhvr>
                                      <p:tavLst>
                                        <p:tav tm="0">
                                          <p:val>
                                            <p:strVal val="#ppt_y+0.04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2026-08-19T23:35:28.0930000Z</dcterms:created>
  <dcterms:modified xsi:type="dcterms:W3CDTF">2026-08-19T23:35:28.0930000Z</dcterms:modified>
</coreProperties>
</file>