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6c3e8ddb84729" /><Relationship Type="http://schemas.openxmlformats.org/officeDocument/2006/relationships/extended-properties" Target="/docProps/app.xml" Id="R71b4a53c96a74f07" /><Relationship Type="http://schemas.openxmlformats.org/officeDocument/2006/relationships/officeDocument" Target="/ppt/presentation.xml" Id="R2f976a1e53da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551eaf7a764ac8"/>
  </p:sldMasterIdLst>
  <p:notesMasterIdLst>
    <p:notesMasterId xmlns:r="http://schemas.openxmlformats.org/officeDocument/2006/relationships" r:id="Rd09c71bbc1e84a60"/>
  </p:notesMasterIdLst>
  <p:sldIdLst>
    <p:sldId xmlns:r="http://schemas.openxmlformats.org/officeDocument/2006/relationships" id="256" r:id="R1155984497194791"/>
    <p:sldId xmlns:r="http://schemas.openxmlformats.org/officeDocument/2006/relationships" id="257" r:id="Rffce1c8704894fce"/>
    <p:sldId xmlns:r="http://schemas.openxmlformats.org/officeDocument/2006/relationships" id="258" r:id="Rbfaea3730d574c4f"/>
    <p:sldId xmlns:r="http://schemas.openxmlformats.org/officeDocument/2006/relationships" id="259" r:id="R8618fadc275148cb"/>
    <p:sldId xmlns:r="http://schemas.openxmlformats.org/officeDocument/2006/relationships" id="260" r:id="R2645df049ba549fb"/>
    <p:sldId xmlns:r="http://schemas.openxmlformats.org/officeDocument/2006/relationships" id="261" r:id="R01382dfe2b8b48f2"/>
    <p:sldId xmlns:r="http://schemas.openxmlformats.org/officeDocument/2006/relationships" id="262" r:id="R9e1dd333f8e546fa"/>
    <p:sldId xmlns:r="http://schemas.openxmlformats.org/officeDocument/2006/relationships" id="263" r:id="Ra3699ae76d3f484b"/>
    <p:sldId xmlns:r="http://schemas.openxmlformats.org/officeDocument/2006/relationships" id="264" r:id="Rf95b74dc62184a98"/>
    <p:sldId xmlns:r="http://schemas.openxmlformats.org/officeDocument/2006/relationships" id="265" r:id="R5e17bf472f0b4cc3"/>
    <p:sldId xmlns:r="http://schemas.openxmlformats.org/officeDocument/2006/relationships" id="266" r:id="R2707caa6cacf406c"/>
    <p:sldId xmlns:r="http://schemas.openxmlformats.org/officeDocument/2006/relationships" id="267" r:id="R710ec96e6fab4b7f"/>
    <p:sldId xmlns:r="http://schemas.openxmlformats.org/officeDocument/2006/relationships" id="268" r:id="R14399900e15c40ce"/>
    <p:sldId xmlns:r="http://schemas.openxmlformats.org/officeDocument/2006/relationships" id="269" r:id="R403c847c5aaa4675"/>
    <p:sldId xmlns:r="http://schemas.openxmlformats.org/officeDocument/2006/relationships" id="270" r:id="R46f2b2d4c2ee484a"/>
    <p:sldId xmlns:r="http://schemas.openxmlformats.org/officeDocument/2006/relationships" id="271" r:id="R8da30f0f0ef54aaf"/>
    <p:sldId xmlns:r="http://schemas.openxmlformats.org/officeDocument/2006/relationships" id="272" r:id="R388d774fcca640cf"/>
    <p:sldId xmlns:r="http://schemas.openxmlformats.org/officeDocument/2006/relationships" id="273" r:id="R7c666003276b48a2"/>
    <p:sldId xmlns:r="http://schemas.openxmlformats.org/officeDocument/2006/relationships" id="274" r:id="Rce28677fb3ba45e2"/>
    <p:sldId xmlns:r="http://schemas.openxmlformats.org/officeDocument/2006/relationships" id="275" r:id="R38331dbd77294c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33ab46c914d99" /><Relationship Type="http://schemas.openxmlformats.org/officeDocument/2006/relationships/slideMaster" Target="/ppt/slideMasters/slideMaster1.xml" Id="R29551eaf7a764ac8" /><Relationship Type="http://schemas.openxmlformats.org/officeDocument/2006/relationships/notesMaster" Target="/ppt/notesMasters/notesMaster1.xml" Id="Rd09c71bbc1e84a60" /><Relationship Type="http://schemas.openxmlformats.org/officeDocument/2006/relationships/presProps" Target="/ppt/presProps.xml" Id="Rdf08e55635ce49d6" /><Relationship Type="http://schemas.openxmlformats.org/officeDocument/2006/relationships/viewProps" Target="/ppt/viewProps.xml" Id="R1e198c1c4180429c" /><Relationship Type="http://schemas.openxmlformats.org/officeDocument/2006/relationships/tableStyles" Target="/ppt/tableStyles.xml" Id="R1b0a0626c55d4195" /><Relationship Type="http://schemas.openxmlformats.org/officeDocument/2006/relationships/slide" Target="/ppt/slides/slide1.xml" Id="R1155984497194791" /><Relationship Type="http://schemas.openxmlformats.org/officeDocument/2006/relationships/slide" Target="/ppt/slides/slide2.xml" Id="Rffce1c8704894fce" /><Relationship Type="http://schemas.openxmlformats.org/officeDocument/2006/relationships/slide" Target="/ppt/slides/slide3.xml" Id="Rbfaea3730d574c4f" /><Relationship Type="http://schemas.openxmlformats.org/officeDocument/2006/relationships/slide" Target="/ppt/slides/slide4.xml" Id="R8618fadc275148cb" /><Relationship Type="http://schemas.openxmlformats.org/officeDocument/2006/relationships/slide" Target="/ppt/slides/slide5.xml" Id="R2645df049ba549fb" /><Relationship Type="http://schemas.openxmlformats.org/officeDocument/2006/relationships/slide" Target="/ppt/slides/slide6.xml" Id="R01382dfe2b8b48f2" /><Relationship Type="http://schemas.openxmlformats.org/officeDocument/2006/relationships/slide" Target="/ppt/slides/slide7.xml" Id="R9e1dd333f8e546fa" /><Relationship Type="http://schemas.openxmlformats.org/officeDocument/2006/relationships/slide" Target="/ppt/slides/slide8.xml" Id="Ra3699ae76d3f484b" /><Relationship Type="http://schemas.openxmlformats.org/officeDocument/2006/relationships/slide" Target="/ppt/slides/slide9.xml" Id="Rf95b74dc62184a98" /><Relationship Type="http://schemas.openxmlformats.org/officeDocument/2006/relationships/slide" Target="/ppt/slides/slide10.xml" Id="R5e17bf472f0b4cc3" /><Relationship Type="http://schemas.openxmlformats.org/officeDocument/2006/relationships/slide" Target="/ppt/slides/slide11.xml" Id="R2707caa6cacf406c" /><Relationship Type="http://schemas.openxmlformats.org/officeDocument/2006/relationships/slide" Target="/ppt/slides/slide12.xml" Id="R710ec96e6fab4b7f" /><Relationship Type="http://schemas.openxmlformats.org/officeDocument/2006/relationships/slide" Target="/ppt/slides/slide13.xml" Id="R14399900e15c40ce" /><Relationship Type="http://schemas.openxmlformats.org/officeDocument/2006/relationships/slide" Target="/ppt/slides/slide14.xml" Id="R403c847c5aaa4675" /><Relationship Type="http://schemas.openxmlformats.org/officeDocument/2006/relationships/slide" Target="/ppt/slides/slide15.xml" Id="R46f2b2d4c2ee484a" /><Relationship Type="http://schemas.openxmlformats.org/officeDocument/2006/relationships/slide" Target="/ppt/slides/slide16.xml" Id="R8da30f0f0ef54aaf" /><Relationship Type="http://schemas.openxmlformats.org/officeDocument/2006/relationships/slide" Target="/ppt/slides/slide17.xml" Id="R388d774fcca640cf" /><Relationship Type="http://schemas.openxmlformats.org/officeDocument/2006/relationships/slide" Target="/ppt/slides/slide18.xml" Id="R7c666003276b48a2" /><Relationship Type="http://schemas.openxmlformats.org/officeDocument/2006/relationships/slide" Target="/ppt/slides/slide19.xml" Id="Rce28677fb3ba45e2" /><Relationship Type="http://schemas.openxmlformats.org/officeDocument/2006/relationships/slide" Target="/ppt/slides/slide20.xml" Id="R38331dbd77294c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f3b2df686744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cfdec11db4110" /><Relationship Type="http://schemas.openxmlformats.org/officeDocument/2006/relationships/notesMaster" Target="/ppt/notesMasters/notesMaster1.xml" Id="R3934d6f0c8c5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1b24f1e00430b" /><Relationship Type="http://schemas.openxmlformats.org/officeDocument/2006/relationships/notesMaster" Target="/ppt/notesMasters/notesMaster1.xml" Id="R884957282a8845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4c0bccb80a4daf" /><Relationship Type="http://schemas.openxmlformats.org/officeDocument/2006/relationships/notesMaster" Target="/ppt/notesMasters/notesMaster1.xml" Id="R5b7ce3dec59647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dfcc8fa164d5d" /><Relationship Type="http://schemas.openxmlformats.org/officeDocument/2006/relationships/notesMaster" Target="/ppt/notesMasters/notesMaster1.xml" Id="R7f2498c659b440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32c2c31e6c49d2" /><Relationship Type="http://schemas.openxmlformats.org/officeDocument/2006/relationships/notesMaster" Target="/ppt/notesMasters/notesMaster1.xml" Id="Redd6c78ff8184a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fa88b2fbd64a9f" /><Relationship Type="http://schemas.openxmlformats.org/officeDocument/2006/relationships/notesMaster" Target="/ppt/notesMasters/notesMaster1.xml" Id="R8c9f4128bba94f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fa122dc7f4091" /><Relationship Type="http://schemas.openxmlformats.org/officeDocument/2006/relationships/notesMaster" Target="/ppt/notesMasters/notesMaster1.xml" Id="R4d249d26e3634b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d39822f1144c05" /><Relationship Type="http://schemas.openxmlformats.org/officeDocument/2006/relationships/notesMaster" Target="/ppt/notesMasters/notesMaster1.xml" Id="R4ecd4f55b987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bbc7c6415d4095" /><Relationship Type="http://schemas.openxmlformats.org/officeDocument/2006/relationships/notesMaster" Target="/ppt/notesMasters/notesMaster1.xml" Id="R3fb464429f384f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9d7826492b47f7" /><Relationship Type="http://schemas.openxmlformats.org/officeDocument/2006/relationships/notesMaster" Target="/ppt/notesMasters/notesMaster1.xml" Id="R8c06a9b9d4894a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f74b3e201549cf" /><Relationship Type="http://schemas.openxmlformats.org/officeDocument/2006/relationships/notesMaster" Target="/ppt/notesMasters/notesMaster1.xml" Id="R00ed4a6c751845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2524f6a5bc4a6c" /><Relationship Type="http://schemas.openxmlformats.org/officeDocument/2006/relationships/notesMaster" Target="/ppt/notesMasters/notesMaster1.xml" Id="Rff318379274843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98a6a49eea4071" /><Relationship Type="http://schemas.openxmlformats.org/officeDocument/2006/relationships/notesMaster" Target="/ppt/notesMasters/notesMaster1.xml" Id="R5e12eff1c81d4c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59b919b6ff427b" /><Relationship Type="http://schemas.openxmlformats.org/officeDocument/2006/relationships/notesMaster" Target="/ppt/notesMasters/notesMaster1.xml" Id="R17359ebbd57842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2f7ca8de0c41d5" /><Relationship Type="http://schemas.openxmlformats.org/officeDocument/2006/relationships/notesMaster" Target="/ppt/notesMasters/notesMaster1.xml" Id="Rfb56ea7b9fca4c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9f2b81e0ac4e12" /><Relationship Type="http://schemas.openxmlformats.org/officeDocument/2006/relationships/notesMaster" Target="/ppt/notesMasters/notesMaster1.xml" Id="R092c1df8f4a544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a138b6f42d4359" /><Relationship Type="http://schemas.openxmlformats.org/officeDocument/2006/relationships/notesMaster" Target="/ppt/notesMasters/notesMaster1.xml" Id="R4343a1dd77234d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11d04152a64386" /><Relationship Type="http://schemas.openxmlformats.org/officeDocument/2006/relationships/notesMaster" Target="/ppt/notesMasters/notesMaster1.xml" Id="Rc6fb0b100b7141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75d601613046d6" /><Relationship Type="http://schemas.openxmlformats.org/officeDocument/2006/relationships/notesMaster" Target="/ppt/notesMasters/notesMaster1.xml" Id="R8a665db28c1241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9ad0d1f9d944fd" /><Relationship Type="http://schemas.openxmlformats.org/officeDocument/2006/relationships/notesMaster" Target="/ppt/notesMasters/notesMaster1.xml" Id="Rc7bf4ae0a6cd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final-team framing: this is one delivery, not three disconnected portfolios.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thesis before explaining the workstreams or technology.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 parts as a narrative arc, not a conventional agenda.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the thesis to the operating constraints that made the project non-trivial.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public-site concept as evidence of the design lane, not as a claim that every displayed fact is production-approved.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project mandate and safeguards.</a:t>
            </a:r>
            <a:endParaRPr/>
          </a:p>
          <a:p xmlns:a="http://schemas.openxmlformats.org/drawingml/2006/main">
            <a:r>
              <a:t>- C:\Users\brett\Downloads\Evidence_Portfolio_Paras.docx — public-site work and design evidence supplied by Paras.</a:t>
            </a:r>
            <a:endParaRPr/>
          </a:p>
          <a:p xmlns:a="http://schemas.openxmlformats.org/drawingml/2006/main">
            <a:r>
              <a:t>- C:\Users\brett\inzbc\team_report_work\bhanu-media\image5.png — INZBC public-site concept included in Bhanu's final evidence portfolio.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failure at any layer weakens the whole result.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individual strengths explicit while keeping the team result primary.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Calculation: 184 ÷ 192 = 95.8%. Individual rates are 134/135, 31/35 and 19/22.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scopes separate: student-authored PRs, organisation repositories and private-board items are not summed together.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from scale to the mechanisms that made the work coherent.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capability progression rather than a literal date-by-date project schedule.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cross-lane boundary at each step; no lane silently bypasses the next one.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board reconciliation finding is intentionally preserved; the report does not rewrite stale status to make delivery look cleaner.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quantitative activity to the controlled merge process.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Bhanu metrics, PDR assessment and integration findings.</a:t>
            </a:r>
            <a:endParaRPr/>
          </a:p>
          <a:p xmlns:a="http://schemas.openxmlformats.org/drawingml/2006/main">
            <a:r>
              <a:t>- C:\Users\brett\inzbc\team_report_work\bhanu-media\image3.png — evidence graphic generated from refreshed GitHub review and merge records.</a:t>
            </a:r>
            <a:endParaRPr/>
          </a:p>
          <a:p xmlns:a="http://schemas.openxmlformats.org/drawingml/2006/main">
            <a:r>
              <a:t>- https://github.com/India-New-Zealand-Business-Council — organisation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practices that turned specialist ownership into a team outcome.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sentence is quoted directly from the consolidated team report.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Bhanu's communication evidence is particularly strong: 141 authored issues, 60 review events, client-decision framing and broad handover documentation.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client-authority decisions, not unfinished engineering choices the team should guess.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thesis: the team has a credible path from a controlled implementation to a sustainable service.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consolidated team report and evidence refreshed 20 August 2026.</a:t>
            </a:r>
            <a:endParaRPr/>
          </a:p>
          <a:p xmlns:a="http://schemas.openxmlformats.org/drawingml/2006/main">
            <a:r>
              <a:t>- https://github.com/India-New-Zealand-Business-Council — organisation repository history.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action required from INZBC and leave the audience with the evidence locations.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C:\Users\brett\Downloads\INZBC_Team_Final_Report.docx — final report and evidence index.</a:t>
            </a:r>
            <a:endParaRPr/>
          </a:p>
          <a:p xmlns:a="http://schemas.openxmlformats.org/drawingml/2006/main">
            <a:r>
              <a:t>- https://github.com/India-New-Zealand-Business-Council</a:t>
            </a:r>
            <a:endParaRPr/>
          </a:p>
          <a:p xmlns:a="http://schemas.openxmlformats.org/drawingml/2006/main">
            <a:r>
              <a:t>- https://github.com/India-New-Zealand-Business-Council/inzbc</a:t>
            </a:r>
            <a:endParaRPr/>
          </a:p>
          <a:p xmlns:a="http://schemas.openxmlformats.org/drawingml/2006/main">
            <a:r>
              <a:t>- https://github.com/India-New-Zealand-Business-Council/inzview</a:t>
            </a:r>
            <a:endParaRPr/>
          </a:p>
          <a:p xmlns:a="http://schemas.openxmlformats.org/drawingml/2006/main">
            <a:r>
              <a:t>- https://github.com/India-New-Zealand-Business-Council/daily-india-nz-news-agent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9cc89e63d485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4aa4465bb4b64" /><Relationship Type="http://schemas.openxmlformats.org/officeDocument/2006/relationships/slideLayout" Target="/ppt/slideLayouts/slideLayout1.xml" Id="R44ef177aeafb415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f177aeafb415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45ac8d5f54594" /><Relationship Type="http://schemas.openxmlformats.org/officeDocument/2006/relationships/image" Target="/ppt/media/image.jpeg" Id="R531d4ebe38914e48" /><Relationship Type="http://schemas.openxmlformats.org/officeDocument/2006/relationships/image" Target="/ppt/media/image.png" Id="R2c26ae965ba940d5" /><Relationship Type="http://schemas.openxmlformats.org/officeDocument/2006/relationships/image" Target="/ppt/media/image2.png" Id="R23e6e1f2953c44bb" /><Relationship Type="http://schemas.openxmlformats.org/officeDocument/2006/relationships/notesSlide" Target="/ppt/notesSlides/notesSlide1.xml" Id="R6e44be39bea547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ccba0a9fc40e9" /><Relationship Type="http://schemas.openxmlformats.org/officeDocument/2006/relationships/image" Target="/ppt/media/image.jpeg" Id="R3d17dd79a28b4bf2" /><Relationship Type="http://schemas.openxmlformats.org/officeDocument/2006/relationships/image" Target="/ppt/media/image.png" Id="Ra78a7878ec764678" /><Relationship Type="http://schemas.openxmlformats.org/officeDocument/2006/relationships/image" Target="/ppt/media/image2.png" Id="R07bf72ffc882462b" /><Relationship Type="http://schemas.openxmlformats.org/officeDocument/2006/relationships/notesSlide" Target="/ppt/notesSlides/notesSlide2.xml" Id="R5c43ac5233804d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62d31112a4e76" /><Relationship Type="http://schemas.openxmlformats.org/officeDocument/2006/relationships/image" Target="/ppt/media/image.jpeg" Id="Rf5fe07b71b8f49bc" /><Relationship Type="http://schemas.openxmlformats.org/officeDocument/2006/relationships/image" Target="/ppt/media/image2.png" Id="Reda10a39b5bc4b37" /><Relationship Type="http://schemas.openxmlformats.org/officeDocument/2006/relationships/notesSlide" Target="/ppt/notesSlides/notesSlide3.xml" Id="Re7b8e2c781974f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634193d9c415e" /><Relationship Type="http://schemas.openxmlformats.org/officeDocument/2006/relationships/image" Target="/ppt/media/image.jpeg" Id="R053eeba38082456b" /><Relationship Type="http://schemas.openxmlformats.org/officeDocument/2006/relationships/image" Target="/ppt/media/image.png" Id="Re8f67bbfd9a24673" /><Relationship Type="http://schemas.openxmlformats.org/officeDocument/2006/relationships/notesSlide" Target="/ppt/notesSlides/notesSlide4.xml" Id="R43e1dfa79c964c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a3b08058487a" /><Relationship Type="http://schemas.openxmlformats.org/officeDocument/2006/relationships/image" Target="/ppt/media/image.jpeg" Id="Rf1133d41f55d4250" /><Relationship Type="http://schemas.openxmlformats.org/officeDocument/2006/relationships/image" Target="/ppt/media/image.png" Id="Rdc61a8f0594c4862" /><Relationship Type="http://schemas.openxmlformats.org/officeDocument/2006/relationships/image" Target="/ppt/media/image3.png" Id="Re631b4a0eb784788" /><Relationship Type="http://schemas.openxmlformats.org/officeDocument/2006/relationships/notesSlide" Target="/ppt/notesSlides/notesSlide5.xml" Id="Ra4ddf1f0a4d0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f2503ed2f4a75" /><Relationship Type="http://schemas.openxmlformats.org/officeDocument/2006/relationships/image" Target="/ppt/media/image.jpeg" Id="Rd8627f37653e4a80" /><Relationship Type="http://schemas.openxmlformats.org/officeDocument/2006/relationships/image" Target="/ppt/media/image.png" Id="R97ca3fe31b374b92" /><Relationship Type="http://schemas.openxmlformats.org/officeDocument/2006/relationships/image" Target="/ppt/media/image4.png" Id="Rcc71720b42de486b" /><Relationship Type="http://schemas.openxmlformats.org/officeDocument/2006/relationships/notesSlide" Target="/ppt/notesSlides/notesSlide6.xml" Id="Rad31210abc174f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e94a95f544b03" /><Relationship Type="http://schemas.openxmlformats.org/officeDocument/2006/relationships/image" Target="/ppt/media/image.jpeg" Id="Re1e23a30f82f4673" /><Relationship Type="http://schemas.openxmlformats.org/officeDocument/2006/relationships/image" Target="/ppt/media/image2.png" Id="R5488dc8f56ab4159" /><Relationship Type="http://schemas.openxmlformats.org/officeDocument/2006/relationships/notesSlide" Target="/ppt/notesSlides/notesSlide7.xml" Id="R9af30ec3334243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bafc6ad2e4d11" /><Relationship Type="http://schemas.openxmlformats.org/officeDocument/2006/relationships/image" Target="/ppt/media/image.jpeg" Id="R59a308e2081846a8" /><Relationship Type="http://schemas.openxmlformats.org/officeDocument/2006/relationships/image" Target="/ppt/media/image.png" Id="Rdceb99fd30d04808" /><Relationship Type="http://schemas.openxmlformats.org/officeDocument/2006/relationships/notesSlide" Target="/ppt/notesSlides/notesSlide8.xml" Id="Rdd9bd519ba2f42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0f48635cf496a" /><Relationship Type="http://schemas.openxmlformats.org/officeDocument/2006/relationships/image" Target="/ppt/media/image.jpeg" Id="R798f4f8c789a468e" /><Relationship Type="http://schemas.openxmlformats.org/officeDocument/2006/relationships/image" Target="/ppt/media/image4.png" Id="R3382f7397e1145f0" /><Relationship Type="http://schemas.openxmlformats.org/officeDocument/2006/relationships/notesSlide" Target="/ppt/notesSlides/notesSlide9.xml" Id="R43f2aa70411d40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834b236c44f0c" /><Relationship Type="http://schemas.openxmlformats.org/officeDocument/2006/relationships/image" Target="/ppt/media/image.jpeg" Id="R5597f61364ff425e" /><Relationship Type="http://schemas.openxmlformats.org/officeDocument/2006/relationships/image" Target="/ppt/media/image4.png" Id="R4928c8daef274bee" /><Relationship Type="http://schemas.openxmlformats.org/officeDocument/2006/relationships/notesSlide" Target="/ppt/notesSlides/notesSlide10.xml" Id="Rb4da427e38db49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42c633afb4959" /><Relationship Type="http://schemas.openxmlformats.org/officeDocument/2006/relationships/image" Target="/ppt/media/image.jpeg" Id="R6c3e4b6ae73d4430" /><Relationship Type="http://schemas.openxmlformats.org/officeDocument/2006/relationships/image" Target="/ppt/media/image2.png" Id="R68b890cda6be431d" /><Relationship Type="http://schemas.openxmlformats.org/officeDocument/2006/relationships/notesSlide" Target="/ppt/notesSlides/notesSlide11.xml" Id="Re9da5aa4a50a44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6d688a3f64dc3" /><Relationship Type="http://schemas.openxmlformats.org/officeDocument/2006/relationships/image" Target="/ppt/media/image.jpeg" Id="R0ce5fdc73f1a46b7" /><Relationship Type="http://schemas.openxmlformats.org/officeDocument/2006/relationships/image" Target="/ppt/media/image.png" Id="R99f49e95509440f6" /><Relationship Type="http://schemas.openxmlformats.org/officeDocument/2006/relationships/notesSlide" Target="/ppt/notesSlides/notesSlide12.xml" Id="R60370c358e4147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6c3b7560b44d2" /><Relationship Type="http://schemas.openxmlformats.org/officeDocument/2006/relationships/image" Target="/ppt/media/image.jpeg" Id="R869e7936c83140cf" /><Relationship Type="http://schemas.openxmlformats.org/officeDocument/2006/relationships/image" Target="/ppt/media/image4.png" Id="Rb6d4ce205e7d4a68" /><Relationship Type="http://schemas.openxmlformats.org/officeDocument/2006/relationships/notesSlide" Target="/ppt/notesSlides/notesSlide13.xml" Id="R6927f022c38f4c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daf97885c409e" /><Relationship Type="http://schemas.openxmlformats.org/officeDocument/2006/relationships/image" Target="/ppt/media/image.jpeg" Id="Rec1435aa68fd4cb1" /><Relationship Type="http://schemas.openxmlformats.org/officeDocument/2006/relationships/image" Target="/ppt/media/image2.png" Id="Ra5ddac5306da45f2" /><Relationship Type="http://schemas.openxmlformats.org/officeDocument/2006/relationships/image" Target="/ppt/media/image5.png" Id="Ra55d9ed7bf864a95" /><Relationship Type="http://schemas.openxmlformats.org/officeDocument/2006/relationships/notesSlide" Target="/ppt/notesSlides/notesSlide14.xml" Id="Rb191bc375c0e46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2e950e90c498e" /><Relationship Type="http://schemas.openxmlformats.org/officeDocument/2006/relationships/image" Target="/ppt/media/image.jpeg" Id="R59cd2bd71f154f96" /><Relationship Type="http://schemas.openxmlformats.org/officeDocument/2006/relationships/image" Target="/ppt/media/image4.png" Id="R0fe13392d3144e65" /><Relationship Type="http://schemas.openxmlformats.org/officeDocument/2006/relationships/notesSlide" Target="/ppt/notesSlides/notesSlide15.xml" Id="R64597ec11c414c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cb1eb63ae4960" /><Relationship Type="http://schemas.openxmlformats.org/officeDocument/2006/relationships/image" Target="/ppt/media/image.jpeg" Id="R6055660a28954a6c" /><Relationship Type="http://schemas.openxmlformats.org/officeDocument/2006/relationships/image" Target="/ppt/media/image.png" Id="R62811cdcb878474e" /><Relationship Type="http://schemas.openxmlformats.org/officeDocument/2006/relationships/image" Target="/ppt/media/image2.jpeg" Id="R0d28c975765c4c1e" /><Relationship Type="http://schemas.openxmlformats.org/officeDocument/2006/relationships/notesSlide" Target="/ppt/notesSlides/notesSlide16.xml" Id="Re386241acf6b46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5d950d6b94b91" /><Relationship Type="http://schemas.openxmlformats.org/officeDocument/2006/relationships/image" Target="/ppt/media/image.jpeg" Id="R899ac723cd9c4ad7" /><Relationship Type="http://schemas.openxmlformats.org/officeDocument/2006/relationships/image" Target="/ppt/media/image2.png" Id="R5722580812ff4b12" /><Relationship Type="http://schemas.openxmlformats.org/officeDocument/2006/relationships/image" Target="/ppt/media/image2.jpeg" Id="Re26875ec3a844d04" /><Relationship Type="http://schemas.openxmlformats.org/officeDocument/2006/relationships/notesSlide" Target="/ppt/notesSlides/notesSlide17.xml" Id="R6890e2a6a45940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735517a9f48e0" /><Relationship Type="http://schemas.openxmlformats.org/officeDocument/2006/relationships/image" Target="/ppt/media/image.jpeg" Id="Rafa8783cc92e4323" /><Relationship Type="http://schemas.openxmlformats.org/officeDocument/2006/relationships/image" Target="/ppt/media/image.png" Id="Rfe0f4eaea66f4c02" /><Relationship Type="http://schemas.openxmlformats.org/officeDocument/2006/relationships/notesSlide" Target="/ppt/notesSlides/notesSlide18.xml" Id="R50b05745e6fb4a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0f278d41f4fed" /><Relationship Type="http://schemas.openxmlformats.org/officeDocument/2006/relationships/image" Target="/ppt/media/image.jpeg" Id="R84dd48fbc89d484e" /><Relationship Type="http://schemas.openxmlformats.org/officeDocument/2006/relationships/image" Target="/ppt/media/image.png" Id="Rb6c9cfc3095d4559" /><Relationship Type="http://schemas.openxmlformats.org/officeDocument/2006/relationships/image" Target="/ppt/media/image4.png" Id="R95c2f189da91438f" /><Relationship Type="http://schemas.openxmlformats.org/officeDocument/2006/relationships/notesSlide" Target="/ppt/notesSlides/notesSlide19.xml" Id="Rfa148e5a553148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7128afdfe48a6" /><Relationship Type="http://schemas.openxmlformats.org/officeDocument/2006/relationships/image" Target="/ppt/media/image.jpeg" Id="Rfde26e3891954a9e" /><Relationship Type="http://schemas.openxmlformats.org/officeDocument/2006/relationships/image" Target="/ppt/media/image2.png" Id="R9e6038d419ab47fb" /><Relationship Type="http://schemas.openxmlformats.org/officeDocument/2006/relationships/image" Target="/ppt/media/image.png" Id="Rc499366db4c241f5" /><Relationship Type="http://schemas.openxmlformats.org/officeDocument/2006/relationships/notesSlide" Target="/ppt/notesSlides/notesSlide20.xml" Id="R87186a9d43f94d64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31d4ebe38914e4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6ae965ba940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8960" y="-182880"/>
            <a:ext cx="6766560" cy="6766560"/>
          </a:xfrm>
          <a:prstGeom xmlns:a="http://schemas.openxmlformats.org/drawingml/2006/main" prst="rect">
            <a:avLst/>
          </a:prstGeom>
        </p:spPr>
      </p:pic>
      <p:pic>
        <p:nvPicPr>
          <p:cNvPr id="15" name="!!orb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6e1f2953c44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63040" y="3566160"/>
            <a:ext cx="4572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rack">
            <a:extLst xmlns:a="http://schemas.openxmlformats.org/drawingml/2006/main">
              <a:ext uri="{FF2B5EF4-FFF2-40B4-BE49-F238E27FC236}">
                <a16:creationId xmlns:a16="http://schemas.microsoft.com/office/drawing/2014/main" id="{4054DA17-A0AA-496A-B33C-DC680E12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5" name="!!bar">
            <a:extLst xmlns:a="http://schemas.openxmlformats.org/drawingml/2006/main">
              <a:ext uri="{FF2B5EF4-FFF2-40B4-BE49-F238E27FC236}">
                <a16:creationId xmlns:a16="http://schemas.microsoft.com/office/drawing/2014/main" id="{1C5F5AA8-517B-428B-A4BE-E183A89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384048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pageno">
            <a:extLst xmlns:a="http://schemas.openxmlformats.org/drawingml/2006/main">
              <a:ext uri="{FF2B5EF4-FFF2-40B4-BE49-F238E27FC236}">
                <a16:creationId xmlns:a16="http://schemas.microsoft.com/office/drawing/2014/main" id="{400F55EF-BD42-40B4-8DB4-238EDCD6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01 / 20</a:t>
            </a:r>
            <a:endParaRPr sz="900"/>
          </a:p>
        </p:txBody>
      </p:sp>
      <p:sp>
        <p:nvSpPr>
          <p:cNvPr id="7" name="!!mark">
            <a:extLst xmlns:a="http://schemas.openxmlformats.org/drawingml/2006/main">
              <a:ext uri="{FF2B5EF4-FFF2-40B4-BE49-F238E27FC236}">
                <a16:creationId xmlns:a16="http://schemas.microsoft.com/office/drawing/2014/main" id="{BCA24242-4C5B-42BA-90A0-9052551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anim_eyebrow">
            <a:extLst xmlns:a="http://schemas.openxmlformats.org/drawingml/2006/main">
              <a:ext uri="{FF2B5EF4-FFF2-40B4-BE49-F238E27FC236}">
                <a16:creationId xmlns:a16="http://schemas.microsoft.com/office/drawing/2014/main" id="{8E110C3D-04FE-4347-916C-67B4DA84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47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FF6B35"/>
                </a:solidFill>
                <a:latin typeface="Arial"/>
                <a:ea typeface="Arial"/>
                <a:cs typeface="Arial"/>
              </a:rPr>
              <a:t>INDIA NEW ZEALAND BUSINESS COUNCIL</a:t>
            </a:r>
            <a:endParaRPr sz="1000"/>
          </a:p>
        </p:txBody>
      </p:sp>
      <p:sp>
        <p:nvSpPr>
          <p:cNvPr id="9" name="!!kicker">
            <a:extLst xmlns:a="http://schemas.openxmlformats.org/drawingml/2006/main">
              <a:ext uri="{FF2B5EF4-FFF2-40B4-BE49-F238E27FC236}">
                <a16:creationId xmlns:a16="http://schemas.microsoft.com/office/drawing/2014/main" id="{D051B296-368A-49A4-B524-29D43D19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12848"/>
            <a:ext cx="987552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5800"/>
              </a:lnSpc>
              <a:buNone/>
            </a:pPr>
            <a:r>
              <a:rPr sz="5400" b="1" spc="-50">
                <a:solidFill>
                  <a:srgbClr val="EEF2F8"/>
                </a:solidFill>
                <a:latin typeface="Arial"/>
                <a:ea typeface="Arial"/>
                <a:cs typeface="Arial"/>
              </a:rPr>
              <a:t>INZBC TEAM</a:t>
            </a:r>
            <a:endParaRPr sz="5400"/>
          </a:p>
          <a:p xmlns:a="http://schemas.openxmlformats.org/drawingml/2006/main">
            <a:pPr marL="0" indent="0">
              <a:lnSpc>
                <a:spcPts val="5800"/>
              </a:lnSpc>
              <a:buNone/>
            </a:pPr>
            <a:r>
              <a:rPr sz="5400" b="1" spc="-50">
                <a:solidFill>
                  <a:srgbClr val="EEF2F8"/>
                </a:solidFill>
                <a:latin typeface="Arial"/>
                <a:ea typeface="Arial"/>
                <a:cs typeface="Arial"/>
              </a:rPr>
              <a:t>FINAL REPORT</a:t>
            </a:r>
            <a:endParaRPr sz="5400"/>
          </a:p>
        </p:txBody>
      </p:sp>
      <p:sp>
        <p:nvSpPr>
          <p:cNvPr id="10" name="anim_sub">
            <a:extLst xmlns:a="http://schemas.openxmlformats.org/drawingml/2006/main">
              <a:ext uri="{FF2B5EF4-FFF2-40B4-BE49-F238E27FC236}">
                <a16:creationId xmlns:a16="http://schemas.microsoft.com/office/drawing/2014/main" id="{5127AFD6-D053-49DD-B2BE-6DF5EB66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81728"/>
            <a:ext cx="6949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500">
                <a:solidFill>
                  <a:srgbClr val="8A94A8"/>
                </a:solidFill>
                <a:latin typeface="Arial"/>
                <a:ea typeface="Arial"/>
                <a:cs typeface="Arial"/>
              </a:rPr>
              <a:t>Three specialist lanes. One governed delivery.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ECE9F2C-1951-46CF-8298-40FE5397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33872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300">
                <a:solidFill>
                  <a:srgbClr val="6E7788"/>
                </a:solidFill>
                <a:latin typeface="Arial"/>
                <a:ea typeface="Arial"/>
                <a:cs typeface="Arial"/>
              </a:rPr>
              <a:t>BHANU GUPTA   ·   ROSHAN ARYAL   ·   PARAS   ·   20 AUGUST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02115772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 advTm="4000" p14:dur="1200">
        <p:fade/>
      </p:transition>
    </mc:Choice>
    <mc:Fallback>
      <p:transition spd="slow" advClick="1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17dd79a28b4bf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a7878ec76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45920" y="1280160"/>
            <a:ext cx="6035040" cy="6035040"/>
          </a:xfrm>
          <a:prstGeom xmlns:a="http://schemas.openxmlformats.org/drawingml/2006/main" prst="rect">
            <a:avLst/>
          </a:prstGeom>
        </p:spPr>
      </p:pic>
      <p:pic>
        <p:nvPicPr>
          <p:cNvPr id="14" name="!!orb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f72ffc88246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0" y="3840480"/>
            <a:ext cx="4937760" cy="4937760"/>
          </a:xfrm>
          <a:prstGeom xmlns:a="http://schemas.openxmlformats.org/drawingml/2006/main" prst="rect">
            <a:avLst/>
          </a:prstGeom>
        </p:spPr>
      </p:pic>
      <p:sp>
        <p:nvSpPr>
          <p:cNvPr id="4" name="track">
            <a:extLst xmlns:a="http://schemas.openxmlformats.org/drawingml/2006/main">
              <a:ext uri="{FF2B5EF4-FFF2-40B4-BE49-F238E27FC236}">
                <a16:creationId xmlns:a16="http://schemas.microsoft.com/office/drawing/2014/main" id="{52D937E0-BB6F-4F62-B1B0-E7F2C6B3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5" name="!!bar">
            <a:extLst xmlns:a="http://schemas.openxmlformats.org/drawingml/2006/main">
              <a:ext uri="{FF2B5EF4-FFF2-40B4-BE49-F238E27FC236}">
                <a16:creationId xmlns:a16="http://schemas.microsoft.com/office/drawing/2014/main" id="{3FCC8C91-78D5-4C93-A48F-DD9B4BD4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9188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mark">
            <a:extLst xmlns:a="http://schemas.openxmlformats.org/drawingml/2006/main">
              <a:ext uri="{FF2B5EF4-FFF2-40B4-BE49-F238E27FC236}">
                <a16:creationId xmlns:a16="http://schemas.microsoft.com/office/drawing/2014/main" id="{D06D4451-7230-48AA-9F2A-2D1077DE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7" name="!!kicker">
            <a:extLst xmlns:a="http://schemas.openxmlformats.org/drawingml/2006/main">
              <a:ext uri="{FF2B5EF4-FFF2-40B4-BE49-F238E27FC236}">
                <a16:creationId xmlns:a16="http://schemas.microsoft.com/office/drawing/2014/main" id="{9D2F9F9A-DA79-4223-8AE2-49DA84E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THE TEAM RESULT</a:t>
            </a:r>
            <a:endParaRPr sz="900"/>
          </a:p>
        </p:txBody>
      </p:sp>
      <p:sp>
        <p:nvSpPr>
          <p:cNvPr id="8" name="pageno">
            <a:extLst xmlns:a="http://schemas.openxmlformats.org/drawingml/2006/main">
              <a:ext uri="{FF2B5EF4-FFF2-40B4-BE49-F238E27FC236}">
                <a16:creationId xmlns:a16="http://schemas.microsoft.com/office/drawing/2014/main" id="{F561F95D-66EA-4CFC-9D38-E59FB6F7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02 / 20</a:t>
            </a:r>
            <a:endParaRPr sz="9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773E81E-6002-442F-96F4-DE21AB0C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95097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4600"/>
              </a:lnSpc>
              <a:buNone/>
            </a:pPr>
            <a:r>
              <a:rPr sz="38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Three focused workstreams became one governed, evidence-led platform.</a:t>
            </a:r>
            <a:endParaRPr sz="38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77632EA-7CC3-4A21-88EF-395A88A7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A94A8"/>
                </a:solidFill>
                <a:latin typeface="Arial"/>
                <a:ea typeface="Arial"/>
                <a:cs typeface="Arial"/>
              </a:rPr>
              <a:t>192 student-authored PRs  ·  184 merged  ·  138 board items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3413331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4500" p14:dur="1600">
        <p159:morph option="byWord"/>
      </p:transition>
    </mc:Choice>
    <mc:Fallback>
      <p:transition spd="slow" advClick="1" advTm="4500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5fe07b71b8f49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10a39b5bc4b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3840" y="-1097280"/>
            <a:ext cx="5852160" cy="585216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86F08BCF-762D-44D8-8034-EEBA5B1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07E58EE1-4C1C-47CB-AFBD-77B32F98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1453703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CB551E79-D5C7-46C3-8F9B-F37CD97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46D407E4-C306-40E8-A600-6C558CC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CONTENTS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740F52C4-D58F-4419-8194-05F0C12A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03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61E2D26-D62E-426A-B376-D502BCB4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70432"/>
            <a:ext cx="7315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420"/>
              </a:lnSpc>
              <a:buNone/>
            </a:pPr>
            <a:r>
              <a:rPr sz="30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What the evidence proves</a:t>
            </a:r>
            <a:endParaRPr sz="3000"/>
          </a:p>
        </p:txBody>
      </p:sp>
      <p:sp>
        <p:nvSpPr>
          <p:cNvPr id="9" name="!!num">
            <a:extLst xmlns:a="http://schemas.openxmlformats.org/drawingml/2006/main">
              <a:ext uri="{FF2B5EF4-FFF2-40B4-BE49-F238E27FC236}">
                <a16:creationId xmlns:a16="http://schemas.microsoft.com/office/drawing/2014/main" id="{EC94E38E-0DF8-4950-B496-EA1B0138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868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01</a:t>
            </a:r>
            <a:endParaRPr sz="2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E3C42A-8E6E-41EA-8071-AFA4785D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395728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Mandate + method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7BFF004-2147-40BC-8457-DD8B60CD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95728"/>
            <a:ext cx="50109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Why trust and human authority shaped the build.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3EB0745-FAC8-48FA-BB7E-97031CE7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08960"/>
            <a:ext cx="10545775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3" name="num1">
            <a:extLst xmlns:a="http://schemas.openxmlformats.org/drawingml/2006/main">
              <a:ext uri="{FF2B5EF4-FFF2-40B4-BE49-F238E27FC236}">
                <a16:creationId xmlns:a16="http://schemas.microsoft.com/office/drawing/2014/main" id="{29D5E596-309C-45E6-A72F-031F2B8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28416"/>
            <a:ext cx="868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4A5468"/>
                </a:solidFill>
                <a:latin typeface="Arial"/>
                <a:ea typeface="Arial"/>
                <a:cs typeface="Arial"/>
              </a:rPr>
              <a:t>02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12C8B8-3436-4A92-92D2-2925C222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328416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Delivery + evidence</a:t>
            </a:r>
            <a:endParaRPr sz="18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E6C9C4F-1962-469C-9953-6F4885D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28416"/>
            <a:ext cx="50109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What shipped, how it connects, and the live record.</a:t>
            </a:r>
            <a:endParaRPr sz="12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19D34C7-6400-4EAA-BF67-64DA83D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41648"/>
            <a:ext cx="10545775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7" name="num2">
            <a:extLst xmlns:a="http://schemas.openxmlformats.org/drawingml/2006/main">
              <a:ext uri="{FF2B5EF4-FFF2-40B4-BE49-F238E27FC236}">
                <a16:creationId xmlns:a16="http://schemas.microsoft.com/office/drawing/2014/main" id="{81847394-849D-4AEF-84E7-FF2520FF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61104"/>
            <a:ext cx="868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4A5468"/>
                </a:solidFill>
                <a:latin typeface="Arial"/>
                <a:ea typeface="Arial"/>
                <a:cs typeface="Arial"/>
              </a:rPr>
              <a:t>03</a:t>
            </a:r>
            <a:endParaRPr sz="2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C140562-7438-47E1-943C-BD73884F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261104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Team + learning</a:t>
            </a:r>
            <a:endParaRPr sz="1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1A8F287-B698-4F0B-B928-D617F849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61104"/>
            <a:ext cx="50109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Why communication and ownership were delivery tools.</a:t>
            </a:r>
            <a:endParaRPr sz="12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48E81C-361C-4285-B3F5-0962D289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74336"/>
            <a:ext cx="10545775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21" name="num3">
            <a:extLst xmlns:a="http://schemas.openxmlformats.org/drawingml/2006/main">
              <a:ext uri="{FF2B5EF4-FFF2-40B4-BE49-F238E27FC236}">
                <a16:creationId xmlns:a16="http://schemas.microsoft.com/office/drawing/2014/main" id="{DD8E4EF0-491C-4A3E-BAD7-5B14853B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93792"/>
            <a:ext cx="868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4A5468"/>
                </a:solidFill>
                <a:latin typeface="Arial"/>
                <a:ea typeface="Arial"/>
                <a:cs typeface="Arial"/>
              </a:rPr>
              <a:t>04</a:t>
            </a:r>
            <a:endParaRPr sz="22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94B6B1D-7049-4D46-8DE4-CB048082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193792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Handover + decisions</a:t>
            </a:r>
            <a:endParaRPr sz="1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6EE4174-F816-40DE-A934-90ABB86B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93792"/>
            <a:ext cx="50109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What INZBC must decide to authorise operation.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3029859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4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3eeba38082456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67bbfd9a2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011680" y="2011680"/>
            <a:ext cx="6949440" cy="694944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CC01762F-6EB3-4982-8749-E641C27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C3D6D90D-DF66-4BA2-80E2-4EE0BA9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1988531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E4E3C475-8510-4E17-BE69-64A67B85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BB2E7E6E-7D98-4770-9C1A-342020D7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CHAPTER 01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37D10A50-5A3E-4601-B967-A5065EC6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04 / 20</a:t>
            </a:r>
            <a:endParaRPr sz="900"/>
          </a:p>
        </p:txBody>
      </p:sp>
      <p:sp>
        <p:nvSpPr>
          <p:cNvPr id="8" name="!!num">
            <a:extLst xmlns:a="http://schemas.openxmlformats.org/drawingml/2006/main">
              <a:ext uri="{FF2B5EF4-FFF2-40B4-BE49-F238E27FC236}">
                <a16:creationId xmlns:a16="http://schemas.microsoft.com/office/drawing/2014/main" id="{3A76D1D9-7EBF-4434-832A-596B458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685800"/>
            <a:ext cx="5971032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0" b="1" spc="-800">
                <a:solidFill>
                  <a:srgbClr val="1F2735"/>
                </a:solidFill>
                <a:latin typeface="Arial"/>
                <a:ea typeface="Arial"/>
                <a:cs typeface="Arial"/>
              </a:rPr>
              <a:t>01</a:t>
            </a:r>
            <a:endParaRPr sz="2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CA51771-5BFE-4150-995C-A7758BA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60350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5000"/>
              </a:lnSpc>
              <a:buNone/>
            </a:pPr>
            <a:r>
              <a:rPr sz="4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Built for trust,</a:t>
            </a:r>
            <a:endParaRPr sz="4400"/>
          </a:p>
          <a:p xmlns:a="http://schemas.openxmlformats.org/drawingml/2006/main">
            <a:pPr marL="0" indent="0">
              <a:lnSpc>
                <a:spcPts val="5000"/>
              </a:lnSpc>
              <a:buNone/>
            </a:pPr>
            <a:r>
              <a:rPr sz="4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not just demos</a:t>
            </a:r>
            <a:endParaRPr sz="4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4F6AF19-28D6-4DA9-80A3-C3E807ED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5394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8A94A8"/>
                </a:solidFill>
                <a:latin typeface="Arial"/>
                <a:ea typeface="Arial"/>
                <a:cs typeface="Arial"/>
              </a:rPr>
              <a:t>Accuracy, privacy, named approval and handover were product requirements from the start.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08780454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3500" p14:dur="1800">
        <p159:morph option="byObject"/>
      </p:transition>
    </mc:Choice>
    <mc:Fallback>
      <p:transition spd="slow" advClick="1" advTm="3500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133d41f55d425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1a8f0594c4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77440" y="4023360"/>
            <a:ext cx="4754880" cy="4754880"/>
          </a:xfrm>
          <a:prstGeom xmlns:a="http://schemas.openxmlformats.org/drawingml/2006/main" prst="rect">
            <a:avLst/>
          </a:prstGeom>
        </p:spPr>
      </p:pic>
      <p:pic>
        <p:nvPicPr>
          <p:cNvPr id="21" name="!!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1b4a0eb78478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rack">
            <a:extLst xmlns:a="http://schemas.openxmlformats.org/drawingml/2006/main">
              <a:ext uri="{FF2B5EF4-FFF2-40B4-BE49-F238E27FC236}">
                <a16:creationId xmlns:a16="http://schemas.microsoft.com/office/drawing/2014/main" id="{85A8109B-346B-4EE2-9C2A-BDEED87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5" name="!!bar">
            <a:extLst xmlns:a="http://schemas.openxmlformats.org/drawingml/2006/main">
              <a:ext uri="{FF2B5EF4-FFF2-40B4-BE49-F238E27FC236}">
                <a16:creationId xmlns:a16="http://schemas.microsoft.com/office/drawing/2014/main" id="{48812BA8-1584-4D66-94E7-11708A2E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2523359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mark">
            <a:extLst xmlns:a="http://schemas.openxmlformats.org/drawingml/2006/main">
              <a:ext uri="{FF2B5EF4-FFF2-40B4-BE49-F238E27FC236}">
                <a16:creationId xmlns:a16="http://schemas.microsoft.com/office/drawing/2014/main" id="{89C2F34D-A09F-4469-8E5D-59C302AB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7" name="!!kicker">
            <a:extLst xmlns:a="http://schemas.openxmlformats.org/drawingml/2006/main">
              <a:ext uri="{FF2B5EF4-FFF2-40B4-BE49-F238E27FC236}">
                <a16:creationId xmlns:a16="http://schemas.microsoft.com/office/drawing/2014/main" id="{65BD4875-2DE0-4C8A-B55B-72F6964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CHAPTER 01</a:t>
            </a:r>
            <a:endParaRPr sz="900"/>
          </a:p>
        </p:txBody>
      </p:sp>
      <p:sp>
        <p:nvSpPr>
          <p:cNvPr id="8" name="pageno">
            <a:extLst xmlns:a="http://schemas.openxmlformats.org/drawingml/2006/main">
              <a:ext uri="{FF2B5EF4-FFF2-40B4-BE49-F238E27FC236}">
                <a16:creationId xmlns:a16="http://schemas.microsoft.com/office/drawing/2014/main" id="{6103AA99-4D49-41B6-8AD2-C44B691A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05 / 20</a:t>
            </a:r>
            <a:endParaRPr sz="900"/>
          </a:p>
        </p:txBody>
      </p:sp>
      <p:sp>
        <p:nvSpPr>
          <p:cNvPr id="9" name="!!num">
            <a:extLst xmlns:a="http://schemas.openxmlformats.org/drawingml/2006/main">
              <a:ext uri="{FF2B5EF4-FFF2-40B4-BE49-F238E27FC236}">
                <a16:creationId xmlns:a16="http://schemas.microsoft.com/office/drawing/2014/main" id="{91EF6F1E-D24E-42AD-9FC4-0F23F1E4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15568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01</a:t>
            </a:r>
            <a:endParaRPr sz="2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5133381-D636-406B-AFF2-9D1CF921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19072"/>
            <a:ext cx="5029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306"/>
              </a:lnSpc>
              <a:buNone/>
            </a:pPr>
            <a:r>
              <a:rPr sz="29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Four connected outcomes,</a:t>
            </a:r>
            <a:endParaRPr sz="2900"/>
          </a:p>
          <a:p xmlns:a="http://schemas.openxmlformats.org/drawingml/2006/main">
            <a:pPr marL="0" indent="0">
              <a:lnSpc>
                <a:spcPts val="3306"/>
              </a:lnSpc>
              <a:buNone/>
            </a:pPr>
            <a:r>
              <a:rPr sz="29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one operating standard</a:t>
            </a:r>
            <a:endParaRPr sz="29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9AA9AAE-C58A-459B-BF43-1FC67765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27248"/>
            <a:ext cx="49377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8A94A8"/>
                </a:solidFill>
                <a:latin typeface="Arial"/>
                <a:ea typeface="Arial"/>
                <a:cs typeface="Arial"/>
              </a:rPr>
              <a:t>INZBC asked for a SIP review workflow, FTA intelligence, a Communications Assistant and a refreshed public website. Every outcome had to preserve evidence, privacy and human authority.</a:t>
            </a:r>
            <a:endParaRPr sz="13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028AE3E-B823-4B7F-BDB5-36365B54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4809744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7FEDB74-CD82-4018-BAF0-91D3B628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7091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EEF2F8"/>
                </a:solidFill>
                <a:latin typeface="Arial"/>
                <a:ea typeface="Arial"/>
                <a:cs typeface="Arial"/>
              </a:rPr>
              <a:t>Trade Intelligence / SIP review</a:t>
            </a:r>
            <a:endParaRPr sz="12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3905B6B-8500-49F5-9AEE-ACBD85BD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230368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9553068-D764-496D-AB86-8DA8496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129784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EEF2F8"/>
                </a:solidFill>
                <a:latin typeface="Arial"/>
                <a:ea typeface="Arial"/>
                <a:cs typeface="Arial"/>
              </a:rPr>
              <a:t>FTA + communications services</a:t>
            </a:r>
            <a:endParaRPr sz="12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396844A-23BD-430A-B579-752F674C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650992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F06A71C-A99E-4F64-8BA4-DA05FC69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550408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EEF2F8"/>
                </a:solidFill>
                <a:latin typeface="Arial"/>
                <a:ea typeface="Arial"/>
                <a:cs typeface="Arial"/>
              </a:rPr>
              <a:t>Public website + member surfaces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876897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4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8627f37653e4a8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a3fe31b374b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1760" y="457200"/>
            <a:ext cx="7315200" cy="7315200"/>
          </a:xfrm>
          <a:prstGeom xmlns:a="http://schemas.openxmlformats.org/drawingml/2006/main" prst="rect">
            <a:avLst/>
          </a:prstGeom>
        </p:spPr>
      </p:pic>
      <p:pic>
        <p:nvPicPr>
          <p:cNvPr id="14" name="!!orb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1720b42de48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28800" y="4206240"/>
            <a:ext cx="4572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rack">
            <a:extLst xmlns:a="http://schemas.openxmlformats.org/drawingml/2006/main">
              <a:ext uri="{FF2B5EF4-FFF2-40B4-BE49-F238E27FC236}">
                <a16:creationId xmlns:a16="http://schemas.microsoft.com/office/drawing/2014/main" id="{2C0161BA-1439-44CF-A810-51A0F028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5" name="!!bar">
            <a:extLst xmlns:a="http://schemas.openxmlformats.org/drawingml/2006/main">
              <a:ext uri="{FF2B5EF4-FFF2-40B4-BE49-F238E27FC236}">
                <a16:creationId xmlns:a16="http://schemas.microsoft.com/office/drawing/2014/main" id="{95824EB9-3B3C-4F70-A93F-ABE7B67F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3058187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mark">
            <a:extLst xmlns:a="http://schemas.openxmlformats.org/drawingml/2006/main">
              <a:ext uri="{FF2B5EF4-FFF2-40B4-BE49-F238E27FC236}">
                <a16:creationId xmlns:a16="http://schemas.microsoft.com/office/drawing/2014/main" id="{C0A3502A-55D3-4426-8421-6088EA18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7" name="!!kicker">
            <a:extLst xmlns:a="http://schemas.openxmlformats.org/drawingml/2006/main">
              <a:ext uri="{FF2B5EF4-FFF2-40B4-BE49-F238E27FC236}">
                <a16:creationId xmlns:a16="http://schemas.microsoft.com/office/drawing/2014/main" id="{86AA9FAB-C781-4DE5-B83C-4FFA2CDE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THE THESIS</a:t>
            </a:r>
            <a:endParaRPr sz="900"/>
          </a:p>
        </p:txBody>
      </p:sp>
      <p:sp>
        <p:nvSpPr>
          <p:cNvPr id="8" name="pageno">
            <a:extLst xmlns:a="http://schemas.openxmlformats.org/drawingml/2006/main">
              <a:ext uri="{FF2B5EF4-FFF2-40B4-BE49-F238E27FC236}">
                <a16:creationId xmlns:a16="http://schemas.microsoft.com/office/drawing/2014/main" id="{3A15A3B0-BC39-43B1-B6D2-38304EE9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06 / 20</a:t>
            </a:r>
            <a:endParaRPr sz="9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6D2B5C5-B519-4472-B983-AEBCA355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0584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400"/>
              </a:lnSpc>
              <a:buNone/>
            </a:pPr>
            <a:r>
              <a:rPr sz="46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Trust is a chain
across every layer.</a:t>
            </a:r>
            <a:endParaRPr sz="46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5BC6CBD9-5D95-49E1-9799-9EF18DFB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8A94A8"/>
                </a:solidFill>
                <a:latin typeface="Arial"/>
                <a:ea typeface="Arial"/>
                <a:cs typeface="Arial"/>
              </a:rPr>
              <a:t>Sources  →  contracts  →  controls  →  interfaces  →  named human review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1091478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4000" p14:dur="1800">
        <p159:morph option="byWord"/>
      </p:transition>
    </mc:Choice>
    <mc:Fallback>
      <p:transition spd="slow" advClick="1" advTm="4000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1e23a30f82f467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8dc8f56ab4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-1463040"/>
            <a:ext cx="5486400" cy="548640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5B09CE31-374B-4134-B6BE-9C55FDE8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952BAAEC-1A6B-4788-8147-5F1D328B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359301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32119C24-D1AE-453C-BBCD-507D06ED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DC58CD72-532F-4D68-9294-42B257FC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ONE TEAM / THREE LANES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8B7A002C-F101-404C-9BFD-5689555C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07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28A4E2E-953F-4473-A7D5-E7D2C54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15568"/>
            <a:ext cx="7772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078"/>
              </a:lnSpc>
              <a:buNone/>
            </a:pPr>
            <a:r>
              <a:rPr sz="2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Clear ownership made integration testable</a:t>
            </a:r>
            <a:endParaRPr sz="2700"/>
          </a:p>
        </p:txBody>
      </p:sp>
      <p:sp>
        <p:nvSpPr>
          <p:cNvPr id="9" name="!!card1">
            <a:extLst xmlns:a="http://schemas.openxmlformats.org/drawingml/2006/main">
              <a:ext uri="{FF2B5EF4-FFF2-40B4-BE49-F238E27FC236}">
                <a16:creationId xmlns:a16="http://schemas.microsoft.com/office/drawing/2014/main" id="{3B15E706-7DD6-4716-8A50-CD7C083D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04288"/>
            <a:ext cx="3200400" cy="3310128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AC1A13A-3F15-45BE-B2B9-B829E04C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88336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F5206E4-5CA8-458E-943D-F8E67D02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88336"/>
            <a:ext cx="5852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B0D12"/>
                </a:solidFill>
                <a:latin typeface="Arial"/>
                <a:ea typeface="Arial"/>
                <a:cs typeface="Arial"/>
              </a:rPr>
              <a:t>01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E09CD8F-53F1-46A6-89FF-1401A923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547872"/>
            <a:ext cx="24323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Bhanu Gupta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77AA520-B447-407F-B5DF-FC6DA793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931920"/>
            <a:ext cx="243230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Strong ×6 PDR objectives. Platform, security, review, integration and handover.</a:t>
            </a:r>
            <a:endParaRPr sz="1250"/>
          </a:p>
        </p:txBody>
      </p:sp>
      <p:sp>
        <p:nvSpPr>
          <p:cNvPr id="14" name="!!card2">
            <a:extLst xmlns:a="http://schemas.openxmlformats.org/drawingml/2006/main">
              <a:ext uri="{FF2B5EF4-FFF2-40B4-BE49-F238E27FC236}">
                <a16:creationId xmlns:a16="http://schemas.microsoft.com/office/drawing/2014/main" id="{C33E49A0-9786-41CF-B3DB-8D2D5FDF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276" y="2304288"/>
            <a:ext cx="3200400" cy="3310128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3B3F542-0684-4491-8454-1CF4F522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24" y="2688336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12700">
            <a:solidFill>
              <a:srgbClr val="3DDC97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CB8B92B-8D09-46A9-B393-E430206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24" y="2688336"/>
            <a:ext cx="5852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B0D12"/>
                </a:solidFill>
                <a:latin typeface="Arial"/>
                <a:ea typeface="Arial"/>
                <a:cs typeface="Arial"/>
              </a:rPr>
              <a:t>02</a:t>
            </a:r>
            <a:endParaRPr sz="15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A63A006-E412-4783-81DC-207583A0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24" y="3547872"/>
            <a:ext cx="24323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Roshan Aryal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81D843F-B602-4814-B85C-B377DBCE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24" y="3931920"/>
            <a:ext cx="243230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Intelligence, sources, FTA, collectors, audit and service-side delivery.</a:t>
            </a:r>
            <a:endParaRPr sz="1250"/>
          </a:p>
        </p:txBody>
      </p:sp>
      <p:sp>
        <p:nvSpPr>
          <p:cNvPr id="19" name="!!card3">
            <a:extLst xmlns:a="http://schemas.openxmlformats.org/drawingml/2006/main">
              <a:ext uri="{FF2B5EF4-FFF2-40B4-BE49-F238E27FC236}">
                <a16:creationId xmlns:a16="http://schemas.microsoft.com/office/drawing/2014/main" id="{6C69DCC5-D875-4128-914A-FA8DBF41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304288"/>
            <a:ext cx="3200400" cy="3310128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77D36CB-90EA-48A6-8D97-4442F776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688336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4DC"/>
          </a:solidFill>
          <a:ln xmlns:a="http://schemas.openxmlformats.org/drawingml/2006/main" w="12700">
            <a:solidFill>
              <a:srgbClr val="5C84DC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122B61D-34B4-4B7C-976B-91D3F00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688336"/>
            <a:ext cx="5852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B0D12"/>
                </a:solidFill>
                <a:latin typeface="Arial"/>
                <a:ea typeface="Arial"/>
                <a:cs typeface="Arial"/>
              </a:rPr>
              <a:t>03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12A3729-D6EC-4807-9CF5-A282004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547872"/>
            <a:ext cx="24323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Paras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223E10E-F16F-47EA-81DB-A5499A5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931920"/>
            <a:ext cx="243230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Product/UX, SIP + Comms interfaces, member surfaces and the Wix public site.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97237185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3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9a308e2081846a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b99fd30d0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94560" y="822960"/>
            <a:ext cx="6400800" cy="640080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4EA0A2E9-88EE-40CD-8061-E17A4DE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78FED6DF-3A6E-419B-A9E8-088E2E4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4127842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0C793664-46F3-491D-8FD9-113E2803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CA087C99-B8F3-4548-9466-B3605662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MERGE QUALITY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F28128BF-88C3-4CDD-B370-5DF93EA6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08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65F0DE1-5316-4DD9-A435-79171049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64008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0" b="1" spc="-500">
                <a:solidFill>
                  <a:srgbClr val="FF6B35"/>
                </a:solidFill>
                <a:latin typeface="Arial"/>
                <a:ea typeface="Arial"/>
                <a:cs typeface="Arial"/>
              </a:rPr>
              <a:t>95.8%</a:t>
            </a:r>
            <a:endParaRPr sz="14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53BD460-D4BA-4EC9-A648-16CE86EB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of student-authored PRs merged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F05663-2740-466C-B4AC-1D21E29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09160"/>
            <a:ext cx="5760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300">
                <a:solidFill>
                  <a:srgbClr val="8A94A8"/>
                </a:solidFill>
                <a:latin typeface="Arial"/>
                <a:ea typeface="Arial"/>
                <a:cs typeface="Arial"/>
              </a:rPr>
              <a:t>184 of 192 across Bhanu, Roshan and Paras · live organisation history refreshed 20 August 2026.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6E8EA7C-1440-4DB3-BCE5-F40EA763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1965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BHANU / 135 PRs</a:t>
            </a:r>
            <a:endParaRPr sz="1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79147C-6CA3-490B-A18F-8A287A1B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48840"/>
            <a:ext cx="32461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7968FB2-14F0-4539-91E4-580534B0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3384" y="2148840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99.3%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39480A0-42BD-4A2C-B591-B487D8CD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9864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ROSHAN / 35 PRs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C795C8E-E418-4658-B68F-B2B81C8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227832"/>
            <a:ext cx="2896553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5A"/>
          </a:solidFill>
          <a:ln xmlns:a="http://schemas.openxmlformats.org/drawingml/2006/main" w="12700">
            <a:solidFill>
              <a:srgbClr val="35405A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BD1217F-3641-44E7-A7CB-B8099BAC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3227832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88.6%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3E1A8ED-CC8D-409C-BDD2-B227C8A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97764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PARAS / 22 PRs</a:t>
            </a:r>
            <a:endParaRPr sz="1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5F4F26D-2CAC-4AC7-9678-7DF6DD24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306824"/>
            <a:ext cx="282321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348"/>
          </a:solidFill>
          <a:ln xmlns:a="http://schemas.openxmlformats.org/drawingml/2006/main" w="12700">
            <a:solidFill>
              <a:srgbClr val="2A3348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1E9E27-EF54-4A7A-9F3B-69A15346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4306824"/>
            <a:ext cx="822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86.4%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7059626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5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98f4f8c789a46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2f7397e1145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960" y="32918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AD6DF469-4412-409D-AA16-A03C5E37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4E23F55E-5CAA-4D27-8139-D11B6462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466267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7BAC369B-88EE-41E5-A94D-DD9CC71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17FE112E-E4D1-4B61-881E-C5FB9337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TEAM DELIVERY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6BC1DBB1-8D8D-4018-A480-C887DA0F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09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4C99146-DABB-4312-A16B-86B055A4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15568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078"/>
              </a:lnSpc>
              <a:buNone/>
            </a:pPr>
            <a:r>
              <a:rPr sz="2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The live record shows sustained delivery</a:t>
            </a:r>
            <a:endParaRPr sz="27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85B917-F662-452A-90D5-C3638B2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320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0" b="1" spc="-200">
                <a:solidFill>
                  <a:srgbClr val="FF6B35"/>
                </a:solidFill>
                <a:latin typeface="Arial"/>
                <a:ea typeface="Arial"/>
                <a:cs typeface="Arial"/>
              </a:rPr>
              <a:t>192</a:t>
            </a:r>
            <a:endParaRPr sz="66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D668E25-38FC-48F5-A90A-BF00882F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Student-authored PRs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8BE5658-912E-4DC3-B531-9E0DCC6F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5371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Across all four repositories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1990119-B6F1-46B6-BC91-603E1FFF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276" y="2606040"/>
            <a:ext cx="320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0" b="1" spc="-200">
                <a:solidFill>
                  <a:srgbClr val="EEF2F8"/>
                </a:solidFill>
                <a:latin typeface="Arial"/>
                <a:ea typeface="Arial"/>
                <a:cs typeface="Arial"/>
              </a:rPr>
              <a:t>184</a:t>
            </a:r>
            <a:endParaRPr sz="6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372963D-744E-4611-AC7D-AA373E2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276" y="4160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Merged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0062E6-4263-41E5-91FC-468F3C6D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276" y="455371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95.8% of the student set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198F73-6B5B-4984-AC64-EEEB1610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606040"/>
            <a:ext cx="320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0" b="1" spc="-200">
                <a:solidFill>
                  <a:srgbClr val="3DDC97"/>
                </a:solidFill>
                <a:latin typeface="Arial"/>
                <a:ea typeface="Arial"/>
                <a:cs typeface="Arial"/>
              </a:rPr>
              <a:t>138</a:t>
            </a:r>
            <a:endParaRPr sz="66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846BA5C-9329-4BB0-905E-39703B1A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160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ProjectV2 items</a:t>
            </a:r>
            <a:endParaRPr sz="15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DC0E042-861D-42B3-A9F9-20A9D083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55371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121 unique student-assigned</a:t>
            </a:r>
            <a:endParaRPr sz="1200"/>
          </a:p>
        </p:txBody>
      </p:sp>
      <p:sp>
        <p:nvSpPr>
          <p:cNvPr id="18" name="!!num">
            <a:extLst xmlns:a="http://schemas.openxmlformats.org/drawingml/2006/main">
              <a:ext uri="{FF2B5EF4-FFF2-40B4-BE49-F238E27FC236}">
                <a16:creationId xmlns:a16="http://schemas.microsoft.com/office/drawing/2014/main" id="{D8366BBF-AFEB-482A-A6B3-4FFA6160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133856"/>
            <a:ext cx="75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01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7127651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4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597f61364ff42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8c8daef27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0" y="1645920"/>
            <a:ext cx="6400800" cy="640080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5E924D04-D34A-4182-95F5-0CFA7284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E9FA338A-C59E-4E55-930D-2B7AA93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5197498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9B4AD30A-3C89-4E47-B329-E155AFD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5EF5796B-E68A-4D2B-A8E9-54251A0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CHAPTER 02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7A2B9979-9890-447F-97AB-EAAFCC9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10 / 20</a:t>
            </a:r>
            <a:endParaRPr sz="900"/>
          </a:p>
        </p:txBody>
      </p:sp>
      <p:sp>
        <p:nvSpPr>
          <p:cNvPr id="8" name="!!num">
            <a:extLst xmlns:a="http://schemas.openxmlformats.org/drawingml/2006/main">
              <a:ext uri="{FF2B5EF4-FFF2-40B4-BE49-F238E27FC236}">
                <a16:creationId xmlns:a16="http://schemas.microsoft.com/office/drawing/2014/main" id="{BBE53C54-3CB0-4B76-A725-55AB041B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85800"/>
            <a:ext cx="56692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0" b="1" spc="-800">
                <a:solidFill>
                  <a:srgbClr val="1F2735"/>
                </a:solidFill>
                <a:latin typeface="Arial"/>
                <a:ea typeface="Arial"/>
                <a:cs typeface="Arial"/>
              </a:rPr>
              <a:t>02</a:t>
            </a:r>
            <a:endParaRPr sz="2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F6433A0-CF19-4910-A120-021E02E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514600"/>
            <a:ext cx="5513832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Delivery that</a:t>
            </a:r>
            <a:endParaRPr sz="4400"/>
          </a:p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connects</a:t>
            </a:r>
            <a:endParaRPr sz="4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A4D2ACF-7B80-4554-9C0C-8C93949A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572000"/>
            <a:ext cx="551383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000"/>
              </a:lnSpc>
              <a:buNone/>
            </a:pPr>
            <a:r>
              <a:rPr sz="1350">
                <a:solidFill>
                  <a:srgbClr val="8A94A8"/>
                </a:solidFill>
                <a:latin typeface="Arial"/>
                <a:ea typeface="Arial"/>
                <a:cs typeface="Arial"/>
              </a:rPr>
              <a:t>Contracts, controls and interfaces meet at explicit, testable boundaries.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7681596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3500" p14:dur="2000">
        <p159:morph option="byObject"/>
      </p:transition>
    </mc:Choice>
    <mc:Fallback>
      <p:transition spd="slow" advClick="1" advTm="3500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c3e4b6ae73d44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890cda6be43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28800" y="3474720"/>
            <a:ext cx="5120640" cy="512064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E1C4B692-95CC-4E43-AAD2-11450DB9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CC62EC98-43DE-4830-837E-C5E826AE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5732325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D6BEEF53-0E8A-43D9-9411-223D32BF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36BBE9C8-5583-4E5C-AC24-04266B6F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CHAPTER 02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6C2C2A85-F7B2-44BF-8B48-191096F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11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642B1DB-7FF2-4F1B-B775-B190A27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15568"/>
            <a:ext cx="7315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078"/>
              </a:lnSpc>
              <a:buNone/>
            </a:pPr>
            <a:r>
              <a:rPr sz="2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One system, built in stages</a:t>
            </a:r>
            <a:endParaRPr sz="2700"/>
          </a:p>
        </p:txBody>
      </p:sp>
      <p:sp>
        <p:nvSpPr>
          <p:cNvPr id="9" name="!!num">
            <a:extLst xmlns:a="http://schemas.openxmlformats.org/drawingml/2006/main">
              <a:ext uri="{FF2B5EF4-FFF2-40B4-BE49-F238E27FC236}">
                <a16:creationId xmlns:a16="http://schemas.microsoft.com/office/drawing/2014/main" id="{6D1B4E10-A920-47BC-A7CD-81DB206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133856"/>
            <a:ext cx="75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02</a:t>
            </a:r>
            <a:endParaRPr sz="2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B969551-016C-49D8-B29B-882C58B4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29584"/>
            <a:ext cx="8531352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C4ACC4-2414-44D5-A06C-5B014D4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44368"/>
            <a:ext cx="2011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FOUNDATION</a:t>
            </a:r>
            <a:endParaRPr sz="1150"/>
          </a:p>
        </p:txBody>
      </p:sp>
      <p:sp>
        <p:nvSpPr>
          <p:cNvPr id="12" name="!!node1">
            <a:extLst xmlns:a="http://schemas.openxmlformats.org/drawingml/2006/main">
              <a:ext uri="{FF2B5EF4-FFF2-40B4-BE49-F238E27FC236}">
                <a16:creationId xmlns:a16="http://schemas.microsoft.com/office/drawing/2014/main" id="{6B8791B5-6707-4CA2-B5DC-EE0567D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644" y="3433572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55C"/>
          </a:solidFill>
          <a:ln xmlns:a="http://schemas.openxmlformats.org/drawingml/2006/main" w="25400">
            <a:solidFill>
              <a:srgbClr val="0B0D12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147B2D0-A114-41E4-BDDD-06083E7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5876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Shared contracts</a:t>
            </a:r>
            <a:endParaRPr sz="13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08D900-03F8-44D0-BEE8-6680D7AB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24528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Schema, APIs, security</a:t>
            </a:r>
            <a:endParaRPr sz="11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28FF78F-9B12-46BD-90E4-534A083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98" y="2944368"/>
            <a:ext cx="2011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INTELLIGENCE</a:t>
            </a:r>
            <a:endParaRPr sz="1150"/>
          </a:p>
        </p:txBody>
      </p:sp>
      <p:sp>
        <p:nvSpPr>
          <p:cNvPr id="16" name="!!node2">
            <a:extLst xmlns:a="http://schemas.openxmlformats.org/drawingml/2006/main">
              <a:ext uri="{FF2B5EF4-FFF2-40B4-BE49-F238E27FC236}">
                <a16:creationId xmlns:a16="http://schemas.microsoft.com/office/drawing/2014/main" id="{E1EE37FA-21F1-4BC2-8F80-B0DD89B9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482" y="3433572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55C"/>
          </a:solidFill>
          <a:ln xmlns:a="http://schemas.openxmlformats.org/drawingml/2006/main" w="25400">
            <a:solidFill>
              <a:srgbClr val="0B0D12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A343B30-7F6C-47A8-B73A-F38AB139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98" y="385876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FTA + sources</a:t>
            </a:r>
            <a:endParaRPr sz="13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85182F-0773-4C5B-958A-17CBF818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98" y="4224528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Collectors, ranking, audit</a:t>
            </a:r>
            <a:endParaRPr sz="11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F3E8DFB-D319-43ED-A345-219A7AFE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36" y="2944368"/>
            <a:ext cx="2011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INTERFACES</a:t>
            </a:r>
            <a:endParaRPr sz="1150"/>
          </a:p>
        </p:txBody>
      </p:sp>
      <p:sp>
        <p:nvSpPr>
          <p:cNvPr id="20" name="!!node3">
            <a:extLst xmlns:a="http://schemas.openxmlformats.org/drawingml/2006/main">
              <a:ext uri="{FF2B5EF4-FFF2-40B4-BE49-F238E27FC236}">
                <a16:creationId xmlns:a16="http://schemas.microsoft.com/office/drawing/2014/main" id="{98F74090-15B5-4027-854C-92242691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433572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55C"/>
          </a:solidFill>
          <a:ln xmlns:a="http://schemas.openxmlformats.org/drawingml/2006/main" w="25400">
            <a:solidFill>
              <a:srgbClr val="0B0D12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813502A-52DE-4C3C-AD54-B8666D03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36" y="385876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SIP + Comms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0C9EF91-20BE-423F-B2BE-1740C819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36" y="4224528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Real data, review states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67CA1CD-2D45-48C2-8E02-4578EE90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474" y="2944368"/>
            <a:ext cx="2011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PUBLIC SITE</a:t>
            </a:r>
            <a:endParaRPr sz="1150"/>
          </a:p>
        </p:txBody>
      </p:sp>
      <p:sp>
        <p:nvSpPr>
          <p:cNvPr id="24" name="!!node4">
            <a:extLst xmlns:a="http://schemas.openxmlformats.org/drawingml/2006/main">
              <a:ext uri="{FF2B5EF4-FFF2-40B4-BE49-F238E27FC236}">
                <a16:creationId xmlns:a16="http://schemas.microsoft.com/office/drawing/2014/main" id="{0F691CE7-513F-4882-B05E-C461F488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158" y="3433572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55C"/>
          </a:solidFill>
          <a:ln xmlns:a="http://schemas.openxmlformats.org/drawingml/2006/main" w="25400">
            <a:solidFill>
              <a:srgbClr val="0B0D12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7A44B03-7F32-44FA-A00E-88018B71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474" y="385876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Wix rebuild</a:t>
            </a:r>
            <a:endParaRPr sz="13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D00268A-1A82-4971-9B3F-503B03D0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474" y="4224528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Content, mobile, navigation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2499DF4-EE03-423C-8897-05B5B09D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944368"/>
            <a:ext cx="2011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 spc="200">
                <a:solidFill>
                  <a:srgbClr val="FF6B35"/>
                </a:solidFill>
                <a:latin typeface="Arial"/>
                <a:ea typeface="Arial"/>
                <a:cs typeface="Arial"/>
              </a:rPr>
              <a:t>NOW</a:t>
            </a:r>
            <a:endParaRPr sz="1150"/>
          </a:p>
        </p:txBody>
      </p:sp>
      <p:sp>
        <p:nvSpPr>
          <p:cNvPr id="28" name="!!node5">
            <a:extLst xmlns:a="http://schemas.openxmlformats.org/drawingml/2006/main">
              <a:ext uri="{FF2B5EF4-FFF2-40B4-BE49-F238E27FC236}">
                <a16:creationId xmlns:a16="http://schemas.microsoft.com/office/drawing/2014/main" id="{EA93324C-1EBD-4996-9749-A0B6CBC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996" y="3433572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25400">
            <a:solidFill>
              <a:srgbClr val="0B0D12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76F70D7-E1B4-46DB-BBBC-F23012D6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85876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Handover</a:t>
            </a:r>
            <a:endParaRPr sz="13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069E149-6362-4325-873F-EAD28F17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224528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Controls + decisions visible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81345333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500" p14:dur="1500">
        <p159:morph option="byObject"/>
      </p:transition>
    </mc:Choice>
    <mc:Fallback>
      <p:transition spd="slow" advClick="1" advTm="5500">
        <p:fade/>
      </p:transition>
    </mc:Fallback>
  </mc:AlternateContent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ce5fdc73f1a46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49e95509440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5360" y="3840480"/>
            <a:ext cx="5120640" cy="512064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5B0AFBF4-4949-4475-B413-6D12D6A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B12895FB-F4F7-4A0A-9395-6EABE9B1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6267153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6EE228E7-BD14-4630-B0BC-FFF95AB3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2E2F3CE2-26D5-4183-BEAA-0B51E416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THE GOVERNED FLOW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4098311E-B717-40F3-92CB-9FB02143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12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80638A5-28C0-4E23-B684-921A953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15568"/>
            <a:ext cx="7315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078"/>
              </a:lnSpc>
              <a:buNone/>
            </a:pPr>
            <a:r>
              <a:rPr sz="2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Four steps keep trust intact</a:t>
            </a:r>
            <a:endParaRPr sz="2700"/>
          </a:p>
        </p:txBody>
      </p:sp>
      <p:sp>
        <p:nvSpPr>
          <p:cNvPr id="9" name="!!step1">
            <a:extLst xmlns:a="http://schemas.openxmlformats.org/drawingml/2006/main">
              <a:ext uri="{FF2B5EF4-FFF2-40B4-BE49-F238E27FC236}">
                <a16:creationId xmlns:a16="http://schemas.microsoft.com/office/drawing/2014/main" id="{3A5CB5A2-4A35-4E60-AEB7-AF291EA1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24323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 spc="-200">
                <a:solidFill>
                  <a:srgbClr val="FF6B35"/>
                </a:solidFill>
                <a:latin typeface="Arial"/>
                <a:ea typeface="Arial"/>
                <a:cs typeface="Arial"/>
              </a:rPr>
              <a:t>01</a:t>
            </a:r>
            <a:endParaRPr sz="5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2596A8A-21CA-4AEC-9F45-3D3A8B7D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56432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Source evidence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8ADC785-DE34-4309-9247-31453C7C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2432304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Dated sources, collectors and approved facts.</a:t>
            </a:r>
            <a:endParaRPr sz="1200"/>
          </a:p>
        </p:txBody>
      </p:sp>
      <p:sp>
        <p:nvSpPr>
          <p:cNvPr id="12" name="!!step2">
            <a:extLst xmlns:a="http://schemas.openxmlformats.org/drawingml/2006/main">
              <a:ext uri="{FF2B5EF4-FFF2-40B4-BE49-F238E27FC236}">
                <a16:creationId xmlns:a16="http://schemas.microsoft.com/office/drawing/2014/main" id="{89405D4E-3EE1-4FF0-A8FB-0D292A7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286000"/>
            <a:ext cx="24323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 spc="-200">
                <a:solidFill>
                  <a:srgbClr val="1F2735"/>
                </a:solidFill>
                <a:latin typeface="Arial"/>
                <a:ea typeface="Arial"/>
                <a:cs typeface="Arial"/>
              </a:rPr>
              <a:t>02</a:t>
            </a:r>
            <a:endParaRPr sz="5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31BE8E0-8D18-478B-A0B8-04513390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456432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Analyse in contracts</a:t>
            </a:r>
            <a:endParaRPr sz="16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8133F8F-3857-40AD-85A7-6D200DC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0480"/>
            <a:ext cx="2432304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FTA services, scoring and generated APIs.</a:t>
            </a:r>
            <a:endParaRPr sz="1200"/>
          </a:p>
        </p:txBody>
      </p:sp>
      <p:sp>
        <p:nvSpPr>
          <p:cNvPr id="15" name="!!step3">
            <a:extLst xmlns:a="http://schemas.openxmlformats.org/drawingml/2006/main">
              <a:ext uri="{FF2B5EF4-FFF2-40B4-BE49-F238E27FC236}">
                <a16:creationId xmlns:a16="http://schemas.microsoft.com/office/drawing/2014/main" id="{38C68388-A34C-4905-99FC-C75C060E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86000"/>
            <a:ext cx="24323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 spc="-200">
                <a:solidFill>
                  <a:srgbClr val="1F2735"/>
                </a:solidFill>
                <a:latin typeface="Arial"/>
                <a:ea typeface="Arial"/>
                <a:cs typeface="Arial"/>
              </a:rPr>
              <a:t>03</a:t>
            </a:r>
            <a:endParaRPr sz="5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3844360-9805-47A8-89C7-64C96B4E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456432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Review by a human</a:t>
            </a:r>
            <a:endParaRPr sz="16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C84E244-1182-4170-A523-28DF6564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40480"/>
            <a:ext cx="2432304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Named approval, QA and refusal paths.</a:t>
            </a:r>
            <a:endParaRPr sz="1200"/>
          </a:p>
        </p:txBody>
      </p:sp>
      <p:sp>
        <p:nvSpPr>
          <p:cNvPr id="18" name="!!step4">
            <a:extLst xmlns:a="http://schemas.openxmlformats.org/drawingml/2006/main">
              <a:ext uri="{FF2B5EF4-FFF2-40B4-BE49-F238E27FC236}">
                <a16:creationId xmlns:a16="http://schemas.microsoft.com/office/drawing/2014/main" id="{5FBF9E63-E96D-4D25-A8F0-C5181DBB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4323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 spc="-200">
                <a:solidFill>
                  <a:srgbClr val="1F2735"/>
                </a:solidFill>
                <a:latin typeface="Arial"/>
                <a:ea typeface="Arial"/>
                <a:cs typeface="Arial"/>
              </a:rPr>
              <a:t>04</a:t>
            </a:r>
            <a:endParaRPr sz="5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AAE191E-03B3-432D-A5F1-8B5AB5B1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56432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Publish with audit</a:t>
            </a:r>
            <a:endParaRPr sz="16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6609B18-2918-451F-A754-7D6BE0EF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0480"/>
            <a:ext cx="2432304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Staff UI, public site and operating record.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8741251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4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69e7936c83140c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4ce205e7d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-1280160"/>
            <a:ext cx="5486400" cy="548640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F5C7E6C3-F43B-4E26-B704-8737112F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C8A39A1D-C31B-4CFE-8FFD-B769EEF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6801981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CEB1ED6A-5562-4DDE-84FB-B2877CC8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16D4BC4B-B93C-4ED0-BAE8-30B61058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BEFORE AND AFTER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B2D13A0B-10DD-4B1B-ABF9-C3408452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13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B662058-C149-4D0D-9D98-2B9BBFC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15568"/>
            <a:ext cx="7772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078"/>
              </a:lnSpc>
              <a:buNone/>
            </a:pPr>
            <a:r>
              <a:rPr sz="2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What changed, precisely</a:t>
            </a:r>
            <a:endParaRPr sz="2700"/>
          </a:p>
        </p:txBody>
      </p:sp>
      <p:sp>
        <p:nvSpPr>
          <p:cNvPr id="9" name="!!panelTODAY">
            <a:extLst xmlns:a="http://schemas.openxmlformats.org/drawingml/2006/main">
              <a:ext uri="{FF2B5EF4-FFF2-40B4-BE49-F238E27FC236}">
                <a16:creationId xmlns:a16="http://schemas.microsoft.com/office/drawing/2014/main" id="{FDCA0E0B-10F4-4666-860F-7BBF6B7D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937760" cy="370332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6D906B9-8FB0-43A8-B449-964EA55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487168"/>
            <a:ext cx="2926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500">
                <a:solidFill>
                  <a:srgbClr val="8A94A8"/>
                </a:solidFill>
                <a:latin typeface="Arial"/>
                <a:ea typeface="Arial"/>
                <a:cs typeface="Arial"/>
              </a:rPr>
              <a:t>STARTING POINT</a:t>
            </a:r>
            <a:endParaRPr sz="1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202C71F-A00A-4D36-985D-1E65C8C6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207008" y="325526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55C"/>
          </a:solidFill>
          <a:ln xmlns:a="http://schemas.openxmlformats.org/drawingml/2006/main" w="12700">
            <a:solidFill>
              <a:srgbClr val="3A455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6A5CBE-1B5B-4D57-8776-A48A48C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3072384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A94A8"/>
                </a:solidFill>
                <a:latin typeface="Arial"/>
                <a:ea typeface="Arial"/>
                <a:cs typeface="Arial"/>
              </a:rPr>
              <a:t>Separate specialist lanes</a:t>
            </a:r>
            <a:endParaRPr sz="14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DF38FAC-67DE-4DCD-9A62-DFEA6A8E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207008" y="4096512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55C"/>
          </a:solidFill>
          <a:ln xmlns:a="http://schemas.openxmlformats.org/drawingml/2006/main" w="12700">
            <a:solidFill>
              <a:srgbClr val="3A455C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2D40980-BF07-4C63-BD5A-066232A2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3913632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A94A8"/>
                </a:solidFill>
                <a:latin typeface="Arial"/>
                <a:ea typeface="Arial"/>
                <a:cs typeface="Arial"/>
              </a:rPr>
              <a:t>Hidden approval assumptions</a:t>
            </a:r>
            <a:endParaRPr sz="14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2D5C7F7-0512-4711-B15E-AEBC142A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207008" y="49377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55C"/>
          </a:solidFill>
          <a:ln xmlns:a="http://schemas.openxmlformats.org/drawingml/2006/main" w="12700">
            <a:solidFill>
              <a:srgbClr val="3A455C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8907697-48C6-4FD7-BC2D-E7A41CC2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4754880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A94A8"/>
                </a:solidFill>
                <a:latin typeface="Arial"/>
                <a:ea typeface="Arial"/>
                <a:cs typeface="Arial"/>
              </a:rPr>
              <a:t>Board state could drift</a:t>
            </a:r>
            <a:endParaRPr sz="1400"/>
          </a:p>
        </p:txBody>
      </p:sp>
      <p:sp>
        <p:nvSpPr>
          <p:cNvPr id="17" name="!!panelAFTER">
            <a:extLst xmlns:a="http://schemas.openxmlformats.org/drawingml/2006/main">
              <a:ext uri="{FF2B5EF4-FFF2-40B4-BE49-F238E27FC236}">
                <a16:creationId xmlns:a16="http://schemas.microsoft.com/office/drawing/2014/main" id="{3D2F11B7-13FF-4086-9E8C-BDD55FCE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148840"/>
            <a:ext cx="4937760" cy="370332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AD4DD2E-5E7A-4853-993F-80FA884F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487168"/>
            <a:ext cx="2926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500">
                <a:solidFill>
                  <a:srgbClr val="FF6B35"/>
                </a:solidFill>
                <a:latin typeface="Arial"/>
                <a:ea typeface="Arial"/>
                <a:cs typeface="Arial"/>
              </a:rPr>
              <a:t>DELIVERED STATE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1BF0F9F-72EE-4187-916E-1A424270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12280" y="325526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3992384-517B-4B07-A83B-EC665B52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3072384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EF2F8"/>
                </a:solidFill>
                <a:latin typeface="Arial"/>
                <a:ea typeface="Arial"/>
                <a:cs typeface="Arial"/>
              </a:rPr>
              <a:t>Shared contracts and APIs</a:t>
            </a:r>
            <a:endParaRPr sz="14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C2F338E-84F4-4069-8AFE-DE851B02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12280" y="4096512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15C9CDA-CCA1-497F-9E9E-543801CD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3913632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EF2F8"/>
                </a:solidFill>
                <a:latin typeface="Arial"/>
                <a:ea typeface="Arial"/>
                <a:cs typeface="Arial"/>
              </a:rPr>
              <a:t>Named review + audit trail</a:t>
            </a:r>
            <a:endParaRPr sz="14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2B31602-3BF6-4DC0-8707-B0B77DA4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12280" y="49377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8CF745-280C-4AB3-88E6-0F49BEFE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4754880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EF2F8"/>
                </a:solidFill>
                <a:latin typeface="Arial"/>
                <a:ea typeface="Arial"/>
                <a:cs typeface="Arial"/>
              </a:rPr>
              <a:t>Handover gaps made visible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8614721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4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c1435aa68fd4c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dac5306da45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45920" y="-1097280"/>
            <a:ext cx="4937760" cy="493776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22212FB4-1CDD-4502-ADB2-3A1A9A74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FF543BBC-BD4E-46CD-AA95-792A7E1E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7336809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DED7E457-B060-4154-949A-EC1C065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262CC0A5-7FB2-4F01-B996-B0AC5823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INTEGRATION EVIDENCE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2D4BB301-6408-4374-921A-DEEEB521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14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E534495-EF92-4B17-9643-E4C1FD1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42416"/>
            <a:ext cx="6400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964"/>
              </a:lnSpc>
              <a:buNone/>
            </a:pPr>
            <a:r>
              <a:rPr sz="26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Quality became the integration gate</a:t>
            </a:r>
            <a:endParaRPr sz="2600"/>
          </a:p>
        </p:txBody>
      </p:sp>
      <p:sp>
        <p:nvSpPr>
          <p:cNvPr id="9" name="!!num">
            <a:extLst xmlns:a="http://schemas.openxmlformats.org/drawingml/2006/main">
              <a:ext uri="{FF2B5EF4-FFF2-40B4-BE49-F238E27FC236}">
                <a16:creationId xmlns:a16="http://schemas.microsoft.com/office/drawing/2014/main" id="{6D3960B5-3D75-4FC3-9C1E-A17ADA29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060704"/>
            <a:ext cx="75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02</a:t>
            </a:r>
            <a:endParaRPr sz="2000"/>
          </a:p>
        </p:txBody>
      </p:sp>
      <p:pic>
        <p:nvPicPr>
          <p:cNvPr id="32" name="!!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d9ed7bf864a9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2960" y="1691640"/>
            <a:ext cx="5120640" cy="4297680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3FB9A75-1DA4-49CA-88C7-6CC10F59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358384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Issue → PR → CI → human review → merge</a:t>
            </a:r>
            <a:endParaRPr sz="1200"/>
          </a:p>
        </p:txBody>
      </p:sp>
      <p:sp>
        <p:nvSpPr>
          <p:cNvPr id="12" name="!!tileA">
            <a:extLst xmlns:a="http://schemas.openxmlformats.org/drawingml/2006/main">
              <a:ext uri="{FF2B5EF4-FFF2-40B4-BE49-F238E27FC236}">
                <a16:creationId xmlns:a16="http://schemas.microsoft.com/office/drawing/2014/main" id="{3EA02EC6-5E80-4CE2-8A29-E50DC333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193792" cy="196596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3D07293-88B9-4EBF-A68F-05FBD0D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901952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187</a:t>
            </a:r>
            <a:endParaRPr sz="42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F5A7462-FFD3-414A-89EA-0358C3A1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61488"/>
            <a:ext cx="44256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Organisation merges</a:t>
            </a:r>
            <a:endParaRPr sz="14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7B0232A-864A-4E45-9F90-DEBC5DBE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072384"/>
            <a:ext cx="44256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of 189 total · stewarded by Bhanu</a:t>
            </a:r>
            <a:endParaRPr sz="1150"/>
          </a:p>
        </p:txBody>
      </p:sp>
      <p:sp>
        <p:nvSpPr>
          <p:cNvPr id="16" name="!!tileB">
            <a:extLst xmlns:a="http://schemas.openxmlformats.org/drawingml/2006/main">
              <a:ext uri="{FF2B5EF4-FFF2-40B4-BE49-F238E27FC236}">
                <a16:creationId xmlns:a16="http://schemas.microsoft.com/office/drawing/2014/main" id="{6A1FA22A-D6CF-418D-864F-87557CB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31920"/>
            <a:ext cx="2468880" cy="20574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3BA2D27-1B23-4696-BA4B-3578E02B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06240"/>
            <a:ext cx="1737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60 review events</a:t>
            </a:r>
            <a:endParaRPr sz="1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A1FCF18-F2E0-4AE8-A47F-129CC67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17830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Across 45 pull requests and multiple revision rounds.</a:t>
            </a:r>
            <a:endParaRPr sz="1150"/>
          </a:p>
        </p:txBody>
      </p:sp>
      <p:sp>
        <p:nvSpPr>
          <p:cNvPr id="19" name="!!tileC">
            <a:extLst xmlns:a="http://schemas.openxmlformats.org/drawingml/2006/main">
              <a:ext uri="{FF2B5EF4-FFF2-40B4-BE49-F238E27FC236}">
                <a16:creationId xmlns:a16="http://schemas.microsoft.com/office/drawing/2014/main" id="{4761440A-0D32-4BD1-9C7F-F8D0F8D8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3931920"/>
            <a:ext cx="2468880" cy="20574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0E47B5A-23B1-4E07-AF3F-D21D4E2B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206240"/>
            <a:ext cx="1737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Strong ×6</a:t>
            </a:r>
            <a:endParaRPr sz="14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D2DDA3C-A2A1-4F31-85B1-19B8AE49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572000"/>
            <a:ext cx="17830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8A94A8"/>
                </a:solidFill>
                <a:latin typeface="Arial"/>
                <a:ea typeface="Arial"/>
                <a:cs typeface="Arial"/>
              </a:rPr>
              <a:t>Bhanu's PDR objectives are fully demonstrated.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9268875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500" p14:dur="1500">
        <p159:morph option="byObject"/>
      </p:transition>
    </mc:Choice>
    <mc:Fallback>
      <p:transition spd="slow" advClick="1" advTm="5500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9cd2bd71f154f9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13392d3144e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94560" y="1463040"/>
            <a:ext cx="6766560" cy="676656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F95A3EDD-7A28-4CF9-A99E-D5DAC790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AD6AB4CC-0DFD-45BC-82E0-49E6AEBA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787163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2992EDBA-68E1-4589-A9F8-B63C1BD2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740D7801-450B-4DAE-998F-FB065F77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CHAPTER 03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7B79180E-9FBA-4EE6-90BF-ABC7EF9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15 / 20</a:t>
            </a:r>
            <a:endParaRPr sz="900"/>
          </a:p>
        </p:txBody>
      </p:sp>
      <p:sp>
        <p:nvSpPr>
          <p:cNvPr id="8" name="!!num">
            <a:extLst xmlns:a="http://schemas.openxmlformats.org/drawingml/2006/main">
              <a:ext uri="{FF2B5EF4-FFF2-40B4-BE49-F238E27FC236}">
                <a16:creationId xmlns:a16="http://schemas.microsoft.com/office/drawing/2014/main" id="{085852AC-AF6C-4F60-B9A3-E7650A7A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685800"/>
            <a:ext cx="5971032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0" b="1" spc="-800">
                <a:solidFill>
                  <a:srgbClr val="1F2735"/>
                </a:solidFill>
                <a:latin typeface="Arial"/>
                <a:ea typeface="Arial"/>
                <a:cs typeface="Arial"/>
              </a:rPr>
              <a:t>03</a:t>
            </a:r>
            <a:endParaRPr sz="2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1EE9254-806F-4EB5-B948-7CA4E889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60350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5000"/>
              </a:lnSpc>
              <a:buNone/>
            </a:pPr>
            <a:r>
              <a:rPr sz="4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Ownership made</a:t>
            </a:r>
            <a:endParaRPr sz="4400"/>
          </a:p>
          <a:p xmlns:a="http://schemas.openxmlformats.org/drawingml/2006/main">
            <a:pPr marL="0" indent="0">
              <a:lnSpc>
                <a:spcPts val="5000"/>
              </a:lnSpc>
              <a:buNone/>
            </a:pPr>
            <a:r>
              <a:rPr sz="4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teamwork stronger</a:t>
            </a:r>
            <a:endParaRPr sz="4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E9E8D5F-4572-4A38-AD73-F1DA16E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5394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8A94A8"/>
                </a:solidFill>
                <a:latin typeface="Arial"/>
                <a:ea typeface="Arial"/>
                <a:cs typeface="Arial"/>
              </a:rPr>
              <a:t>Clear lanes reduced collisions; shared quality rules kept the whole system coherent.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22058226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3500" p14:dur="2000">
        <p159:morph option="byObject"/>
      </p:transition>
    </mc:Choice>
    <mc:Fallback>
      <p:transition spd="slow" advClick="1" advTm="3500">
        <p:fade/>
      </p:transition>
    </mc:Fallback>
  </mc:AlternateContent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055660a28954a6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11cdcb87847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0" y="2377440"/>
            <a:ext cx="5852160" cy="585216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7F7BE5ED-BCB5-4A5C-8450-89549D61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D01DFC96-D14D-410F-B261-834EF79C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84064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061DA1E2-FDEB-41EC-A361-2094495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6ABB0DB3-1166-4778-8F0E-6B6D9CB4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TEAM REFLECTION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C68F95BB-ECA8-40C5-9177-1AA48D97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16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2CD982D-ADD0-4B61-BB99-930D58C7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57200"/>
            <a:ext cx="237744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0" b="1">
                <a:solidFill>
                  <a:srgbClr val="1F2735"/>
                </a:solidFill>
                <a:latin typeface="Georgia"/>
                <a:ea typeface="Georgia"/>
                <a:cs typeface="Georgia"/>
              </a:rPr>
              <a:t>”</a:t>
            </a:r>
            <a:endParaRPr sz="20000"/>
          </a:p>
        </p:txBody>
      </p:sp>
      <p:sp>
        <p:nvSpPr>
          <p:cNvPr id="9" name="!!num">
            <a:extLst xmlns:a="http://schemas.openxmlformats.org/drawingml/2006/main">
              <a:ext uri="{FF2B5EF4-FFF2-40B4-BE49-F238E27FC236}">
                <a16:creationId xmlns:a16="http://schemas.microsoft.com/office/drawing/2014/main" id="{151B86D4-1D78-423C-8E49-E48BB75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33856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03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89DFD59-621B-47C9-8EBD-37016B70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822960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3200" i="1">
                <a:solidFill>
                  <a:srgbClr val="EEF2F8"/>
                </a:solidFill>
                <a:latin typeface="Arial"/>
                <a:ea typeface="Arial"/>
                <a:cs typeface="Arial"/>
              </a:rPr>
              <a:t>“The strongest team result is that the lanes meet at explicit boundaries.”</a:t>
            </a:r>
            <a:endParaRPr sz="3200"/>
          </a:p>
        </p:txBody>
      </p:sp>
      <p:pic>
        <p:nvPicPr>
          <p:cNvPr id="25" name="!!avata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8c975765c4c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2960" y="4828032"/>
            <a:ext cx="822960" cy="822960"/>
          </a:xfrm>
          <a:prstGeom xmlns:a="http://schemas.openxmlformats.org/drawingml/2006/main" prst="ellipse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0F12B69-035C-4A20-A79D-475A6403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937760"/>
            <a:ext cx="4572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Consolidated team report</a:t>
            </a:r>
            <a:endParaRPr sz="14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A8D9ECB-42BC-4ACB-BE73-FF97EFE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5266944"/>
            <a:ext cx="4572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A94A8"/>
                </a:solidFill>
                <a:latin typeface="Arial"/>
                <a:ea typeface="Arial"/>
                <a:cs typeface="Arial"/>
              </a:rPr>
              <a:t>Final reflection · 20 August 2026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6768329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700">
        <p159:morph option="byWord"/>
      </p:transition>
    </mc:Choice>
    <mc:Fallback>
      <p:transition spd="slow" advClick="1" advTm="5000">
        <p:fade/>
      </p:transition>
    </mc:Fallback>
  </mc:AlternateContent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9ac723cd9c4ad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2580812ff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91840" y="4206240"/>
            <a:ext cx="6035040" cy="603504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70833295-CDA0-496E-9496-20C1B262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4447A5FD-A92D-49DC-9593-B29BB420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8941292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3BD1B15B-5E49-4C48-8CD8-762135AA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4D6D39A1-1CBB-4C6E-8EAE-99ED6B8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HOW THE TEAM WORKED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3D09709E-0634-49DA-9B7A-CB759453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17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41049FB-E788-44F6-BAD7-F4EEFFF4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15568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078"/>
              </a:lnSpc>
              <a:buNone/>
            </a:pPr>
            <a:r>
              <a:rPr sz="2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Communication was delivery infrastructure</a:t>
            </a:r>
            <a:endParaRPr sz="2700"/>
          </a:p>
        </p:txBody>
      </p:sp>
      <p:pic>
        <p:nvPicPr>
          <p:cNvPr id="42" name="!!avatar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875ec3a844d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2960" y="2514600"/>
            <a:ext cx="1234440" cy="1234440"/>
          </a:xfrm>
          <a:prstGeom xmlns:a="http://schemas.openxmlformats.org/drawingml/2006/main" prst="ellipse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8E68DC7D-AA2F-462D-B8E0-A6869844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50208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Focused PRs</a:t>
            </a:r>
            <a:endParaRPr sz="12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B63A42D-357E-4EEC-83C4-D4B4B01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42816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8A94A8"/>
                </a:solidFill>
                <a:latin typeface="Arial"/>
                <a:ea typeface="Arial"/>
                <a:cs typeface="Arial"/>
              </a:rPr>
              <a:t>Small, reviewable changes</a:t>
            </a:r>
            <a:endParaRPr sz="1100"/>
          </a:p>
        </p:txBody>
      </p:sp>
      <p:pic>
        <p:nvPicPr>
          <p:cNvPr id="45" name="!!avatar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875ec3a844d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51760" y="2514600"/>
            <a:ext cx="1234440" cy="1234440"/>
          </a:xfrm>
          <a:prstGeom xmlns:a="http://schemas.openxmlformats.org/drawingml/2006/main" prst="ellipse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AA6570B-5A09-4320-BF80-A75BDA9B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950208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Clear ownership</a:t>
            </a:r>
            <a:endParaRPr sz="125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1A8129D-8E1B-4735-95A1-6FC1DF38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242816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8A94A8"/>
                </a:solidFill>
                <a:latin typeface="Arial"/>
                <a:ea typeface="Arial"/>
                <a:cs typeface="Arial"/>
              </a:rPr>
              <a:t>One accountable lane</a:t>
            </a:r>
            <a:endParaRPr sz="1100"/>
          </a:p>
        </p:txBody>
      </p:sp>
      <p:pic>
        <p:nvPicPr>
          <p:cNvPr id="48" name="!!avatar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875ec3a844d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80560" y="2514600"/>
            <a:ext cx="1234440" cy="1234440"/>
          </a:xfrm>
          <a:prstGeom xmlns:a="http://schemas.openxmlformats.org/drawingml/2006/main" prst="ellipse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14B02A11-2AFE-4627-8E84-30833A7D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950208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Human review</a:t>
            </a:r>
            <a:endParaRPr sz="125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70AAE976-5DC0-4774-950C-A7898FF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242816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8A94A8"/>
                </a:solidFill>
                <a:latin typeface="Arial"/>
                <a:ea typeface="Arial"/>
                <a:cs typeface="Arial"/>
              </a:rPr>
              <a:t>No silent publishing</a:t>
            </a:r>
            <a:endParaRPr sz="1100"/>
          </a:p>
        </p:txBody>
      </p:sp>
      <p:pic>
        <p:nvPicPr>
          <p:cNvPr id="51" name="!!avatar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875ec3a844d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09360" y="2514600"/>
            <a:ext cx="1234440" cy="1234440"/>
          </a:xfrm>
          <a:prstGeom xmlns:a="http://schemas.openxmlformats.org/drawingml/2006/main" prst="ellipse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3AB1A7CA-C2B6-409C-A250-0517619C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50208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Real systems</a:t>
            </a:r>
            <a:endParaRPr sz="1250"/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E8AF2E52-DF00-452D-977F-306F5E7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242816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8A94A8"/>
                </a:solidFill>
                <a:latin typeface="Arial"/>
                <a:ea typeface="Arial"/>
                <a:cs typeface="Arial"/>
              </a:rPr>
              <a:t>APIs + databases</a:t>
            </a:r>
            <a:endParaRPr sz="1100"/>
          </a:p>
        </p:txBody>
      </p:sp>
      <p:pic>
        <p:nvPicPr>
          <p:cNvPr id="54" name="!!avatar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875ec3a844d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8160" y="2514600"/>
            <a:ext cx="1234440" cy="1234440"/>
          </a:xfrm>
          <a:prstGeom xmlns:a="http://schemas.openxmlformats.org/drawingml/2006/main" prst="ellipse">
            <a:avLst/>
          </a:prstGeom>
        </p:spPr>
      </p:pic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89DEF0C3-1B07-4032-88E3-82485D5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950208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Client escalation</a:t>
            </a:r>
            <a:endParaRPr sz="1250"/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6762F76E-EDAB-4111-A2CF-1E30E3B7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242816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8A94A8"/>
                </a:solidFill>
                <a:latin typeface="Arial"/>
                <a:ea typeface="Arial"/>
                <a:cs typeface="Arial"/>
              </a:rPr>
              <a:t>No guessed facts</a:t>
            </a:r>
            <a:endParaRPr sz="1100"/>
          </a:p>
        </p:txBody>
      </p:sp>
      <p:pic>
        <p:nvPicPr>
          <p:cNvPr id="57" name="!!avatar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875ec3a844d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966960" y="2514600"/>
            <a:ext cx="1234440" cy="1234440"/>
          </a:xfrm>
          <a:prstGeom xmlns:a="http://schemas.openxmlformats.org/drawingml/2006/main" prst="ellipse">
            <a:avLst/>
          </a:prstGeom>
        </p:spPr>
      </p:pic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7EC89DB5-917D-42D4-9B18-90AF29BB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3950208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Handover</a:t>
            </a:r>
            <a:endParaRPr sz="1250"/>
          </a:p>
        </p:txBody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5A04EA0A-6EF5-4774-A505-CEF22EF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242816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8A94A8"/>
                </a:solidFill>
                <a:latin typeface="Arial"/>
                <a:ea typeface="Arial"/>
                <a:cs typeface="Arial"/>
              </a:rPr>
              <a:t>Docs + runbooks</a:t>
            </a:r>
            <a:endParaRPr sz="1100"/>
          </a:p>
        </p:txBody>
      </p:sp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9051640A-6C59-477D-84BC-ADE84000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8928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A94A8"/>
                </a:solidFill>
                <a:latin typeface="Arial"/>
                <a:ea typeface="Arial"/>
                <a:cs typeface="Arial"/>
              </a:rPr>
              <a:t>Weekly calls, issues, reviews, ADRs and decision packs turned communication into traceable delivery.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8262482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000" p14:dur="1400">
        <p159:morph option="byObject"/>
      </p:transition>
    </mc:Choice>
    <mc:Fallback>
      <p:transition spd="slow" advClick="1" advTm="5000">
        <p:fade/>
      </p:transition>
    </mc:Fallback>
  </mc:AlternateContent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a8783cc92e43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f4eaea66f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3840" y="310896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3" name="track">
            <a:extLst xmlns:a="http://schemas.openxmlformats.org/drawingml/2006/main">
              <a:ext uri="{FF2B5EF4-FFF2-40B4-BE49-F238E27FC236}">
                <a16:creationId xmlns:a16="http://schemas.microsoft.com/office/drawing/2014/main" id="{49CA7B59-CEA0-4317-BB63-675DFA59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4" name="!!bar">
            <a:extLst xmlns:a="http://schemas.openxmlformats.org/drawingml/2006/main">
              <a:ext uri="{FF2B5EF4-FFF2-40B4-BE49-F238E27FC236}">
                <a16:creationId xmlns:a16="http://schemas.microsoft.com/office/drawing/2014/main" id="{8A1E95D9-3A2E-40F3-BA00-353D61AD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94761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!!mark">
            <a:extLst xmlns:a="http://schemas.openxmlformats.org/drawingml/2006/main">
              <a:ext uri="{FF2B5EF4-FFF2-40B4-BE49-F238E27FC236}">
                <a16:creationId xmlns:a16="http://schemas.microsoft.com/office/drawing/2014/main" id="{1028EA4E-45A5-46AB-BDA3-120ED941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kicker">
            <a:extLst xmlns:a="http://schemas.openxmlformats.org/drawingml/2006/main">
              <a:ext uri="{FF2B5EF4-FFF2-40B4-BE49-F238E27FC236}">
                <a16:creationId xmlns:a16="http://schemas.microsoft.com/office/drawing/2014/main" id="{F4ACCC7B-F6AE-44F6-B489-33959FC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HANDOVER</a:t>
            </a:r>
            <a:endParaRPr sz="900"/>
          </a:p>
        </p:txBody>
      </p:sp>
      <p:sp>
        <p:nvSpPr>
          <p:cNvPr id="7" name="pageno">
            <a:extLst xmlns:a="http://schemas.openxmlformats.org/drawingml/2006/main">
              <a:ext uri="{FF2B5EF4-FFF2-40B4-BE49-F238E27FC236}">
                <a16:creationId xmlns:a16="http://schemas.microsoft.com/office/drawing/2014/main" id="{4CF0F2FD-CD4E-4E93-9E72-E83824B6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18 / 20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AFA5A1-0F8A-4C17-8FD4-C18D108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8686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3078"/>
              </a:lnSpc>
              <a:buNone/>
            </a:pPr>
            <a:r>
              <a:rPr sz="2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Three decisions unlock production</a:t>
            </a:r>
            <a:endParaRPr sz="2700"/>
          </a:p>
        </p:txBody>
      </p:sp>
      <p:sp>
        <p:nvSpPr>
          <p:cNvPr id="9" name="!!ask1">
            <a:extLst xmlns:a="http://schemas.openxmlformats.org/drawingml/2006/main">
              <a:ext uri="{FF2B5EF4-FFF2-40B4-BE49-F238E27FC236}">
                <a16:creationId xmlns:a16="http://schemas.microsoft.com/office/drawing/2014/main" id="{61B3EC33-C24E-4A1A-BFBC-6B7DACE7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3200400" cy="301752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E6DBB54-894C-4700-B774-AE83E45A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15184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FF6B35"/>
                </a:solidFill>
                <a:latin typeface="Arial"/>
                <a:ea typeface="Arial"/>
                <a:cs typeface="Arial"/>
              </a:rPr>
              <a:t>DECISION 01</a:t>
            </a:r>
            <a:endParaRPr sz="9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D407F4-2B27-41E9-861C-4FE929E5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35808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Identity boundary</a:t>
            </a:r>
            <a:endParaRPr sz="17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C791DDE-E9AE-48DE-860D-378D93F3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29584"/>
            <a:ext cx="24688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Confirm login ownership and the Member Jungle boundary.</a:t>
            </a:r>
            <a:endParaRPr sz="12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DA4035-0F78-4C2F-BCA2-AF355D9D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18304"/>
            <a:ext cx="2468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EEF2F8"/>
                </a:solidFill>
                <a:latin typeface="Arial"/>
                <a:ea typeface="Arial"/>
                <a:cs typeface="Arial"/>
              </a:rPr>
              <a:t>INZBC · Go-live gate</a:t>
            </a:r>
            <a:endParaRPr sz="1100"/>
          </a:p>
        </p:txBody>
      </p:sp>
      <p:sp>
        <p:nvSpPr>
          <p:cNvPr id="14" name="!!ask2">
            <a:extLst xmlns:a="http://schemas.openxmlformats.org/drawingml/2006/main">
              <a:ext uri="{FF2B5EF4-FFF2-40B4-BE49-F238E27FC236}">
                <a16:creationId xmlns:a16="http://schemas.microsoft.com/office/drawing/2014/main" id="{2074D570-46E4-4C0C-8CC4-F06771B9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276" y="2286000"/>
            <a:ext cx="3200400" cy="301752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9919285-E13D-43EF-9155-EDFF1F7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2615184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DECISION 02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4EFB951-D14D-44BE-B454-C5B2084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3035808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Reviewer + secrets</a:t>
            </a:r>
            <a:endParaRPr sz="17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D945DFC-40D6-4161-8605-28E48131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3529584"/>
            <a:ext cx="24688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Name the reviewer; provide OAuth secrets and a rotation policy.</a:t>
            </a:r>
            <a:endParaRPr sz="12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EA118A0-19F0-4EC0-A815-AE4341E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4718304"/>
            <a:ext cx="2468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EEF2F8"/>
                </a:solidFill>
                <a:latin typeface="Arial"/>
                <a:ea typeface="Arial"/>
                <a:cs typeface="Arial"/>
              </a:rPr>
              <a:t>INZBC · Before UAT</a:t>
            </a:r>
            <a:endParaRPr sz="1100"/>
          </a:p>
        </p:txBody>
      </p:sp>
      <p:sp>
        <p:nvSpPr>
          <p:cNvPr id="19" name="!!ask3">
            <a:extLst xmlns:a="http://schemas.openxmlformats.org/drawingml/2006/main">
              <a:ext uri="{FF2B5EF4-FFF2-40B4-BE49-F238E27FC236}">
                <a16:creationId xmlns:a16="http://schemas.microsoft.com/office/drawing/2014/main" id="{F066C0FD-0E76-4255-A561-EFC3C48D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286000"/>
            <a:ext cx="3200400" cy="301752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C08AC4E-D38E-421C-8675-AD1DB0CC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615184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DECISION 03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27DA205-26E8-4A1E-900E-D9813705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035808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Operating owner</a:t>
            </a:r>
            <a:endParaRPr sz="17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D04B193-A184-43CF-AF78-6B823A3A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529584"/>
            <a:ext cx="24688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8A94A8"/>
                </a:solidFill>
                <a:latin typeface="Arial"/>
                <a:ea typeface="Arial"/>
                <a:cs typeface="Arial"/>
              </a:rPr>
              <a:t>Accept deployment, board reconciliation and long-term support.</a:t>
            </a:r>
            <a:endParaRPr sz="12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084782E-E1A8-41DA-852B-8F5C3AD4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4718304"/>
            <a:ext cx="2468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EEF2F8"/>
                </a:solidFill>
                <a:latin typeface="Arial"/>
                <a:ea typeface="Arial"/>
                <a:cs typeface="Arial"/>
              </a:rPr>
              <a:t>INZBC + team · Handover</a:t>
            </a:r>
            <a:endParaRPr sz="1100"/>
          </a:p>
        </p:txBody>
      </p:sp>
      <p:sp>
        <p:nvSpPr>
          <p:cNvPr id="24" name="!!close">
            <a:extLst xmlns:a="http://schemas.openxmlformats.org/drawingml/2006/main">
              <a:ext uri="{FF2B5EF4-FFF2-40B4-BE49-F238E27FC236}">
                <a16:creationId xmlns:a16="http://schemas.microsoft.com/office/drawing/2014/main" id="{6DA2D342-CDE5-46AD-9912-92964340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0585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8A94A8"/>
                </a:solidFill>
                <a:latin typeface="Arial"/>
                <a:ea typeface="Arial"/>
                <a:cs typeface="Arial"/>
              </a:rPr>
              <a:t>Strong controls are ready for authorised operation.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8775810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5500" p14:dur="1400">
        <p159:morph option="byObject"/>
      </p:transition>
    </mc:Choice>
    <mc:Fallback>
      <p:transition spd="slow" advClick="1" advTm="5500">
        <p:fade/>
      </p:transition>
    </mc:Fallback>
  </mc:AlternateContent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dd48fbc89d484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9cfc3095d4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-822960"/>
            <a:ext cx="7680960" cy="7680960"/>
          </a:xfrm>
          <a:prstGeom xmlns:a="http://schemas.openxmlformats.org/drawingml/2006/main" prst="rect">
            <a:avLst/>
          </a:prstGeom>
        </p:spPr>
      </p:pic>
      <p:pic>
        <p:nvPicPr>
          <p:cNvPr id="15" name="!!orb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2f189da91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0" y="3657600"/>
            <a:ext cx="5120640" cy="5120640"/>
          </a:xfrm>
          <a:prstGeom xmlns:a="http://schemas.openxmlformats.org/drawingml/2006/main" prst="rect">
            <a:avLst/>
          </a:prstGeom>
        </p:spPr>
      </p:pic>
      <p:sp>
        <p:nvSpPr>
          <p:cNvPr id="4" name="track">
            <a:extLst xmlns:a="http://schemas.openxmlformats.org/drawingml/2006/main">
              <a:ext uri="{FF2B5EF4-FFF2-40B4-BE49-F238E27FC236}">
                <a16:creationId xmlns:a16="http://schemas.microsoft.com/office/drawing/2014/main" id="{F41E1225-FEA7-4AD5-94C1-01C5CBD7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5" name="!!bar">
            <a:extLst xmlns:a="http://schemas.openxmlformats.org/drawingml/2006/main">
              <a:ext uri="{FF2B5EF4-FFF2-40B4-BE49-F238E27FC236}">
                <a16:creationId xmlns:a16="http://schemas.microsoft.com/office/drawing/2014/main" id="{95685463-9E80-4896-9046-63B8DBC9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10010947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mark">
            <a:extLst xmlns:a="http://schemas.openxmlformats.org/drawingml/2006/main">
              <a:ext uri="{FF2B5EF4-FFF2-40B4-BE49-F238E27FC236}">
                <a16:creationId xmlns:a16="http://schemas.microsoft.com/office/drawing/2014/main" id="{7A523FDC-319C-4D84-BCBB-2193255C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7" name="!!kicker">
            <a:extLst xmlns:a="http://schemas.openxmlformats.org/drawingml/2006/main">
              <a:ext uri="{FF2B5EF4-FFF2-40B4-BE49-F238E27FC236}">
                <a16:creationId xmlns:a16="http://schemas.microsoft.com/office/drawing/2014/main" id="{C0552F71-9B3C-43F7-896D-5938CDF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CLOSING</a:t>
            </a:r>
            <a:endParaRPr sz="900"/>
          </a:p>
        </p:txBody>
      </p:sp>
      <p:sp>
        <p:nvSpPr>
          <p:cNvPr id="8" name="pageno">
            <a:extLst xmlns:a="http://schemas.openxmlformats.org/drawingml/2006/main">
              <a:ext uri="{FF2B5EF4-FFF2-40B4-BE49-F238E27FC236}">
                <a16:creationId xmlns:a16="http://schemas.microsoft.com/office/drawing/2014/main" id="{0A5890FC-0168-4A86-A8C3-A561FBCD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19 / 20</a:t>
            </a:r>
            <a:endParaRPr sz="900"/>
          </a:p>
        </p:txBody>
      </p:sp>
      <p:sp>
        <p:nvSpPr>
          <p:cNvPr id="9" name="!!close">
            <a:extLst xmlns:a="http://schemas.openxmlformats.org/drawingml/2006/main">
              <a:ext uri="{FF2B5EF4-FFF2-40B4-BE49-F238E27FC236}">
                <a16:creationId xmlns:a16="http://schemas.microsoft.com/office/drawing/2014/main" id="{4C134F14-4BD4-4A2A-87A4-3E60ADC5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45775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0" b="1" spc="-200">
                <a:solidFill>
                  <a:srgbClr val="EEF2F8"/>
                </a:solidFill>
                <a:latin typeface="Arial"/>
                <a:ea typeface="Arial"/>
                <a:cs typeface="Arial"/>
              </a:rPr>
              <a:t>Ready for handover</a:t>
            </a:r>
            <a:endParaRPr sz="9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47E9321-B26E-4E3F-8F53-7C08AE6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224528"/>
            <a:ext cx="779983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300"/>
              </a:lnSpc>
              <a:buNone/>
            </a:pPr>
            <a:r>
              <a:rPr sz="1500">
                <a:solidFill>
                  <a:srgbClr val="8A94A8"/>
                </a:solidFill>
                <a:latin typeface="Arial"/>
                <a:ea typeface="Arial"/>
                <a:cs typeface="Arial"/>
              </a:rPr>
              <a:t>Thank you to INZBC, course supervisors and the team for turning four outcomes into one governed delivery.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FE89EA1-350C-4B2F-8D3F-D6537FD1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10545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600">
                <a:solidFill>
                  <a:srgbClr val="FF6B35"/>
                </a:solidFill>
                <a:latin typeface="Arial"/>
                <a:ea typeface="Arial"/>
                <a:cs typeface="Arial"/>
              </a:rPr>
              <a:t>INDIA NEW ZEALAND BUSINESS COUNCIL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1147982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4500" p14:dur="2200">
        <p159:morph option="byWord"/>
      </p:transition>
    </mc:Choice>
    <mc:Fallback>
      <p:transition spd="slow" advClick="1" advTm="4500">
        <p:fade/>
      </p:transition>
    </mc:Fallback>
  </mc:AlternateContent>
</p:sld>
</file>

<file path=ppt/slides/slide2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de26e3891954a9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!!or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038d419ab47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0" y="-1645920"/>
            <a:ext cx="6035040" cy="6035040"/>
          </a:xfrm>
          <a:prstGeom xmlns:a="http://schemas.openxmlformats.org/drawingml/2006/main" prst="rect">
            <a:avLst/>
          </a:prstGeom>
        </p:spPr>
      </p:pic>
      <p:pic>
        <p:nvPicPr>
          <p:cNvPr id="24" name="!!orb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9366db4c241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011680" y="4389120"/>
            <a:ext cx="4754880" cy="4754880"/>
          </a:xfrm>
          <a:prstGeom xmlns:a="http://schemas.openxmlformats.org/drawingml/2006/main" prst="rect">
            <a:avLst/>
          </a:prstGeom>
        </p:spPr>
      </p:pic>
      <p:sp>
        <p:nvSpPr>
          <p:cNvPr id="4" name="track">
            <a:extLst xmlns:a="http://schemas.openxmlformats.org/drawingml/2006/main">
              <a:ext uri="{FF2B5EF4-FFF2-40B4-BE49-F238E27FC236}">
                <a16:creationId xmlns:a16="http://schemas.microsoft.com/office/drawing/2014/main" id="{5645D8E5-DC1E-479C-A8DD-9724B704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51092"/>
            <a:ext cx="10545775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B"/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5" name="!!bar">
            <a:extLst xmlns:a="http://schemas.openxmlformats.org/drawingml/2006/main">
              <a:ext uri="{FF2B5EF4-FFF2-40B4-BE49-F238E27FC236}">
                <a16:creationId xmlns:a16="http://schemas.microsoft.com/office/drawing/2014/main" id="{9CA4D514-F6A8-4327-B4FF-ECDDFE47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10545775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!!mark">
            <a:extLst xmlns:a="http://schemas.openxmlformats.org/drawingml/2006/main">
              <a:ext uri="{FF2B5EF4-FFF2-40B4-BE49-F238E27FC236}">
                <a16:creationId xmlns:a16="http://schemas.microsoft.com/office/drawing/2014/main" id="{E9A63097-719C-4FF8-BFDA-F5A45B13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54864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7" name="!!kicker">
            <a:extLst xmlns:a="http://schemas.openxmlformats.org/drawingml/2006/main">
              <a:ext uri="{FF2B5EF4-FFF2-40B4-BE49-F238E27FC236}">
                <a16:creationId xmlns:a16="http://schemas.microsoft.com/office/drawing/2014/main" id="{AE9DC88D-AD13-4A21-B1A6-0E92B665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400">
                <a:solidFill>
                  <a:srgbClr val="8A94A8"/>
                </a:solidFill>
                <a:latin typeface="Arial"/>
                <a:ea typeface="Arial"/>
                <a:cs typeface="Arial"/>
              </a:rPr>
              <a:t>EVIDENCE TRAIL</a:t>
            </a:r>
            <a:endParaRPr sz="900"/>
          </a:p>
        </p:txBody>
      </p:sp>
      <p:sp>
        <p:nvSpPr>
          <p:cNvPr id="8" name="pageno">
            <a:extLst xmlns:a="http://schemas.openxmlformats.org/drawingml/2006/main">
              <a:ext uri="{FF2B5EF4-FFF2-40B4-BE49-F238E27FC236}">
                <a16:creationId xmlns:a16="http://schemas.microsoft.com/office/drawing/2014/main" id="{A281A675-3116-4BA5-A6F2-E8D2D2FE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57200"/>
            <a:ext cx="1399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spc="200">
                <a:solidFill>
                  <a:srgbClr val="8A94A8"/>
                </a:solidFill>
                <a:latin typeface="Arial"/>
                <a:ea typeface="Arial"/>
                <a:cs typeface="Arial"/>
              </a:rPr>
              <a:t>20 / 20</a:t>
            </a:r>
            <a:endParaRPr sz="900"/>
          </a:p>
        </p:txBody>
      </p:sp>
      <p:sp>
        <p:nvSpPr>
          <p:cNvPr id="9" name="!!close">
            <a:extLst xmlns:a="http://schemas.openxmlformats.org/drawingml/2006/main">
              <a:ext uri="{FF2B5EF4-FFF2-40B4-BE49-F238E27FC236}">
                <a16:creationId xmlns:a16="http://schemas.microsoft.com/office/drawing/2014/main" id="{0C44578C-FF03-436E-85FA-BA6A0543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78992"/>
            <a:ext cx="5486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Evidence lives in the work</a:t>
            </a:r>
            <a:endParaRPr sz="2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E067D65-9387-48DB-81CA-BFDB3C58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EEF2F8"/>
                </a:solidFill>
                <a:latin typeface="Arial"/>
                <a:ea typeface="Arial"/>
                <a:cs typeface="Arial"/>
              </a:rPr>
              <a:t>Bhanu · Roshan · Paras</a:t>
            </a:r>
            <a:endParaRPr sz="2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817121A-5D52-47B5-8869-A4446173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8A94A8"/>
                </a:solidFill>
                <a:latin typeface="Arial"/>
                <a:ea typeface="Arial"/>
                <a:cs typeface="Arial"/>
              </a:rPr>
              <a:t>Studio 5 delivery team · INZBC</a:t>
            </a:r>
            <a:endParaRPr sz="13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6EFB47E-5405-4E78-A3BC-2750DAD0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10128"/>
            <a:ext cx="1097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6B35"/>
                </a:solidFill>
                <a:latin typeface="Arial"/>
                <a:ea typeface="Arial"/>
                <a:cs typeface="Arial"/>
              </a:rPr>
              <a:t>GITHUB</a:t>
            </a:r>
            <a:endParaRPr sz="9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D88CAB-8EFB-4659-BA92-02EE741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10128"/>
            <a:ext cx="4023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EF2F8"/>
                </a:solidFill>
                <a:latin typeface="Arial"/>
                <a:ea typeface="Arial"/>
                <a:cs typeface="Arial"/>
              </a:rPr>
              <a:t>India-New-Zealand-Business-Council</a:t>
            </a:r>
            <a:endParaRPr sz="13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D51EFB3-4C9D-49DA-8D08-2AB1B55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77056"/>
            <a:ext cx="1097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6B35"/>
                </a:solidFill>
                <a:latin typeface="Arial"/>
                <a:ea typeface="Arial"/>
                <a:cs typeface="Arial"/>
              </a:rPr>
              <a:t>BOARD</a:t>
            </a:r>
            <a:endParaRPr sz="9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0C6077B-F6B7-4B75-A977-86A8A8E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77056"/>
            <a:ext cx="4023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EF2F8"/>
                </a:solidFill>
                <a:latin typeface="Arial"/>
                <a:ea typeface="Arial"/>
                <a:cs typeface="Arial"/>
              </a:rPr>
              <a:t>INZBC SIP Platform · ProjectV2 #1</a:t>
            </a:r>
            <a:endParaRPr sz="135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572E1B9-AA24-4EFA-84C5-AB10694D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43984"/>
            <a:ext cx="1097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6B35"/>
                </a:solidFill>
                <a:latin typeface="Arial"/>
                <a:ea typeface="Arial"/>
                <a:cs typeface="Arial"/>
              </a:rPr>
              <a:t>REPORT</a:t>
            </a:r>
            <a:endParaRPr sz="9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D4676CA1-1F34-4B4F-9A57-D0D20E1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4023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EF2F8"/>
                </a:solidFill>
                <a:latin typeface="Arial"/>
                <a:ea typeface="Arial"/>
                <a:cs typeface="Arial"/>
              </a:rPr>
              <a:t>Refreshed 20 August 2026</a:t>
            </a:r>
            <a:endParaRPr sz="1350"/>
          </a:p>
        </p:txBody>
      </p:sp>
      <p:sp>
        <p:nvSpPr>
          <p:cNvPr id="18" name="!!tileA">
            <a:extLst xmlns:a="http://schemas.openxmlformats.org/drawingml/2006/main">
              <a:ext uri="{FF2B5EF4-FFF2-40B4-BE49-F238E27FC236}">
                <a16:creationId xmlns:a16="http://schemas.microsoft.com/office/drawing/2014/main" id="{C18FEC0D-A0F0-4872-928C-26E80AAA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103120"/>
            <a:ext cx="4599432" cy="301752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A24">
              <a:alpha val="88000"/>
            </a:srgbClr>
          </a:solidFill>
          <a:ln xmlns:a="http://schemas.openxmlformats.org/drawingml/2006/main" w="12700">
            <a:solidFill>
              <a:srgbClr val="242C3B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9C39FC2-C6B5-40DD-B520-95C5903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063240"/>
            <a:ext cx="3831336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100"/>
              </a:lnSpc>
              <a:buNone/>
            </a:pPr>
            <a:r>
              <a:rPr sz="1300">
                <a:solidFill>
                  <a:srgbClr val="8A94A8"/>
                </a:solidFill>
                <a:latin typeface="Arial"/>
                <a:ea typeface="Arial"/>
                <a:cs typeface="Arial"/>
              </a:rPr>
              <a:t>Four repositories.</a:t>
            </a:r>
            <a:endParaRPr sz="1300"/>
          </a:p>
          <a:p xmlns:a="http://schemas.openxmlformats.org/drawingml/2006/main">
            <a:pPr marL="0" indent="0" algn="ctr">
              <a:lnSpc>
                <a:spcPts val="2100"/>
              </a:lnSpc>
              <a:buNone/>
            </a:pPr>
            <a:r>
              <a:rPr sz="1300">
                <a:solidFill>
                  <a:srgbClr val="8A94A8"/>
                </a:solidFill>
                <a:latin typeface="Arial"/>
                <a:ea typeface="Arial"/>
                <a:cs typeface="Arial"/>
              </a:rPr>
              <a:t>One governed delivery.</a:t>
            </a:r>
            <a:endParaRPr sz="1300"/>
          </a:p>
        </p:txBody>
      </p:sp>
      <p:sp>
        <p:nvSpPr>
          <p:cNvPr id="20" name="anim_cta">
            <a:extLst xmlns:a="http://schemas.openxmlformats.org/drawingml/2006/main">
              <a:ext uri="{FF2B5EF4-FFF2-40B4-BE49-F238E27FC236}">
                <a16:creationId xmlns:a16="http://schemas.microsoft.com/office/drawing/2014/main" id="{F90ED3AC-CDE1-4757-9B78-B2CDD42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Next: confirm the operating owner, named reviewer and go-live decisions.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1913775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advTm="8000" p14:dur="1600">
        <p159:morph option="byObject"/>
      </p:transition>
    </mc:Choice>
    <mc:Fallback>
      <p:transition spd="slow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2026-08-19T22:38:53.2130000Z</dcterms:created>
  <dcterms:modified xsi:type="dcterms:W3CDTF">2026-08-19T22:38:53.2130000Z</dcterms:modified>
</coreProperties>
</file>